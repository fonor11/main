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Обложка" id="{7e1322e4-9a6b-53a3-8175-697c6cd93551}">
          <p14:sldIdLst>
            <p14:sldId id="256"/>
          </p14:sldIdLst>
        </p14:section>
        <p14:section name="Проблема и решение" id="{2f18ed33-ec65-3736-2194-3ed39500d320}">
          <p14:sldIdLst>
            <p14:sldId id="257"/>
            <p14:sldId id="258"/>
            <p14:sldId id="259"/>
          </p14:sldIdLst>
        </p14:section>
        <p14:section name="Клиенты и рынок" id="{71132cd3-4733-d07c-337c-c003d1ab51ba}">
          <p14:sldIdLst>
            <p14:sldId id="260"/>
            <p14:sldId id="261"/>
            <p14:sldId id="262"/>
          </p14:sldIdLst>
        </p14:section>
        <p14:section name="Экономика и риски" id="{09073639-ac86-ed1e-6882-0f913d9e6f58}">
          <p14:sldIdLst>
            <p14:sldId id="263"/>
            <p14:sldId id="264"/>
          </p14:sldIdLst>
        </p14:section>
        <p14:section name="План и команда" id="{526a5f94-00da-899d-d549-384d220b3cc1}">
          <p14:sldIdLst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Улей — платформа, которая объединяет простаивающие видеокарты майнинговых ферм и мощных домашних компьютеров в сеть и предлагает их вычислительную мощность тем, кому она нужна: небольшим ML-командам, лабораториям и AI-стартапам. Проект на стадии идеи: у нас есть гипотеза, расчётная экономика и план проверки, а в преакселераторе мы хотим проверить спрос, экономику и техническую реализуемость.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 одной стороны, вычислительная мощность имеет понятную рыночную цену. Час аренды игровой видеокарты RTX 3090 в российских облаках стоит около 70 рублей: у immers.cloud — от 70,7 рубля в базовой конфигурации, средняя цена по обзору tproger — около 67 рублей. Круглосуточная аренда такой карты обходится примерно в 50 тысяч рублей в месяц. С другой стороны, есть уже купленное оборудование, которое загружено не полностью. В 2022 году Ethereum, крупнейшая монета для майнинга на видеокартах, перешёл на другой механизм и перестал использовать майнинг. С тех пор доход от майнинга на видеокартах зависит от модели карты, тарифа на электричество и курса монет, и для части владельцев он невысок. Мы не утверждаем, что майнинг убыточен для всех; наша гипотеза в том, что часть ферм и игровых ПК можно загрузить полезной работой.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Улей — это аренда мощности чужих видеокарт по часам. Владелец фермы или мощного компьютера предоставляет свободную мощность своей видеокарты. Улей подключает оборудование, подбирает подходящую карту под запрос клиента и учитывает часы работы. Клиент — небольшая ML-команда или лаборатория — платит за использованные часы: в нашей модели 40 рублей за час. Владелец получает 20 рублей за каждый оплаченный час, остальное — доля Улья. На схеме янтарные стрелки — это мощность, которая идёт от владельцев к клиентам, а светлые — деньги, которые идут обратно. Первый шаг — не большая сеть, а несколько видеокарт для первых клиентов, чтобы проверить, как это работает на практике. Автоматический запуск задач, перезапуск при сбое и контроль выполнения — возможные функции MVP, их техническую реализуемость ещё нужно проверить.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Как это выглядит для клиента. Первое: команда запрашивает видеокарту с нужным объёмом памяти на нужное число часов. Второе: Улей подбирает свободную подходящую карту у владельца. Третье: команда запускает на ней свою задачу, а Улей учитывает часы работы. Четвёртое: команда платит за часы, владелец получает вознаграждение, Улей — свою долю. Расчётный сценарий, а не коммерческое предложение: лаборатории нужно обработать большой набор изображений готовой моделью, это около ста часов работы карты с 24 гигабайтами памяти. Данные делятся на части, поэтому если работу прервали, часть можно запустить заново. По нашей целевой цене это четыре тысячи рублей; по типичным облачным тарифам 67–87 рублей за час — от 6700 до 8700 рублей. На рынке есть предложения и от 40 рублей за час, поэтому экономию мы не обещаем. На старте подходят задачи, которые можно разбить на части или повторить. Длительное обучение модели можно прерывать, только если сохраняется промежуточное состояние, — это проверим в пилоте. Срочные задачи и работу на нескольких картах сразу пока не берём.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Основная гипотеза для пилота — аренда видеокарт небольшим ML-командам и лабораториям. Покупают ML-команды, лаборатории вузов и AI-стартапы. Для чего: эксперименты, обработка наборов данных, дообучение моделей. Почему могут выбрать Улей: наша цель — доступная цена часа для несрочных задач за счёт уже существующего оборудования. Чего мы пока не знаем: есть ли у владельцев карты с достаточной памятью — их ещё нужно найти. Есть два альтернативных применения той же сети: пакетная обработка аудио и видео и обработка изображений и документов. Это не запасной план, который сработает автоматически: их тоже нужно оценить по спросу, требованиям к оборудованию и стоимости выполнения задач.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 исследованию Apple Hills Digital и Selectel «Облачные сервисы для ИИ: серверы с GPU и AI/ML-платформы», представленному 8 октября 2026 года, потребление облачных серверов с видеокартами в публичном облаке в России в 2025 году составило 8,2 миллиарда рублей и выросло на 68,7% к 2024 году. По публикации RB.ru о том же исследовании, базовый прогноз — 36,5 миллиарда рублей к 2030 году; это прогноз исследователей, а не гарантированная величина. Важно: 8,2 миллиарда — это весь рынок, включая серверные ускорители, которые мы не предлагаем. Внутри него есть сегмент потребительских видеокарт уровня RTX 3090 и 4090, а наш потенциальный сегмент ещё уже — несрочные вычислительные задачи небольших команд. Его размер мы не знаем и определим по результатам анализа предложений конкурентов и интервью с потенциальными клиентами.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Сравниваем сопоставимое: RTX 3090 с 24 гигабайтами памяти, почасовая аренда, тарифы 2026 года. Российские GPU-облака — Selectel, Cloud.ru, immers.cloud — берут за такой час около 67–71 рубля по типичным тарифам, и на рынке есть предложения от 40 рублей. Они работают в рублях и по договору, у них дата-центры и гарантии доступности, а для несрочных задач у части облаков есть прерываемые машины, например в Yandex Cloud. Зарубежные площадки вроде Vast.ai и Salad дешевле — около 11–13 центов за час RTX 3090, а прерываемая аренда ещё дешевле, — но расчёты в долларах, и российские карты там обычно не проходят. Поэтому низкая цена сама по себе не наше преимущество. Улей проверяет гипотезу: можно ли за счёт уже существующего оборудования предоставлять недорогие GPU-мощности именно для несрочных задач. Надёжность и удобство подключения нам ещё предстоит создать и доказать.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Экономика одной видеокарты. Клиент платит 40 рублей за оплаченный час. 20 рублей получает владелец, электричество он оплачивает сам — по нашей оценке два-три рубля в час, но это зависит от потребления системы и местного тарифа. 4,4 рубля — предварительная оценка наших переменных расходов: налог по упрощёнке 6%, то есть 2,4 рубля, плюс эквайринг и поддержка, около двух рублей. Гарантировать, что этого хватит, мы не можем. Остаётся 15,6 рубля — это не прибыль, а вклад в покрытие постоянных расходов. Важно различать доступность карты и платную загрузку. Базовый сценарий рассчитан на круглосуточно доступную карту на ферме с 50% платной загрузкой: это 360 оплаченных часов в месяц и 5616 рублей маржинального дохода с карты. Тогда постоянные расходы около 250 тысяч рублей в месяц покрывают примерно 45 карт. Домашний компьютер доступен, скажем, восемь часов в сутки: при той же загрузке это 120 оплаченных часов, 1872 рубля с карты, и для тех же расходов нужно около 134 карт. Это иллюстративные сценарии, не прогноз и не гарантированная точка безубыточности: реальная экономика зависит от доступности, спроса, простоев, перезапусков и затрат на инфраструктуру. Для ориентира: при расходах 500 тысяч нужно около 90 карт фермы, при 1,7–2,2 миллиона — около 300–390.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Шесть рисков, три ключевых выделены. Первый — техническая реализуемость: сможем ли мы дать клиенту стабильную вычислительную среду на чужом оборудовании. Проверяем на нескольких картах: как задача запускается, что происходит при сбое и можно ли её перезапустить. Второй — платёжеспособный спрос: двадцать проблемных интервью, и сигналом считаем готовность заплатить за пилот. Третий — конкурентоспособная себестоимость: даже если карта простаивает, владелец может не согласиться предоставлять её по цене, при которой Улей остаётся выгодным клиенту. Это обсуждаем с пятнадцатью владельцами и считаем их затраты. Четвёртый — право и защита данных: изоляция задач снижает риск, но не гарантирует конфиденциальность, поэтому в пилоте используем тестовые и неконфиденциальные данные, а юридическую сторону проверяем отдельно. Пятый — подходящее оборудование: если у владельцев мало карт с нужной памятью, пересматриваем направление. Шестой — нет технического специалиста: без него мы не подтвердим технические гипотезы. Ищем специалиста или наставника через программу и профильные сообщества, но понимаем, что это не гарантировано.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План на полгода построен как последовательная проверка. Первый месяц — оценка идеи: двадцать проблемных интервью с потенциальными клиентами, изучение оборудования у пятнадцати потенциальных владельцев, анализ предложений конкурентов, предварительная экономика, требования к будущему MVP и поиск технической экспертизы. Второй и третий месяцы — проверка возможности пилота, если у нас будут нужные ресурсы: выбираем первую целевую задачу, делаем простой технический прототип, тестируем несколько видеокарт, проверяем работоспособность и стоимость вычислений и ищем пилотных клиентов. Первые оплаченные задания — желательный, но не обязательный результат. Четвёртый–шестой месяцы — развитие по результатам: улучшаем прототип, проводим дополнительные испытания, проверяем платёжеспособный спрос и корректируем экономику. В конце принимаем решение: развивать проект, сменить направление или отказаться от гипотезы, если она нежизнеспособна. Бюджет на три месяца — предварительно от 100 до 700 тысяч рублей, конкретные затраты зависят от объёма разработки и привлечения специалистов. Интервью, изучение оборудования, анализ цен и финмодель делаем сами; внешние специалисты нужны для прототипа и юридической оценки. Грант «Студенческий стартап» — возможный источник, получение не гарантировано.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Тимур Новиков — продакт-менеджер, отвечает за продукт и проверку технических гипотез: какой будет модель сервиса, цена часа и требования к оборудованию. Игорь Кузьмин — менеджер по продажам, отвечает за проверку спроса: проблемные интервью и поиск потенциальных пилотных клиентов. В преакселераторе мы рассчитываем на экспертизу, связи и методологическую поддержку: экспертную оценку жизнеспособности идеи, помощь с проверкой клиентских гипотез и поиском целевой аудитории, техническую экспертизу — можно ли вообще создать такую платформу, — наставников и потенциальных технических партнёров, помощь с финансовой моделью и юридическую оценку. Мы хотим использовать преакселератор, чтобы проверить спрос, экономику и техническую реализуемость Улья и на основе результатов решить, стоит ли развивать проект дальше.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Улей — обложка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2800" y="3337620"/>
            <a:ext cx="10820400" cy="1473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200" b="1" spc="-200" kern="0" dirty="0">
                <a:solidFill>
                  <a:schemeClr val="bg1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defRPr>
            </a:lvl1pPr>
          </a:lstStyle>
          <a:p>
            <a:pPr algn="l" indent="0" marL="0">
              <a:buNone/>
            </a:pPr>
            <a:endParaRPr lang="en-US" sz="9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Улей — тёмный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2800" y="768350"/>
            <a:ext cx="10820400" cy="4699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spc="-50" kern="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Улей — светлый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2800" y="768350"/>
            <a:ext cx="10820400" cy="4699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spc="-50" kern="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Логотип Улья: шестиугольная ячейка сот с янтарным кубом внутри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1200" y="1143000"/>
            <a:ext cx="4318000" cy="43180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12800" y="3337620"/>
            <a:ext cx="10820400" cy="147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9200" b="1" spc="-200" kern="0" dirty="0">
                <a:solidFill>
                  <a:schemeClr val="bg1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Улей</a:t>
            </a:r>
            <a:endParaRPr lang="en-US" sz="9200" dirty="0"/>
          </a:p>
        </p:txBody>
      </p:sp>
      <p:sp>
        <p:nvSpPr>
          <p:cNvPr id="4" name="Text 1"/>
          <p:cNvSpPr txBox="1"/>
          <p:nvPr/>
        </p:nvSpPr>
        <p:spPr>
          <a:xfrm>
            <a:off x="812800" y="4887020"/>
            <a:ext cx="5867400" cy="73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ru-RU" altLang="en-US" sz="2200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Превращаем простаивающие видеокарты </a:t>
            </a:r>
            <a:br/>
            <a:pPr algn="l" indent="0" marL="0">
              <a:lnSpc>
                <a:spcPts val="2750"/>
              </a:lnSpc>
              <a:buNone/>
            </a:pPr>
            <a:r>
              <a:rPr lang="ru-RU" altLang="en-US" sz="2200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в доступные вычислительные мощности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812800" y="5795070"/>
            <a:ext cx="5867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400" dirty="0">
                <a:solidFill>
                  <a:schemeClr val="accent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Преакселератор ВШМ СПбГУ,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2800" y="768350"/>
            <a:ext cx="108204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2800" spc="-50" kern="0" dirty="0">
                <a:solidFill>
                  <a:schemeClr val="tx2"/>
                </a:solidFill>
              </a:rPr>
              <a:t>Проблема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2034679"/>
            <a:ext cx="4807268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5200" spc="-150" kern="0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≈70 ₽</a:t>
            </a:r>
            <a:endParaRPr lang="en-US" sz="52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2885579"/>
            <a:ext cx="480726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600" b="1" dirty="0">
                <a:solidFill>
                  <a:schemeClr val="tx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за час аренды RTX 3090 в российском облаке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3302099"/>
            <a:ext cx="480726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ru-RU" altLang="en-US" sz="1400" dirty="0">
                <a:solidFill>
                  <a:schemeClr val="accent6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Круглосуточная аренда такой карты — около 50 тыс. ₽ </a:t>
            </a:r>
            <a:br/>
            <a:pPr algn="l" indent="0" marL="0">
              <a:lnSpc>
                <a:spcPts val="1960"/>
              </a:lnSpc>
              <a:buNone/>
            </a:pPr>
            <a:r>
              <a:rPr lang="ru-RU" altLang="en-US" sz="1400" dirty="0">
                <a:solidFill>
                  <a:schemeClr val="accent6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в месяц. Для небольших команд это заметные деньги.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89650" y="2123579"/>
            <a:ext cx="12700" cy="2189163"/>
          </a:xfrm>
          <a:prstGeom prst="rect">
            <a:avLst/>
          </a:prstGeom>
          <a:solidFill>
            <a:srgbClr val="E2D7C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711950" y="2034679"/>
            <a:ext cx="4807268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5200" spc="-150" kern="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2022</a:t>
            </a:r>
            <a:endParaRPr lang="en-US" sz="5200" dirty="0"/>
          </a:p>
        </p:txBody>
      </p:sp>
      <p:sp>
        <p:nvSpPr>
          <p:cNvPr id="8" name="Text 6"/>
          <p:cNvSpPr txBox="1"/>
          <p:nvPr/>
        </p:nvSpPr>
        <p:spPr>
          <a:xfrm>
            <a:off x="6711950" y="2910979"/>
            <a:ext cx="4807268" cy="543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ru-RU" altLang="en-US" sz="1600" b="1" dirty="0">
                <a:solidFill>
                  <a:schemeClr val="tx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Ethereum, крупнейшая монета для майнинга </a:t>
            </a:r>
            <a:br/>
            <a:pPr algn="l" indent="0" marL="0">
              <a:lnSpc>
                <a:spcPts val="2080"/>
              </a:lnSpc>
              <a:buNone/>
            </a:pPr>
            <a:r>
              <a:rPr lang="ru-RU" altLang="en-US" sz="1600" b="1" dirty="0">
                <a:solidFill>
                  <a:schemeClr val="tx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на видеокартах, отказался от майнинга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711950" y="3566220"/>
            <a:ext cx="4807268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ru-RU" altLang="en-US" sz="1400" dirty="0">
                <a:solidFill>
                  <a:schemeClr val="accent6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Сейчас доход от майнинга зависит от модели карты, </a:t>
            </a:r>
            <a:br/>
            <a:pPr algn="l" indent="0" marL="0">
              <a:lnSpc>
                <a:spcPts val="1960"/>
              </a:lnSpc>
              <a:buNone/>
            </a:pPr>
            <a:r>
              <a:rPr lang="ru-RU" altLang="en-US" sz="1400" dirty="0">
                <a:solidFill>
                  <a:schemeClr val="accent6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тарифа на электричество и курса монет. Часть ферм и </a:t>
            </a:r>
            <a:br/>
            <a:pPr algn="l" indent="0" marL="0">
              <a:lnSpc>
                <a:spcPts val="1960"/>
              </a:lnSpc>
              <a:buNone/>
            </a:pPr>
            <a:r>
              <a:rPr lang="ru-RU" altLang="en-US" sz="1400" dirty="0">
                <a:solidFill>
                  <a:schemeClr val="accent6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игровых ПК загружена не полностью.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12800" y="5232400"/>
            <a:ext cx="10718800" cy="622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ru-RU" altLang="en-US" sz="2000" spc="-50" kern="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Вычислительная мощность стоит денег, а часть уже купленного </a:t>
            </a:r>
            <a:br/>
            <a:pPr algn="l" indent="0" marL="0">
              <a:lnSpc>
                <a:spcPts val="2400"/>
              </a:lnSpc>
              <a:buNone/>
            </a:pPr>
            <a:r>
              <a:rPr lang="ru-RU" altLang="en-US" sz="2000" spc="-50" kern="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оборудования можно использовать эффективнее.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12800" y="6234509"/>
            <a:ext cx="1071880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00" dirty="0">
                <a:solidFill>
                  <a:srgbClr val="7A6E5F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Цены: immers.cloud, обзор tproger, 2026. Ethereum: переход на proof-of-stake, сентябрь 2022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2800" y="768350"/>
            <a:ext cx="108204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2800" spc="-50" kern="0" dirty="0">
                <a:solidFill>
                  <a:schemeClr val="bg1"/>
                </a:solidFill>
              </a:rPr>
              <a:t>Решение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15975" y="1511895"/>
            <a:ext cx="2571750" cy="3658989"/>
          </a:xfrm>
          <a:prstGeom prst="roundRect">
            <a:avLst>
              <a:gd name="adj" fmla="val 6914"/>
            </a:avLst>
          </a:prstGeom>
          <a:solidFill>
            <a:schemeClr val="accent3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73150" y="1769070"/>
            <a:ext cx="2119122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40"/>
              </a:lnSpc>
              <a:buNone/>
            </a:pPr>
            <a:r>
              <a:rPr lang="ru-RU" altLang="en-US" sz="16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Владельцы </a:t>
            </a:r>
            <a:br/>
            <a:pPr algn="l" indent="0" marL="0">
              <a:lnSpc>
                <a:spcPts val="1840"/>
              </a:lnSpc>
              <a:buNone/>
            </a:pPr>
            <a:r>
              <a:rPr lang="ru-RU" altLang="en-US" sz="16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видеокарт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73150" y="2325291"/>
            <a:ext cx="2119122" cy="11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ru-RU" altLang="en-US" sz="1300" dirty="0">
                <a:solidFill>
                  <a:schemeClr val="accent5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Фермы и владельцы </a:t>
            </a:r>
            <a:br/>
            <a:pPr algn="l" indent="0" marL="0">
              <a:lnSpc>
                <a:spcPts val="1820"/>
              </a:lnSpc>
              <a:buNone/>
            </a:pPr>
            <a:r>
              <a:rPr lang="ru-RU" altLang="en-US" sz="1300" dirty="0">
                <a:solidFill>
                  <a:schemeClr val="accent5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мощных ПК </a:t>
            </a:r>
            <a:br/>
            <a:pPr algn="l" indent="0" marL="0">
              <a:lnSpc>
                <a:spcPts val="1820"/>
              </a:lnSpc>
              <a:buNone/>
            </a:pPr>
            <a:r>
              <a:rPr lang="ru-RU" altLang="en-US" sz="1300" dirty="0">
                <a:solidFill>
                  <a:schemeClr val="accent5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предоставляют </a:t>
            </a:r>
            <a:br/>
            <a:pPr algn="l" indent="0" marL="0">
              <a:lnSpc>
                <a:spcPts val="1820"/>
              </a:lnSpc>
              <a:buNone/>
            </a:pPr>
            <a:r>
              <a:rPr lang="ru-RU" altLang="en-US" sz="1300" dirty="0">
                <a:solidFill>
                  <a:schemeClr val="accent5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свободную мощность </a:t>
            </a:r>
            <a:br/>
            <a:pPr algn="l" indent="0" marL="0">
              <a:lnSpc>
                <a:spcPts val="1820"/>
              </a:lnSpc>
              <a:buNone/>
            </a:pPr>
            <a:r>
              <a:rPr lang="ru-RU" altLang="en-US" sz="1300" dirty="0">
                <a:solidFill>
                  <a:schemeClr val="accent5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видеокарт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73150" y="4350544"/>
            <a:ext cx="2057400" cy="0"/>
          </a:xfrm>
          <a:prstGeom prst="line">
            <a:avLst/>
          </a:prstGeom>
          <a:noFill/>
          <a:ln w="6350">
            <a:solidFill>
              <a:schemeClr val="accent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73150" y="4468019"/>
            <a:ext cx="2119122" cy="451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ru-RU" altLang="en-US" sz="1300" b="1" dirty="0">
                <a:solidFill>
                  <a:schemeClr val="accent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Вознаграждение за </a:t>
            </a:r>
            <a:br/>
            <a:pPr algn="l" indent="0" marL="0">
              <a:lnSpc>
                <a:spcPts val="1755"/>
              </a:lnSpc>
              <a:buNone/>
            </a:pPr>
            <a:r>
              <a:rPr lang="ru-RU" altLang="en-US" sz="1300" b="1" dirty="0">
                <a:solidFill>
                  <a:schemeClr val="accent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оплаченные часы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441700" y="2730599"/>
            <a:ext cx="132080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altLang="en-US" sz="1200" b="1" dirty="0">
                <a:solidFill>
                  <a:schemeClr val="accent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мощность</a:t>
            </a:r>
            <a:endParaRPr lang="en-US" sz="1200" dirty="0"/>
          </a:p>
        </p:txBody>
      </p:sp>
      <p:pic>
        <p:nvPicPr>
          <p:cNvPr id="9" name="Image 0" descr="Стрелк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67100" y="3023890"/>
            <a:ext cx="1270000" cy="152400"/>
          </a:xfrm>
          <a:prstGeom prst="rect">
            <a:avLst/>
          </a:prstGeom>
        </p:spPr>
      </p:pic>
      <p:pic>
        <p:nvPicPr>
          <p:cNvPr id="10" name="Image 1" descr="Стрелк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7100" y="3506490"/>
            <a:ext cx="1270000" cy="1524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441700" y="3716040"/>
            <a:ext cx="132080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altLang="en-US" sz="12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20 ₽ за час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813300" y="1508720"/>
            <a:ext cx="2565400" cy="3665339"/>
          </a:xfrm>
          <a:prstGeom prst="roundRect">
            <a:avLst>
              <a:gd name="adj" fmla="val 6931"/>
            </a:avLst>
          </a:prstGeom>
          <a:solidFill>
            <a:schemeClr val="accent1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5067300" y="1737320"/>
            <a:ext cx="211912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6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Улей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5067300" y="2085280"/>
            <a:ext cx="2119122" cy="11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ru-RU" altLang="en-US" sz="1300" dirty="0">
                <a:solidFill>
                  <a:srgbClr val="3B2A0E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Подключает </a:t>
            </a:r>
            <a:br/>
            <a:pPr algn="l" indent="0" marL="0">
              <a:lnSpc>
                <a:spcPts val="1820"/>
              </a:lnSpc>
              <a:buNone/>
            </a:pPr>
            <a:r>
              <a:rPr lang="ru-RU" altLang="en-US" sz="1300" dirty="0">
                <a:solidFill>
                  <a:srgbClr val="3B2A0E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оборудование, </a:t>
            </a:r>
            <a:br/>
            <a:pPr algn="l" indent="0" marL="0">
              <a:lnSpc>
                <a:spcPts val="1820"/>
              </a:lnSpc>
              <a:buNone/>
            </a:pPr>
            <a:r>
              <a:rPr lang="ru-RU" altLang="en-US" sz="1300" dirty="0">
                <a:solidFill>
                  <a:srgbClr val="3B2A0E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подбирает карту под </a:t>
            </a:r>
            <a:br/>
            <a:pPr algn="l" indent="0" marL="0">
              <a:lnSpc>
                <a:spcPts val="1820"/>
              </a:lnSpc>
              <a:buNone/>
            </a:pPr>
            <a:r>
              <a:rPr lang="ru-RU" altLang="en-US" sz="1300" dirty="0">
                <a:solidFill>
                  <a:srgbClr val="3B2A0E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запрос и учитывает часы </a:t>
            </a:r>
            <a:br/>
            <a:pPr algn="l" indent="0" marL="0">
              <a:lnSpc>
                <a:spcPts val="1820"/>
              </a:lnSpc>
              <a:buNone/>
            </a:pPr>
            <a:r>
              <a:rPr lang="ru-RU" altLang="en-US" sz="1300" dirty="0">
                <a:solidFill>
                  <a:srgbClr val="3B2A0E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работы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067300" y="4356894"/>
            <a:ext cx="2057400" cy="0"/>
          </a:xfrm>
          <a:prstGeom prst="line">
            <a:avLst/>
          </a:prstGeom>
          <a:noFill/>
          <a:ln w="6350">
            <a:solidFill>
              <a:srgbClr val="C9861E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067300" y="4474369"/>
            <a:ext cx="2119122" cy="451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ru-RU" altLang="en-US" sz="1300" b="1" dirty="0">
                <a:solidFill>
                  <a:schemeClr val="tx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Оставляет свою долю с </a:t>
            </a:r>
            <a:br/>
            <a:pPr algn="l" indent="0" marL="0">
              <a:lnSpc>
                <a:spcPts val="1755"/>
              </a:lnSpc>
              <a:buNone/>
            </a:pPr>
            <a:r>
              <a:rPr lang="ru-RU" altLang="en-US" sz="1300" b="1" dirty="0">
                <a:solidFill>
                  <a:schemeClr val="tx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каждого часа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7429500" y="2730599"/>
            <a:ext cx="132080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altLang="en-US" sz="1200" b="1" dirty="0">
                <a:solidFill>
                  <a:schemeClr val="accent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мощность</a:t>
            </a:r>
            <a:endParaRPr lang="en-US" sz="1200" dirty="0"/>
          </a:p>
        </p:txBody>
      </p:sp>
      <p:pic>
        <p:nvPicPr>
          <p:cNvPr id="18" name="Image 2" descr="Стрелка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4900" y="3023890"/>
            <a:ext cx="1270000" cy="152400"/>
          </a:xfrm>
          <a:prstGeom prst="rect">
            <a:avLst/>
          </a:prstGeom>
        </p:spPr>
      </p:pic>
      <p:pic>
        <p:nvPicPr>
          <p:cNvPr id="19" name="Image 3" descr="Стрелка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4900" y="3506490"/>
            <a:ext cx="1270000" cy="15240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7429500" y="3716040"/>
            <a:ext cx="132080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altLang="en-US" sz="12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40 ₽ за час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8804275" y="1511895"/>
            <a:ext cx="2571750" cy="3658989"/>
          </a:xfrm>
          <a:prstGeom prst="roundRect">
            <a:avLst>
              <a:gd name="adj" fmla="val 6914"/>
            </a:avLst>
          </a:prstGeom>
          <a:solidFill>
            <a:schemeClr val="accent3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9061450" y="1743670"/>
            <a:ext cx="211912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6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Клиенты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9061450" y="2091630"/>
            <a:ext cx="2119122" cy="693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ru-RU" altLang="en-US" sz="1300" dirty="0">
                <a:solidFill>
                  <a:schemeClr val="accent5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Небольшие ML-команды и </a:t>
            </a:r>
            <a:br/>
            <a:pPr algn="l" indent="0" marL="0">
              <a:lnSpc>
                <a:spcPts val="1820"/>
              </a:lnSpc>
              <a:buNone/>
            </a:pPr>
            <a:r>
              <a:rPr lang="ru-RU" altLang="en-US" sz="1300" dirty="0">
                <a:solidFill>
                  <a:schemeClr val="accent5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лаборатории арендуют </a:t>
            </a:r>
            <a:br/>
            <a:pPr algn="l" indent="0" marL="0">
              <a:lnSpc>
                <a:spcPts val="1820"/>
              </a:lnSpc>
              <a:buNone/>
            </a:pPr>
            <a:r>
              <a:rPr lang="ru-RU" altLang="en-US" sz="1300" dirty="0">
                <a:solidFill>
                  <a:schemeClr val="accent5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видеокарту по часам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9061450" y="4350544"/>
            <a:ext cx="2057400" cy="0"/>
          </a:xfrm>
          <a:prstGeom prst="line">
            <a:avLst/>
          </a:prstGeom>
          <a:noFill/>
          <a:ln w="6350">
            <a:solidFill>
              <a:schemeClr val="accent4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9061450" y="4468019"/>
            <a:ext cx="2119122" cy="451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ru-RU" altLang="en-US" sz="1300" b="1" dirty="0">
                <a:solidFill>
                  <a:schemeClr val="accent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Цель — доступная цена </a:t>
            </a:r>
            <a:br/>
            <a:pPr algn="l" indent="0" marL="0">
              <a:lnSpc>
                <a:spcPts val="1755"/>
              </a:lnSpc>
              <a:buNone/>
            </a:pPr>
            <a:r>
              <a:rPr lang="ru-RU" altLang="en-US" sz="1300" b="1" dirty="0">
                <a:solidFill>
                  <a:schemeClr val="accent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для несрочных задач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812800" y="5485209"/>
            <a:ext cx="5130800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812800" y="5618559"/>
            <a:ext cx="5283200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ru-RU" altLang="en-US" sz="1200" b="1" dirty="0">
                <a:solidFill>
                  <a:schemeClr val="accent5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Первый шаг</a:t>
            </a:r>
            <a:pPr algn="l" indent="0" marL="0">
              <a:lnSpc>
                <a:spcPts val="1680"/>
              </a:lnSpc>
              <a:buNone/>
            </a:pPr>
            <a:r>
              <a:rPr lang="ru-RU" altLang="en-US" sz="1200" dirty="0">
                <a:solidFill>
                  <a:schemeClr val="accent5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 — предоставить несколько видеокарт первым клиентам и </a:t>
            </a:r>
            <a:br/>
            <a:pPr algn="l" indent="0" marL="0">
              <a:lnSpc>
                <a:spcPts val="1680"/>
              </a:lnSpc>
              <a:buNone/>
            </a:pPr>
            <a:r>
              <a:rPr lang="ru-RU" altLang="en-US" sz="1200" dirty="0">
                <a:solidFill>
                  <a:schemeClr val="accent5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посмотреть, как это работает на практике.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6248400" y="5485209"/>
            <a:ext cx="5130800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6248400" y="5618559"/>
            <a:ext cx="5283200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ru-RU" altLang="en-US" sz="1200" b="1" dirty="0">
                <a:solidFill>
                  <a:schemeClr val="accent5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Возможные функции MVP:</a:t>
            </a:r>
            <a:pPr algn="l" indent="0" marL="0">
              <a:lnSpc>
                <a:spcPts val="1680"/>
              </a:lnSpc>
              <a:buNone/>
            </a:pPr>
            <a:r>
              <a:rPr lang="ru-RU" altLang="en-US" sz="1200" dirty="0">
                <a:solidFill>
                  <a:schemeClr val="accent5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 автоматический запуск задач, перезапуск </a:t>
            </a:r>
            <a:br/>
            <a:pPr algn="l" indent="0" marL="0">
              <a:lnSpc>
                <a:spcPts val="1680"/>
              </a:lnSpc>
              <a:buNone/>
            </a:pPr>
            <a:r>
              <a:rPr lang="ru-RU" altLang="en-US" sz="1200" dirty="0">
                <a:solidFill>
                  <a:schemeClr val="accent5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при сбое, контроль выполнения. Их реализуемость проверим.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2800" y="768350"/>
            <a:ext cx="108204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2800" spc="-50" kern="0" dirty="0">
                <a:solidFill>
                  <a:schemeClr val="tx2"/>
                </a:solidFill>
              </a:rPr>
              <a:t>Как это работает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15975" y="1429246"/>
            <a:ext cx="2520950" cy="1647031"/>
          </a:xfrm>
          <a:prstGeom prst="roundRect">
            <a:avLst>
              <a:gd name="adj" fmla="val 9253"/>
            </a:avLst>
          </a:prstGeom>
          <a:solidFill>
            <a:schemeClr val="bg2"/>
          </a:solidFill>
          <a:ln w="6350">
            <a:solidFill>
              <a:srgbClr val="E2D7C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2350" y="1610221"/>
            <a:ext cx="330200" cy="330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5580" y="1661021"/>
            <a:ext cx="13454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3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22350" y="2042021"/>
            <a:ext cx="2171446" cy="853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ru-RU" altLang="en-US" sz="1200" dirty="0">
                <a:solidFill>
                  <a:schemeClr val="tx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Команда запрашивает </a:t>
            </a:r>
            <a:br/>
            <a:pPr algn="l" indent="0" marL="0">
              <a:lnSpc>
                <a:spcPts val="1680"/>
              </a:lnSpc>
              <a:buNone/>
            </a:pPr>
            <a:r>
              <a:rPr lang="ru-RU" altLang="en-US" sz="1200" dirty="0">
                <a:solidFill>
                  <a:schemeClr val="tx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видеокарту с нужной </a:t>
            </a:r>
            <a:br/>
            <a:pPr algn="l" indent="0" marL="0">
              <a:lnSpc>
                <a:spcPts val="1680"/>
              </a:lnSpc>
              <a:buNone/>
            </a:pPr>
            <a:r>
              <a:rPr lang="ru-RU" altLang="en-US" sz="1200" dirty="0">
                <a:solidFill>
                  <a:schemeClr val="tx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памятью на нужное число </a:t>
            </a:r>
            <a:br/>
            <a:pPr algn="l" indent="0" marL="0">
              <a:lnSpc>
                <a:spcPts val="1680"/>
              </a:lnSpc>
              <a:buNone/>
            </a:pPr>
            <a:r>
              <a:rPr lang="ru-RU" altLang="en-US" sz="1200" dirty="0">
                <a:solidFill>
                  <a:schemeClr val="tx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часов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95675" y="1429246"/>
            <a:ext cx="2520950" cy="1647031"/>
          </a:xfrm>
          <a:prstGeom prst="roundRect">
            <a:avLst>
              <a:gd name="adj" fmla="val 9253"/>
            </a:avLst>
          </a:prstGeom>
          <a:solidFill>
            <a:schemeClr val="bg2"/>
          </a:solidFill>
          <a:ln w="6350">
            <a:solidFill>
              <a:srgbClr val="E2D7C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02050" y="1610221"/>
            <a:ext cx="330200" cy="330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799185" y="1661021"/>
            <a:ext cx="1867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3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702050" y="2042021"/>
            <a:ext cx="2171446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ru-RU" altLang="en-US" sz="1200" dirty="0">
                <a:solidFill>
                  <a:schemeClr val="tx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Улей подбирает свободную </a:t>
            </a:r>
            <a:br/>
            <a:pPr algn="l" indent="0" marL="0">
              <a:lnSpc>
                <a:spcPts val="1680"/>
              </a:lnSpc>
              <a:buNone/>
            </a:pPr>
            <a:r>
              <a:rPr lang="ru-RU" altLang="en-US" sz="1200" dirty="0">
                <a:solidFill>
                  <a:schemeClr val="tx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подходящую карту у </a:t>
            </a:r>
            <a:br/>
            <a:pPr algn="l" indent="0" marL="0">
              <a:lnSpc>
                <a:spcPts val="1680"/>
              </a:lnSpc>
              <a:buNone/>
            </a:pPr>
            <a:r>
              <a:rPr lang="ru-RU" altLang="en-US" sz="1200" dirty="0">
                <a:solidFill>
                  <a:schemeClr val="tx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владельца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5375" y="1429246"/>
            <a:ext cx="2520950" cy="1647031"/>
          </a:xfrm>
          <a:prstGeom prst="roundRect">
            <a:avLst>
              <a:gd name="adj" fmla="val 9253"/>
            </a:avLst>
          </a:prstGeom>
          <a:solidFill>
            <a:schemeClr val="bg2"/>
          </a:solidFill>
          <a:ln w="6350">
            <a:solidFill>
              <a:srgbClr val="E2D7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81750" y="1610221"/>
            <a:ext cx="330200" cy="330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78290" y="1661021"/>
            <a:ext cx="18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3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381750" y="2042021"/>
            <a:ext cx="2171446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ru-RU" altLang="en-US" sz="1200" dirty="0">
                <a:solidFill>
                  <a:schemeClr val="tx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Команда запускает свою </a:t>
            </a:r>
            <a:br/>
            <a:pPr algn="l" indent="0" marL="0">
              <a:lnSpc>
                <a:spcPts val="1680"/>
              </a:lnSpc>
              <a:buNone/>
            </a:pPr>
            <a:r>
              <a:rPr lang="ru-RU" altLang="en-US" sz="1200" dirty="0">
                <a:solidFill>
                  <a:schemeClr val="tx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задачу, Улей учитывает часы </a:t>
            </a:r>
            <a:br/>
            <a:pPr algn="l" indent="0" marL="0">
              <a:lnSpc>
                <a:spcPts val="1680"/>
              </a:lnSpc>
              <a:buNone/>
            </a:pPr>
            <a:r>
              <a:rPr lang="ru-RU" altLang="en-US" sz="1200" dirty="0">
                <a:solidFill>
                  <a:schemeClr val="tx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работы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855075" y="1429246"/>
            <a:ext cx="2520950" cy="1647031"/>
          </a:xfrm>
          <a:prstGeom prst="roundRect">
            <a:avLst>
              <a:gd name="adj" fmla="val 9253"/>
            </a:avLst>
          </a:prstGeom>
          <a:solidFill>
            <a:schemeClr val="bg2"/>
          </a:solidFill>
          <a:ln w="6350">
            <a:solidFill>
              <a:srgbClr val="E2D7C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061450" y="1610221"/>
            <a:ext cx="330200" cy="330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56700" y="1661021"/>
            <a:ext cx="190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3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061450" y="2042021"/>
            <a:ext cx="2171446" cy="853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ru-RU" altLang="en-US" sz="1200" dirty="0">
                <a:solidFill>
                  <a:schemeClr val="tx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Команда платит за часы, </a:t>
            </a:r>
            <a:br/>
            <a:pPr algn="l" indent="0" marL="0">
              <a:lnSpc>
                <a:spcPts val="1680"/>
              </a:lnSpc>
              <a:buNone/>
            </a:pPr>
            <a:r>
              <a:rPr lang="ru-RU" altLang="en-US" sz="1200" dirty="0">
                <a:solidFill>
                  <a:schemeClr val="tx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владелец получает </a:t>
            </a:r>
            <a:br/>
            <a:pPr algn="l" indent="0" marL="0">
              <a:lnSpc>
                <a:spcPts val="1680"/>
              </a:lnSpc>
              <a:buNone/>
            </a:pPr>
            <a:r>
              <a:rPr lang="ru-RU" altLang="en-US" sz="1200" dirty="0">
                <a:solidFill>
                  <a:schemeClr val="tx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вознаграждение, Улей — </a:t>
            </a:r>
            <a:br/>
            <a:pPr algn="l" indent="0" marL="0">
              <a:lnSpc>
                <a:spcPts val="1680"/>
              </a:lnSpc>
              <a:buNone/>
            </a:pPr>
            <a:r>
              <a:rPr lang="ru-RU" altLang="en-US" sz="1200" dirty="0">
                <a:solidFill>
                  <a:schemeClr val="tx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долю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2800" y="3301603"/>
            <a:ext cx="5528072" cy="2743498"/>
          </a:xfrm>
          <a:prstGeom prst="roundRect">
            <a:avLst>
              <a:gd name="adj" fmla="val 6481"/>
            </a:avLst>
          </a:prstGeom>
          <a:solidFill>
            <a:schemeClr val="tx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66800" y="3479403"/>
            <a:ext cx="5170674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5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Расчётный сценарий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066800" y="3812778"/>
            <a:ext cx="5170674" cy="853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ru-RU" altLang="en-US" sz="1200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Лаборатории нужно обработать большой набор изображений </a:t>
            </a:r>
            <a:br/>
            <a:pPr algn="l" indent="0" marL="0">
              <a:lnSpc>
                <a:spcPts val="1680"/>
              </a:lnSpc>
              <a:buNone/>
            </a:pPr>
            <a:r>
              <a:rPr lang="ru-RU" altLang="en-US" sz="1200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готовой моделью — около 100 часов работы карты с 24 ГБ памяти. </a:t>
            </a:r>
            <a:br/>
            <a:pPr algn="l" indent="0" marL="0">
              <a:lnSpc>
                <a:spcPts val="1680"/>
              </a:lnSpc>
              <a:buNone/>
            </a:pPr>
            <a:r>
              <a:rPr lang="ru-RU" altLang="en-US" sz="1200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Данные делятся на части, поэтому прерванную часть можно </a:t>
            </a:r>
            <a:br/>
            <a:pPr algn="l" indent="0" marL="0">
              <a:lnSpc>
                <a:spcPts val="1680"/>
              </a:lnSpc>
              <a:buNone/>
            </a:pPr>
            <a:r>
              <a:rPr lang="ru-RU" altLang="en-US" sz="1200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запустить заново.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066800" y="4710509"/>
            <a:ext cx="1655366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2400" spc="-50" kern="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4 000 ₽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1066800" y="5098435"/>
            <a:ext cx="165536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00" dirty="0">
                <a:solidFill>
                  <a:schemeClr val="accent5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цель Улья: 100 ч × 40 ₽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925366" y="4710509"/>
            <a:ext cx="2777464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2400" spc="-50" kern="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6 700–8 700 ₽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2925366" y="5098435"/>
            <a:ext cx="27774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00" dirty="0">
                <a:solidFill>
                  <a:schemeClr val="accent5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по типичным тарифам 67–87 ₽ за час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066800" y="5415260"/>
            <a:ext cx="5170674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ru-RU" altLang="en-US" sz="1200" dirty="0">
                <a:solidFill>
                  <a:schemeClr val="accent5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На рынке есть предложения и от 40 ₽ за час, поэтому экономия не </a:t>
            </a:r>
            <a:br/>
            <a:pPr algn="l" indent="0" marL="0">
              <a:lnSpc>
                <a:spcPts val="1680"/>
              </a:lnSpc>
              <a:buNone/>
            </a:pPr>
            <a:r>
              <a:rPr lang="ru-RU" altLang="en-US" sz="1200" dirty="0">
                <a:solidFill>
                  <a:schemeClr val="accent5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гарантирована.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96447" y="3304778"/>
            <a:ext cx="4879578" cy="2737148"/>
          </a:xfrm>
          <a:prstGeom prst="roundRect">
            <a:avLst>
              <a:gd name="adj" fmla="val 6496"/>
            </a:avLst>
          </a:prstGeom>
          <a:solidFill>
            <a:schemeClr val="bg2"/>
          </a:solidFill>
          <a:ln w="6350">
            <a:solidFill>
              <a:srgbClr val="E2D7C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753622" y="3485753"/>
            <a:ext cx="4496185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5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Какие задачи подходят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753622" y="3819128"/>
            <a:ext cx="4496185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ru-RU" altLang="en-US" sz="1200" b="1" dirty="0">
                <a:solidFill>
                  <a:schemeClr val="accent6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На старте:</a:t>
            </a:r>
            <a:pPr algn="l" indent="0" marL="0">
              <a:lnSpc>
                <a:spcPts val="1680"/>
              </a:lnSpc>
              <a:buNone/>
            </a:pPr>
            <a:r>
              <a:rPr lang="ru-RU" altLang="en-US" sz="1200" dirty="0">
                <a:solidFill>
                  <a:schemeClr val="accent6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 задачи, которые можно разбить на части или </a:t>
            </a:r>
            <a:br/>
            <a:pPr algn="l" indent="0" marL="0">
              <a:lnSpc>
                <a:spcPts val="1680"/>
              </a:lnSpc>
              <a:buNone/>
            </a:pPr>
            <a:r>
              <a:rPr lang="ru-RU" altLang="en-US" sz="1200" dirty="0">
                <a:solidFill>
                  <a:schemeClr val="accent6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повторить, — обработка наборов данных, серии коротких </a:t>
            </a:r>
            <a:br/>
            <a:pPr algn="l" indent="0" marL="0">
              <a:lnSpc>
                <a:spcPts val="1680"/>
              </a:lnSpc>
              <a:buNone/>
            </a:pPr>
            <a:r>
              <a:rPr lang="ru-RU" altLang="en-US" sz="1200" dirty="0">
                <a:solidFill>
                  <a:schemeClr val="accent6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экспериментов.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753622" y="4547989"/>
            <a:ext cx="4496185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ru-RU" altLang="en-US" sz="1200" b="1" dirty="0">
                <a:solidFill>
                  <a:schemeClr val="accent6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Длительное обучение</a:t>
            </a:r>
            <a:pPr algn="l" indent="0" marL="0">
              <a:lnSpc>
                <a:spcPts val="1680"/>
              </a:lnSpc>
              <a:buNone/>
            </a:pPr>
            <a:r>
              <a:rPr lang="ru-RU" altLang="en-US" sz="1200" dirty="0">
                <a:solidFill>
                  <a:schemeClr val="accent6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 — только с сохранением </a:t>
            </a:r>
            <a:br/>
            <a:pPr algn="l" indent="0" marL="0">
              <a:lnSpc>
                <a:spcPts val="1680"/>
              </a:lnSpc>
              <a:buNone/>
            </a:pPr>
            <a:r>
              <a:rPr lang="ru-RU" altLang="en-US" sz="1200" dirty="0">
                <a:solidFill>
                  <a:schemeClr val="accent6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промежуточного состояния. Это проверим в пилоте.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753622" y="5063530"/>
            <a:ext cx="4496185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ru-RU" altLang="en-US" sz="1200" b="1" dirty="0">
                <a:solidFill>
                  <a:schemeClr val="accent6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Пока нет:</a:t>
            </a:r>
            <a:pPr algn="l" indent="0" marL="0">
              <a:lnSpc>
                <a:spcPts val="1680"/>
              </a:lnSpc>
              <a:buNone/>
            </a:pPr>
            <a:r>
              <a:rPr lang="ru-RU" altLang="en-US" sz="1200" dirty="0">
                <a:solidFill>
                  <a:schemeClr val="accent6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 срочные задачи и работа на нескольких картах </a:t>
            </a:r>
            <a:br/>
            <a:pPr algn="l" indent="0" marL="0">
              <a:lnSpc>
                <a:spcPts val="1680"/>
              </a:lnSpc>
              <a:buNone/>
            </a:pPr>
            <a:r>
              <a:rPr lang="ru-RU" altLang="en-US" sz="1200" dirty="0">
                <a:solidFill>
                  <a:schemeClr val="accent6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сразу.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2800" y="768350"/>
            <a:ext cx="108204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2800" spc="-50" kern="0" dirty="0">
                <a:solidFill>
                  <a:schemeClr val="bg1"/>
                </a:solidFill>
              </a:rPr>
              <a:t>Первые клиенты и направления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19150" y="1515070"/>
            <a:ext cx="6218436" cy="4523780"/>
          </a:xfrm>
          <a:prstGeom prst="roundRect">
            <a:avLst>
              <a:gd name="adj" fmla="val 3930"/>
            </a:avLst>
          </a:prstGeom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104900" y="1781770"/>
            <a:ext cx="5799336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00" b="1" dirty="0">
                <a:solidFill>
                  <a:schemeClr val="accent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Основная гипотеза для пилота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04900" y="2113161"/>
            <a:ext cx="5799336" cy="5686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8"/>
              </a:lnSpc>
              <a:buNone/>
            </a:pPr>
            <a:r>
              <a:rPr lang="ru-RU" altLang="en-US" sz="19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Аренда видеокарт ML-командам и </a:t>
            </a:r>
            <a:br/>
            <a:pPr algn="l" indent="0" marL="0">
              <a:lnSpc>
                <a:spcPts val="2128"/>
              </a:lnSpc>
              <a:buNone/>
            </a:pPr>
            <a:r>
              <a:rPr lang="ru-RU" altLang="en-US" sz="19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лабораториям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1104900" y="2770981"/>
            <a:ext cx="5646936" cy="0"/>
          </a:xfrm>
          <a:prstGeom prst="line">
            <a:avLst/>
          </a:prstGeom>
          <a:noFill/>
          <a:ln w="6350">
            <a:solidFill>
              <a:schemeClr val="accent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04900" y="2856706"/>
            <a:ext cx="5799336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00" b="1" dirty="0">
                <a:solidFill>
                  <a:schemeClr val="accent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Кто покупает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104900" y="3092847"/>
            <a:ext cx="579933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300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ML-команды, лаборатории вузов, AI-стартапы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104900" y="3452217"/>
            <a:ext cx="5646936" cy="0"/>
          </a:xfrm>
          <a:prstGeom prst="line">
            <a:avLst/>
          </a:prstGeom>
          <a:noFill/>
          <a:ln w="6350">
            <a:solidFill>
              <a:schemeClr val="accent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04900" y="3537942"/>
            <a:ext cx="5799336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00" b="1" dirty="0">
                <a:solidFill>
                  <a:schemeClr val="accent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Для чего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104900" y="3774083"/>
            <a:ext cx="579933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300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Эксперименты, обработка наборов данных, дообучение моделей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104900" y="4133453"/>
            <a:ext cx="5646936" cy="0"/>
          </a:xfrm>
          <a:prstGeom prst="line">
            <a:avLst/>
          </a:prstGeom>
          <a:noFill/>
          <a:ln w="6350">
            <a:solidFill>
              <a:schemeClr val="accent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04900" y="4219178"/>
            <a:ext cx="5799336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00" b="1" dirty="0">
                <a:solidFill>
                  <a:schemeClr val="accent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Почему Улей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104900" y="4474369"/>
            <a:ext cx="5799336" cy="451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ru-RU" altLang="en-US" sz="1300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Цель — доступная цена часа для несрочных задач на уже </a:t>
            </a:r>
            <a:br/>
            <a:pPr algn="l" indent="0" marL="0">
              <a:lnSpc>
                <a:spcPts val="1755"/>
              </a:lnSpc>
              <a:buNone/>
            </a:pPr>
            <a:r>
              <a:rPr lang="ru-RU" altLang="en-US" sz="1300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существующем оборудовании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104900" y="5037534"/>
            <a:ext cx="5646936" cy="0"/>
          </a:xfrm>
          <a:prstGeom prst="line">
            <a:avLst/>
          </a:prstGeom>
          <a:noFill/>
          <a:ln w="6350">
            <a:solidFill>
              <a:schemeClr val="accent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104900" y="5123259"/>
            <a:ext cx="5799336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00" b="1" dirty="0">
                <a:solidFill>
                  <a:schemeClr val="accent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Что нужно найти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04900" y="5359400"/>
            <a:ext cx="579933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300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Владельцев карт с достаточной памятью для таких задач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199511" y="1511895"/>
            <a:ext cx="4176514" cy="1484511"/>
          </a:xfrm>
          <a:prstGeom prst="roundRect">
            <a:avLst>
              <a:gd name="adj" fmla="val 10266"/>
            </a:avLst>
          </a:prstGeom>
          <a:solidFill>
            <a:schemeClr val="accent3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31286" y="1724620"/>
            <a:ext cx="3824353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00" b="1" dirty="0">
                <a:solidFill>
                  <a:schemeClr val="accent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Альтернатива 1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431286" y="2017911"/>
            <a:ext cx="3824353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ru-RU" altLang="en-US" sz="15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Пакетная обработка аудио и </a:t>
            </a:r>
            <a:br/>
            <a:pPr algn="l" indent="0" marL="0">
              <a:lnSpc>
                <a:spcPts val="1800"/>
              </a:lnSpc>
              <a:buNone/>
            </a:pPr>
            <a:r>
              <a:rPr lang="ru-RU" altLang="en-US" sz="15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видео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431286" y="2536706"/>
            <a:ext cx="382435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00" dirty="0">
                <a:solidFill>
                  <a:schemeClr val="accent5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Расшифровка записей, субтитры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199511" y="3155156"/>
            <a:ext cx="4176514" cy="1484511"/>
          </a:xfrm>
          <a:prstGeom prst="roundRect">
            <a:avLst>
              <a:gd name="adj" fmla="val 10266"/>
            </a:avLst>
          </a:prstGeom>
          <a:solidFill>
            <a:schemeClr val="accent3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431286" y="3367881"/>
            <a:ext cx="3824353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00" b="1" dirty="0">
                <a:solidFill>
                  <a:schemeClr val="accent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Альтернатива 2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431286" y="3661172"/>
            <a:ext cx="3824353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ru-RU" altLang="en-US" sz="15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Обработка изображений и </a:t>
            </a:r>
            <a:br/>
            <a:pPr algn="l" indent="0" marL="0">
              <a:lnSpc>
                <a:spcPts val="1800"/>
              </a:lnSpc>
              <a:buNone/>
            </a:pPr>
            <a:r>
              <a:rPr lang="ru-RU" altLang="en-US" sz="15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документов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431286" y="4179967"/>
            <a:ext cx="382435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00" dirty="0">
                <a:solidFill>
                  <a:schemeClr val="accent5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Фото товаров, распознавание сканов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196336" y="4795242"/>
            <a:ext cx="4308350" cy="693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ru-RU" altLang="en-US" sz="1300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Альтернативные направления также оценим по </a:t>
            </a:r>
            <a:br/>
            <a:pPr algn="l" indent="0" marL="0">
              <a:lnSpc>
                <a:spcPts val="1820"/>
              </a:lnSpc>
              <a:buNone/>
            </a:pPr>
            <a:r>
              <a:rPr lang="ru-RU" altLang="en-US" sz="1300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спросу, требованиям к оборудованию и стоимости </a:t>
            </a:r>
            <a:br/>
            <a:pPr algn="l" indent="0" marL="0">
              <a:lnSpc>
                <a:spcPts val="1820"/>
              </a:lnSpc>
              <a:buNone/>
            </a:pPr>
            <a:r>
              <a:rPr lang="ru-RU" altLang="en-US" sz="1300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выполнения задач.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2800" y="768350"/>
            <a:ext cx="108204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2800" spc="-50" kern="0" dirty="0">
                <a:solidFill>
                  <a:schemeClr val="tx2"/>
                </a:solidFill>
              </a:rPr>
              <a:t>Рынок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928515"/>
            <a:ext cx="62484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6400" b="1" spc="-250" kern="0" dirty="0">
                <a:solidFill>
                  <a:schemeClr val="tx2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8,2 млрд ₽</a:t>
            </a:r>
            <a:endParaRPr lang="en-US" sz="64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2976265"/>
            <a:ext cx="6248400" cy="517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ru-RU" altLang="en-US" sz="1500" dirty="0">
                <a:solidFill>
                  <a:srgbClr val="3B2A0E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потратили компании в России на облачные серверы с </a:t>
            </a:r>
            <a:br/>
            <a:pPr algn="l" indent="0" marL="0">
              <a:lnSpc>
                <a:spcPts val="2025"/>
              </a:lnSpc>
              <a:buNone/>
            </a:pPr>
            <a:r>
              <a:rPr lang="ru-RU" altLang="en-US" sz="1500" dirty="0">
                <a:solidFill>
                  <a:srgbClr val="3B2A0E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видеокартами в 2025 году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12800" y="3725565"/>
            <a:ext cx="1290836" cy="0"/>
          </a:xfrm>
          <a:prstGeom prst="line">
            <a:avLst/>
          </a:prstGeom>
          <a:noFill/>
          <a:ln w="12700">
            <a:solidFill>
              <a:srgbClr val="3B2A0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12800" y="3795415"/>
            <a:ext cx="1341636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2800" spc="-50" kern="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+69%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812800" y="4256405"/>
            <a:ext cx="134163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300" dirty="0">
                <a:solidFill>
                  <a:srgbClr val="3B2A0E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рост к 2024 году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408436" y="3725565"/>
            <a:ext cx="2928640" cy="0"/>
          </a:xfrm>
          <a:prstGeom prst="line">
            <a:avLst/>
          </a:prstGeom>
          <a:noFill/>
          <a:ln w="12700">
            <a:solidFill>
              <a:srgbClr val="3B2A0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408436" y="3795415"/>
            <a:ext cx="3016499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2800" spc="-50" kern="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36,5 млрд ₽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2408436" y="4256405"/>
            <a:ext cx="3016499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300" dirty="0">
                <a:solidFill>
                  <a:srgbClr val="3B2A0E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прогноз исследователей на 2030 год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24725" y="1839020"/>
            <a:ext cx="4044950" cy="2859881"/>
          </a:xfrm>
          <a:prstGeom prst="roundRect">
            <a:avLst>
              <a:gd name="adj" fmla="val 6217"/>
            </a:avLst>
          </a:prstGeom>
          <a:solidFill>
            <a:srgbClr val="FFF4DE">
              <a:alpha val="42000"/>
            </a:srgbClr>
          </a:solidFill>
          <a:ln w="19050">
            <a:solidFill>
              <a:srgbClr val="3B2A0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512050" y="2000945"/>
            <a:ext cx="378040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400" b="1" dirty="0">
                <a:solidFill>
                  <a:schemeClr val="tx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Весь рынок облачных GPU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512050" y="2335590"/>
            <a:ext cx="378040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00" dirty="0">
                <a:solidFill>
                  <a:srgbClr val="3B2A0E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8,2 млрд ₽, включая серверные ускорители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512050" y="2665115"/>
            <a:ext cx="3670300" cy="1846461"/>
          </a:xfrm>
          <a:prstGeom prst="roundRect">
            <a:avLst>
              <a:gd name="adj" fmla="val 7566"/>
            </a:avLst>
          </a:prstGeom>
          <a:solidFill>
            <a:srgbClr val="3B2A0E">
              <a:alpha val="12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664450" y="2817515"/>
            <a:ext cx="3466465" cy="443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ru-RU" altLang="en-US" sz="1300" b="1" dirty="0">
                <a:solidFill>
                  <a:schemeClr val="tx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Потребительские видеокарты уровня </a:t>
            </a:r>
            <a:br/>
            <a:pPr algn="l" indent="0" marL="0">
              <a:lnSpc>
                <a:spcPts val="1690"/>
              </a:lnSpc>
              <a:buNone/>
            </a:pPr>
            <a:r>
              <a:rPr lang="ru-RU" altLang="en-US" sz="1300" b="1" dirty="0">
                <a:solidFill>
                  <a:schemeClr val="tx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RTX 3090 и 4090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664450" y="3335635"/>
            <a:ext cx="3365500" cy="1023541"/>
          </a:xfrm>
          <a:prstGeom prst="roundRect">
            <a:avLst>
              <a:gd name="adj" fmla="val 11167"/>
            </a:avLst>
          </a:prstGeom>
          <a:solidFill>
            <a:schemeClr val="tx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816850" y="3462635"/>
            <a:ext cx="315252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400" b="1" dirty="0">
                <a:solidFill>
                  <a:schemeClr val="accent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Потенциальный сегмент Улья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816850" y="3761085"/>
            <a:ext cx="3152521" cy="451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ru-RU" altLang="en-US" sz="1300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Несрочные вычислительные задачи </a:t>
            </a:r>
            <a:br/>
            <a:pPr algn="l" indent="0" marL="0">
              <a:lnSpc>
                <a:spcPts val="1755"/>
              </a:lnSpc>
              <a:buNone/>
            </a:pPr>
            <a:r>
              <a:rPr lang="ru-RU" altLang="en-US" sz="1300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небольших команд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12800" y="5334000"/>
            <a:ext cx="10718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ru-RU" altLang="en-US" sz="16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Размер доступного сегмента определим по результатам анализа предложений </a:t>
            </a:r>
            <a:br/>
            <a:pPr algn="l" indent="0" marL="0">
              <a:lnSpc>
                <a:spcPts val="2000"/>
              </a:lnSpc>
              <a:buNone/>
            </a:pPr>
            <a:r>
              <a:rPr lang="ru-RU" altLang="en-US" sz="16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конкурентов и интервью с потенциальными клиентами.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12800" y="6234509"/>
            <a:ext cx="1071880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00" dirty="0">
                <a:solidFill>
                  <a:srgbClr val="3B2A0E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Apple Hills Digital и Selectel, исследование «Облачные сервисы для ИИ», октябрь 2026; прогноз на 2030 год — по публикации RB.ru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2800" y="768350"/>
            <a:ext cx="108204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2800" spc="-50" kern="0" dirty="0">
                <a:solidFill>
                  <a:schemeClr val="bg1"/>
                </a:solidFill>
              </a:rPr>
              <a:t>Конкуренты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2717800" y="1532731"/>
            <a:ext cx="275569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4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Облака в России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2717800" y="1747917"/>
            <a:ext cx="275569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00" dirty="0">
                <a:solidFill>
                  <a:schemeClr val="accent5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Selectel, Cloud.ru, immers.cloud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647234" y="1558131"/>
            <a:ext cx="2755697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ru-RU" altLang="en-US" sz="14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Зарубежные </a:t>
            </a:r>
            <a:br/>
            <a:pPr algn="l" indent="0" marL="0">
              <a:lnSpc>
                <a:spcPts val="1610"/>
              </a:lnSpc>
              <a:buNone/>
            </a:pPr>
            <a:r>
              <a:rPr lang="ru-RU" altLang="en-US" sz="14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площадки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647234" y="1952308"/>
            <a:ext cx="275569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00" dirty="0">
                <a:solidFill>
                  <a:schemeClr val="accent5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Vast.ai, Salad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449667" y="1558131"/>
            <a:ext cx="2929434" cy="711002"/>
          </a:xfrm>
          <a:prstGeom prst="round2SameRect">
            <a:avLst/>
          </a:prstGeom>
          <a:solidFill>
            <a:schemeClr val="accent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576667" y="1659731"/>
            <a:ext cx="275569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4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Улей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576667" y="1874917"/>
            <a:ext cx="275569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00" dirty="0">
                <a:solidFill>
                  <a:schemeClr val="accent5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что проверяем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2800" y="2272308"/>
            <a:ext cx="1778000" cy="0"/>
          </a:xfrm>
          <a:prstGeom prst="line">
            <a:avLst/>
          </a:prstGeom>
          <a:noFill/>
          <a:ln w="6350">
            <a:solidFill>
              <a:schemeClr val="accent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2800" y="2332633"/>
            <a:ext cx="170180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00" b="1" dirty="0">
                <a:solidFill>
                  <a:schemeClr val="accent5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Цена часа RTX 3090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90800" y="2272308"/>
            <a:ext cx="2929434" cy="0"/>
          </a:xfrm>
          <a:prstGeom prst="line">
            <a:avLst/>
          </a:prstGeom>
          <a:noFill/>
          <a:ln w="6350">
            <a:solidFill>
              <a:schemeClr val="accent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717800" y="2351683"/>
            <a:ext cx="2755697" cy="407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ru-RU" altLang="en-US" sz="1200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≈67–71 ₽ по типичным тарифам, есть </a:t>
            </a:r>
            <a:br/>
            <a:pPr algn="l" indent="0" marL="0">
              <a:lnSpc>
                <a:spcPts val="1560"/>
              </a:lnSpc>
              <a:buNone/>
            </a:pPr>
            <a:r>
              <a:rPr lang="ru-RU" altLang="en-US" sz="1200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предложения от 40 ₽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520234" y="2272308"/>
            <a:ext cx="2929434" cy="0"/>
          </a:xfrm>
          <a:prstGeom prst="line">
            <a:avLst/>
          </a:prstGeom>
          <a:noFill/>
          <a:ln w="6350">
            <a:solidFill>
              <a:schemeClr val="accent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647234" y="2351683"/>
            <a:ext cx="2755697" cy="407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ru-RU" altLang="en-US" sz="1200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≈$0,11–0,13, прерываемая аренда </a:t>
            </a:r>
            <a:br/>
            <a:pPr algn="l" indent="0" marL="0">
              <a:lnSpc>
                <a:spcPts val="1560"/>
              </a:lnSpc>
              <a:buNone/>
            </a:pPr>
            <a:r>
              <a:rPr lang="ru-RU" altLang="en-US" sz="1200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дешевле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449667" y="2269133"/>
            <a:ext cx="2929434" cy="554831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7" name="Shape 15"/>
          <p:cNvSpPr/>
          <p:nvPr/>
        </p:nvSpPr>
        <p:spPr>
          <a:xfrm>
            <a:off x="8449667" y="2272308"/>
            <a:ext cx="2929434" cy="0"/>
          </a:xfrm>
          <a:prstGeom prst="line">
            <a:avLst/>
          </a:prstGeom>
          <a:noFill/>
          <a:ln w="6350">
            <a:solidFill>
              <a:schemeClr val="accent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576667" y="2332633"/>
            <a:ext cx="2755697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00" b="1" dirty="0">
                <a:solidFill>
                  <a:schemeClr val="accent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Цель — около 40 ₽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2800" y="2827139"/>
            <a:ext cx="1778000" cy="0"/>
          </a:xfrm>
          <a:prstGeom prst="line">
            <a:avLst/>
          </a:prstGeom>
          <a:noFill/>
          <a:ln w="6350">
            <a:solidFill>
              <a:schemeClr val="accent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12800" y="2906514"/>
            <a:ext cx="1701800" cy="407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ru-RU" altLang="en-US" sz="1200" b="1" dirty="0">
                <a:solidFill>
                  <a:schemeClr val="accent5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Работа в России и </a:t>
            </a:r>
            <a:br/>
            <a:pPr algn="l" indent="0" marL="0">
              <a:lnSpc>
                <a:spcPts val="1560"/>
              </a:lnSpc>
              <a:buNone/>
            </a:pPr>
            <a:r>
              <a:rPr lang="ru-RU" altLang="en-US" sz="1200" b="1" dirty="0">
                <a:solidFill>
                  <a:schemeClr val="accent5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оплата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90800" y="2827139"/>
            <a:ext cx="2929434" cy="0"/>
          </a:xfrm>
          <a:prstGeom prst="line">
            <a:avLst/>
          </a:prstGeom>
          <a:noFill/>
          <a:ln w="6350">
            <a:solidFill>
              <a:schemeClr val="accent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717800" y="2887464"/>
            <a:ext cx="2755697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00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Да, в рублях, по договору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20234" y="2827139"/>
            <a:ext cx="2929434" cy="0"/>
          </a:xfrm>
          <a:prstGeom prst="line">
            <a:avLst/>
          </a:prstGeom>
          <a:noFill/>
          <a:ln w="6350">
            <a:solidFill>
              <a:schemeClr val="accent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647234" y="2906514"/>
            <a:ext cx="2755697" cy="407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ru-RU" altLang="en-US" sz="1200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В долларах; российские карты </a:t>
            </a:r>
            <a:br/>
            <a:pPr algn="l" indent="0" marL="0">
              <a:lnSpc>
                <a:spcPts val="1560"/>
              </a:lnSpc>
              <a:buNone/>
            </a:pPr>
            <a:r>
              <a:rPr lang="ru-RU" altLang="en-US" sz="1200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обычно не проходят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449667" y="2823964"/>
            <a:ext cx="2929434" cy="554831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6" name="Shape 24"/>
          <p:cNvSpPr/>
          <p:nvPr/>
        </p:nvSpPr>
        <p:spPr>
          <a:xfrm>
            <a:off x="8449667" y="2827139"/>
            <a:ext cx="2929434" cy="0"/>
          </a:xfrm>
          <a:prstGeom prst="line">
            <a:avLst/>
          </a:prstGeom>
          <a:noFill/>
          <a:ln w="6350">
            <a:solidFill>
              <a:schemeClr val="accent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576667" y="2887464"/>
            <a:ext cx="2755697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00" b="1" dirty="0">
                <a:solidFill>
                  <a:schemeClr val="accent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Да, в рублях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12800" y="3381970"/>
            <a:ext cx="1778000" cy="0"/>
          </a:xfrm>
          <a:prstGeom prst="line">
            <a:avLst/>
          </a:prstGeom>
          <a:noFill/>
          <a:ln w="6350">
            <a:solidFill>
              <a:schemeClr val="accent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12800" y="3442295"/>
            <a:ext cx="170180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00" b="1" dirty="0">
                <a:solidFill>
                  <a:schemeClr val="accent5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Надёжность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590800" y="3381970"/>
            <a:ext cx="2929434" cy="0"/>
          </a:xfrm>
          <a:prstGeom prst="line">
            <a:avLst/>
          </a:prstGeom>
          <a:noFill/>
          <a:ln w="6350">
            <a:solidFill>
              <a:schemeClr val="accent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717800" y="3442295"/>
            <a:ext cx="2755697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00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Дата-центры, гарантии доступности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520234" y="3381970"/>
            <a:ext cx="2929434" cy="0"/>
          </a:xfrm>
          <a:prstGeom prst="line">
            <a:avLst/>
          </a:prstGeom>
          <a:noFill/>
          <a:ln w="6350">
            <a:solidFill>
              <a:schemeClr val="accent4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647234" y="3461345"/>
            <a:ext cx="2755697" cy="407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ru-RU" altLang="en-US" sz="1200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Зависит от хоста, есть проверенные </a:t>
            </a:r>
            <a:br/>
            <a:pPr algn="l" indent="0" marL="0">
              <a:lnSpc>
                <a:spcPts val="1560"/>
              </a:lnSpc>
              <a:buNone/>
            </a:pPr>
            <a:r>
              <a:rPr lang="ru-RU" altLang="en-US" sz="1200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дата-центры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449667" y="3378795"/>
            <a:ext cx="2929434" cy="554831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5" name="Shape 33"/>
          <p:cNvSpPr/>
          <p:nvPr/>
        </p:nvSpPr>
        <p:spPr>
          <a:xfrm>
            <a:off x="8449667" y="3381970"/>
            <a:ext cx="2929434" cy="0"/>
          </a:xfrm>
          <a:prstGeom prst="line">
            <a:avLst/>
          </a:prstGeom>
          <a:noFill/>
          <a:ln w="6350">
            <a:solidFill>
              <a:schemeClr val="accent4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576667" y="3461345"/>
            <a:ext cx="2755697" cy="407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ru-RU" altLang="en-US" sz="1200" b="1" dirty="0">
                <a:solidFill>
                  <a:schemeClr val="accent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Не проверена — ключевой вопрос </a:t>
            </a:r>
            <a:br/>
            <a:pPr algn="l" indent="0" marL="0">
              <a:lnSpc>
                <a:spcPts val="1560"/>
              </a:lnSpc>
              <a:buNone/>
            </a:pPr>
            <a:r>
              <a:rPr lang="ru-RU" altLang="en-US" sz="1200" b="1" dirty="0">
                <a:solidFill>
                  <a:schemeClr val="accent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пилота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12800" y="3936802"/>
            <a:ext cx="1778000" cy="0"/>
          </a:xfrm>
          <a:prstGeom prst="line">
            <a:avLst/>
          </a:prstGeom>
          <a:noFill/>
          <a:ln w="6350">
            <a:solidFill>
              <a:schemeClr val="accent4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12800" y="3997127"/>
            <a:ext cx="170180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00" b="1" dirty="0">
                <a:solidFill>
                  <a:schemeClr val="accent5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Несрочные задачи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2590800" y="3936802"/>
            <a:ext cx="2929434" cy="0"/>
          </a:xfrm>
          <a:prstGeom prst="line">
            <a:avLst/>
          </a:prstGeom>
          <a:noFill/>
          <a:ln w="6350">
            <a:solidFill>
              <a:schemeClr val="accent4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2717800" y="4016177"/>
            <a:ext cx="2755697" cy="407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ru-RU" altLang="en-US" sz="1200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Есть прерываемые машины, </a:t>
            </a:r>
            <a:br/>
            <a:pPr algn="l" indent="0" marL="0">
              <a:lnSpc>
                <a:spcPts val="1560"/>
              </a:lnSpc>
              <a:buNone/>
            </a:pPr>
            <a:r>
              <a:rPr lang="ru-RU" altLang="en-US" sz="1200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например в Yandex Cloud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520234" y="3936802"/>
            <a:ext cx="2929434" cy="0"/>
          </a:xfrm>
          <a:prstGeom prst="line">
            <a:avLst/>
          </a:prstGeom>
          <a:noFill/>
          <a:ln w="6350">
            <a:solidFill>
              <a:schemeClr val="accent4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647234" y="3997127"/>
            <a:ext cx="2755697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00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Есть дешёвая прерываемая аренда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8449667" y="3933627"/>
            <a:ext cx="2929434" cy="554831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44" name="Shape 42"/>
          <p:cNvSpPr/>
          <p:nvPr/>
        </p:nvSpPr>
        <p:spPr>
          <a:xfrm>
            <a:off x="8449667" y="3936802"/>
            <a:ext cx="2929434" cy="0"/>
          </a:xfrm>
          <a:prstGeom prst="line">
            <a:avLst/>
          </a:prstGeom>
          <a:noFill/>
          <a:ln w="6350">
            <a:solidFill>
              <a:schemeClr val="accent4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576667" y="4016177"/>
            <a:ext cx="2755697" cy="407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ru-RU" altLang="en-US" sz="1200" b="1" dirty="0">
                <a:solidFill>
                  <a:schemeClr val="accent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Основная специализация — </a:t>
            </a:r>
            <a:br/>
            <a:pPr algn="l" indent="0" marL="0">
              <a:lnSpc>
                <a:spcPts val="1560"/>
              </a:lnSpc>
              <a:buNone/>
            </a:pPr>
            <a:r>
              <a:rPr lang="ru-RU" altLang="en-US" sz="1200" b="1" dirty="0">
                <a:solidFill>
                  <a:schemeClr val="accent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гипотеза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812800" y="4491633"/>
            <a:ext cx="1778000" cy="0"/>
          </a:xfrm>
          <a:prstGeom prst="line">
            <a:avLst/>
          </a:prstGeom>
          <a:noFill/>
          <a:ln w="6350">
            <a:solidFill>
              <a:schemeClr val="accent4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12800" y="4551958"/>
            <a:ext cx="170180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00" b="1" dirty="0">
                <a:solidFill>
                  <a:schemeClr val="accent5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Подключение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2590800" y="4491633"/>
            <a:ext cx="2929434" cy="0"/>
          </a:xfrm>
          <a:prstGeom prst="line">
            <a:avLst/>
          </a:prstGeom>
          <a:noFill/>
          <a:ln w="6350">
            <a:solidFill>
              <a:schemeClr val="accent4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2717800" y="4551958"/>
            <a:ext cx="2755697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00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Готовые серверы и поддержка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5520234" y="4491633"/>
            <a:ext cx="2929434" cy="0"/>
          </a:xfrm>
          <a:prstGeom prst="line">
            <a:avLst/>
          </a:prstGeom>
          <a:noFill/>
          <a:ln w="6350">
            <a:solidFill>
              <a:schemeClr val="accent4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5647234" y="4571008"/>
            <a:ext cx="2755697" cy="407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ru-RU" altLang="en-US" sz="1200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Самообслуживание, нужна </a:t>
            </a:r>
            <a:br/>
            <a:pPr algn="l" indent="0" marL="0">
              <a:lnSpc>
                <a:spcPts val="1560"/>
              </a:lnSpc>
              <a:buNone/>
            </a:pPr>
            <a:r>
              <a:rPr lang="ru-RU" altLang="en-US" sz="1200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настройка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 rot="10800000">
            <a:off x="8449667" y="4488458"/>
            <a:ext cx="2929434" cy="554831"/>
          </a:xfrm>
          <a:prstGeom prst="round2SameRect">
            <a:avLst/>
          </a:prstGeom>
          <a:solidFill>
            <a:schemeClr val="accent3"/>
          </a:solidFill>
          <a:ln/>
        </p:spPr>
      </p:sp>
      <p:sp>
        <p:nvSpPr>
          <p:cNvPr id="53" name="Shape 51"/>
          <p:cNvSpPr/>
          <p:nvPr/>
        </p:nvSpPr>
        <p:spPr>
          <a:xfrm>
            <a:off x="8449667" y="4491633"/>
            <a:ext cx="2929434" cy="0"/>
          </a:xfrm>
          <a:prstGeom prst="line">
            <a:avLst/>
          </a:prstGeom>
          <a:noFill/>
          <a:ln w="6350">
            <a:solidFill>
              <a:schemeClr val="accent4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8576667" y="4551958"/>
            <a:ext cx="2755697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00" b="1" dirty="0">
                <a:solidFill>
                  <a:schemeClr val="accent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Предстоит создать</a:t>
            </a:r>
            <a:endParaRPr lang="en-US" sz="1200" dirty="0"/>
          </a:p>
        </p:txBody>
      </p:sp>
      <p:sp>
        <p:nvSpPr>
          <p:cNvPr id="55" name="Text 53"/>
          <p:cNvSpPr txBox="1"/>
          <p:nvPr/>
        </p:nvSpPr>
        <p:spPr>
          <a:xfrm>
            <a:off x="812800" y="5397500"/>
            <a:ext cx="107188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ru-RU" altLang="en-US" sz="14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Улей проверяет, можно ли предоставлять недорогие GPU-мощности для несрочных задач </a:t>
            </a:r>
            <a:br/>
            <a:pPr algn="l" indent="0" marL="0">
              <a:lnSpc>
                <a:spcPts val="1750"/>
              </a:lnSpc>
              <a:buNone/>
            </a:pPr>
            <a:r>
              <a:rPr lang="ru-RU" altLang="en-US" sz="14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за счёт уже существующего оборудования.</a:t>
            </a:r>
            <a:endParaRPr lang="en-US" sz="1400" dirty="0"/>
          </a:p>
        </p:txBody>
      </p:sp>
      <p:sp>
        <p:nvSpPr>
          <p:cNvPr id="56" name="Text 54"/>
          <p:cNvSpPr txBox="1"/>
          <p:nvPr/>
        </p:nvSpPr>
        <p:spPr>
          <a:xfrm>
            <a:off x="812800" y="6234509"/>
            <a:ext cx="1071880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00" dirty="0">
                <a:solidFill>
                  <a:schemeClr val="accent5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RTX 3090, 24 ГБ, почасовая аренда, 2026: immers.cloud, tproger, intelion.cloud, computeprices.com, Yandex Cloud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2800" y="768350"/>
            <a:ext cx="108204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2800" spc="-50" kern="0" dirty="0">
                <a:solidFill>
                  <a:schemeClr val="tx2"/>
                </a:solidFill>
              </a:rPr>
              <a:t>Экономика одной видеокарты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554758"/>
            <a:ext cx="10718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600" b="1" dirty="0">
                <a:solidFill>
                  <a:schemeClr val="tx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Один оплаченный час видеокарты — 40 ₽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12800" y="1933178"/>
            <a:ext cx="5384800" cy="457200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5200" y="2031008"/>
            <a:ext cx="131960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300" b="1" dirty="0">
                <a:solidFill>
                  <a:schemeClr val="tx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20 ₽ владельцу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156450" y="1933178"/>
            <a:ext cx="4222750" cy="457200"/>
          </a:xfrm>
          <a:prstGeom prst="roundRect">
            <a:avLst>
              <a:gd name="adj" fmla="val 22222"/>
            </a:avLst>
          </a:prstGeom>
          <a:solidFill>
            <a:schemeClr val="tx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10450" y="2031008"/>
            <a:ext cx="363283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300" b="1" dirty="0">
                <a:solidFill>
                  <a:schemeClr val="accent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15,6 ₽ — на постоянные расходы и прибыль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96000" y="1933178"/>
            <a:ext cx="1162050" cy="457200"/>
          </a:xfrm>
          <a:prstGeom prst="rect">
            <a:avLst/>
          </a:prstGeom>
          <a:solidFill>
            <a:srgbClr val="E2D7C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197600" y="2031008"/>
            <a:ext cx="44469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300" b="1" dirty="0">
                <a:solidFill>
                  <a:schemeClr val="tx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4,4 ₽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12800" y="2479278"/>
            <a:ext cx="10718800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ru-RU" altLang="en-US" sz="1200" dirty="0">
                <a:solidFill>
                  <a:srgbClr val="7A6E5F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4,4 ₽ — предварительная оценка переменных расходов: налог 6% (2,4 ₽), эквайринг и поддержка (≈2 ₽). Электричество оплачивает владелец: </a:t>
            </a:r>
            <a:br/>
            <a:pPr algn="l" indent="0" marL="0">
              <a:lnSpc>
                <a:spcPts val="1680"/>
              </a:lnSpc>
              <a:buNone/>
            </a:pPr>
            <a:r>
              <a:rPr lang="ru-RU" altLang="en-US" sz="1200" dirty="0">
                <a:solidFill>
                  <a:srgbClr val="7A6E5F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≈2–3 ₽ в час, зависит от потребления системы и тарифа.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2800" y="3282156"/>
            <a:ext cx="5200650" cy="1959967"/>
          </a:xfrm>
          <a:prstGeom prst="roundRect">
            <a:avLst>
              <a:gd name="adj" fmla="val 7776"/>
            </a:avLst>
          </a:prstGeom>
          <a:solidFill>
            <a:schemeClr val="tx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41400" y="3466306"/>
            <a:ext cx="488575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4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Базовый сценарий: круглосуточная ферма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41400" y="3760887"/>
            <a:ext cx="4885754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00" dirty="0">
                <a:solidFill>
                  <a:schemeClr val="accent5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Доступна 24 ч в сутки, платная загрузка 50%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41400" y="4061817"/>
            <a:ext cx="1533823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2600" spc="-50" kern="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360 ч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1041400" y="4473853"/>
            <a:ext cx="153382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00" dirty="0">
                <a:solidFill>
                  <a:schemeClr val="accent5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оплаченных в месяц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778423" y="4061817"/>
            <a:ext cx="2199039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2600" spc="-50" kern="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5 616 ₽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2778423" y="4473853"/>
            <a:ext cx="219903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00" dirty="0">
                <a:solidFill>
                  <a:schemeClr val="accent5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маржинальный доход с карты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41400" y="4784328"/>
            <a:ext cx="488575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3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≈45 карт покрывают 250 тыс. ₽ расходов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69025" y="3285331"/>
            <a:ext cx="5207000" cy="1953617"/>
          </a:xfrm>
          <a:prstGeom prst="roundRect">
            <a:avLst>
              <a:gd name="adj" fmla="val 7801"/>
            </a:avLst>
          </a:prstGeom>
          <a:solidFill>
            <a:schemeClr val="bg2"/>
          </a:solidFill>
          <a:ln w="6350">
            <a:solidFill>
              <a:srgbClr val="E2D7C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0" y="3472656"/>
            <a:ext cx="488575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400" b="1" dirty="0">
                <a:solidFill>
                  <a:schemeClr val="tx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Домашний ПК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0" y="3767237"/>
            <a:ext cx="4885754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00" dirty="0">
                <a:solidFill>
                  <a:schemeClr val="accent6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Доступен 8 ч в сутки, платная загрузка 50%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4068167"/>
            <a:ext cx="1533823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2600" spc="-50" kern="0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120 ч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4480203"/>
            <a:ext cx="153382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00" dirty="0">
                <a:solidFill>
                  <a:schemeClr val="accent6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оплаченных в месяц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137823" y="4068167"/>
            <a:ext cx="2199039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2600" spc="-50" kern="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1 872 ₽</a:t>
            </a:r>
            <a:endParaRPr lang="en-US" sz="2600" dirty="0"/>
          </a:p>
        </p:txBody>
      </p:sp>
      <p:sp>
        <p:nvSpPr>
          <p:cNvPr id="25" name="Text 23"/>
          <p:cNvSpPr txBox="1"/>
          <p:nvPr/>
        </p:nvSpPr>
        <p:spPr>
          <a:xfrm>
            <a:off x="8137823" y="4480203"/>
            <a:ext cx="219903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00" dirty="0">
                <a:solidFill>
                  <a:schemeClr val="accent6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маржинальный доход с карты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0" y="4790678"/>
            <a:ext cx="488575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300" b="1" dirty="0">
                <a:solidFill>
                  <a:schemeClr val="tx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≈134 карты на те же 250 тыс. ₽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12800" y="5618361"/>
            <a:ext cx="10718800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ru-RU" altLang="en-US" sz="1200" dirty="0">
                <a:solidFill>
                  <a:srgbClr val="7A6E5F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Иллюстративные сценарии, а не прогноз: экономика зависит от доступности, спроса, простоев, перезапусков и затрат на инфраструктуру. </a:t>
            </a:r>
            <a:br/>
            <a:pPr algn="l" indent="0" marL="0">
              <a:lnSpc>
                <a:spcPts val="1680"/>
              </a:lnSpc>
              <a:buNone/>
            </a:pPr>
            <a:r>
              <a:rPr lang="ru-RU" altLang="en-US" sz="1200" dirty="0">
                <a:solidFill>
                  <a:srgbClr val="7A6E5F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Ориентиры для фермы: 500 тыс. ₽ расходов — ≈90 карт, 1,7–2,2 млн ₽ — ≈300–390 карт.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2800" y="768350"/>
            <a:ext cx="108204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2800" spc="-50" kern="0" dirty="0">
                <a:solidFill>
                  <a:schemeClr val="bg1"/>
                </a:solidFill>
              </a:rPr>
              <a:t>Риски по степени важности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19150" y="1413470"/>
            <a:ext cx="3384054" cy="2230140"/>
          </a:xfrm>
          <a:prstGeom prst="roundRect">
            <a:avLst>
              <a:gd name="adj" fmla="val 6834"/>
            </a:avLst>
          </a:prstGeom>
          <a:solidFill>
            <a:schemeClr val="accent3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8700" y="1645841"/>
            <a:ext cx="330200" cy="330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51930" y="1696641"/>
            <a:ext cx="13454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3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473200" y="1597620"/>
            <a:ext cx="2596068" cy="435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ru-RU" altLang="en-US" sz="14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Техническая </a:t>
            </a:r>
            <a:br/>
            <a:pPr algn="l" indent="0" marL="0">
              <a:lnSpc>
                <a:spcPts val="1680"/>
              </a:lnSpc>
              <a:buNone/>
            </a:pPr>
            <a:r>
              <a:rPr lang="ru-RU" altLang="en-US" sz="14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реализуемость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28700" y="2081411"/>
            <a:ext cx="3053903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00" b="1" dirty="0">
                <a:solidFill>
                  <a:schemeClr val="accent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Ключевой риск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28700" y="2374702"/>
            <a:ext cx="3053903" cy="1066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ru-RU" altLang="en-US" sz="1200" dirty="0">
                <a:solidFill>
                  <a:schemeClr val="accent5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Можно ли дать стабильную </a:t>
            </a:r>
            <a:br/>
            <a:pPr algn="l" indent="0" marL="0">
              <a:lnSpc>
                <a:spcPts val="1680"/>
              </a:lnSpc>
              <a:buNone/>
            </a:pPr>
            <a:r>
              <a:rPr lang="ru-RU" altLang="en-US" sz="1200" dirty="0">
                <a:solidFill>
                  <a:schemeClr val="accent5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вычислительную среду на чужом </a:t>
            </a:r>
            <a:br/>
            <a:pPr algn="l" indent="0" marL="0">
              <a:lnSpc>
                <a:spcPts val="1680"/>
              </a:lnSpc>
              <a:buNone/>
            </a:pPr>
            <a:r>
              <a:rPr lang="ru-RU" altLang="en-US" sz="1200" dirty="0">
                <a:solidFill>
                  <a:schemeClr val="accent5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оборудовании. Проверяем на </a:t>
            </a:r>
            <a:br/>
            <a:pPr algn="l" indent="0" marL="0">
              <a:lnSpc>
                <a:spcPts val="1680"/>
              </a:lnSpc>
              <a:buNone/>
            </a:pPr>
            <a:r>
              <a:rPr lang="ru-RU" altLang="en-US" sz="1200" dirty="0">
                <a:solidFill>
                  <a:schemeClr val="accent5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нескольких картах: запуск, сбои, </a:t>
            </a:r>
            <a:br/>
            <a:pPr algn="l" indent="0" marL="0">
              <a:lnSpc>
                <a:spcPts val="1680"/>
              </a:lnSpc>
              <a:buNone/>
            </a:pPr>
            <a:r>
              <a:rPr lang="ru-RU" altLang="en-US" sz="1200" dirty="0">
                <a:solidFill>
                  <a:schemeClr val="accent5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перезапуск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65129" y="1410295"/>
            <a:ext cx="3390503" cy="2236490"/>
          </a:xfrm>
          <a:prstGeom prst="roundRect">
            <a:avLst>
              <a:gd name="adj" fmla="val 6814"/>
            </a:avLst>
          </a:prstGeom>
          <a:solidFill>
            <a:schemeClr val="accent3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1504" y="1639491"/>
            <a:ext cx="330200" cy="330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8639" y="1690291"/>
            <a:ext cx="1867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3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016004" y="1591270"/>
            <a:ext cx="2609251" cy="435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ru-RU" altLang="en-US" sz="14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Платёжеспособный </a:t>
            </a:r>
            <a:br/>
            <a:pPr algn="l" indent="0" marL="0">
              <a:lnSpc>
                <a:spcPts val="1680"/>
              </a:lnSpc>
              <a:buNone/>
            </a:pPr>
            <a:r>
              <a:rPr lang="ru-RU" altLang="en-US" sz="14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спрос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1504" y="2094111"/>
            <a:ext cx="3067086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ru-RU" altLang="en-US" sz="1200" dirty="0">
                <a:solidFill>
                  <a:schemeClr val="accent5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20 проблемных интервью. Сигнал — </a:t>
            </a:r>
            <a:br/>
            <a:pPr algn="l" indent="0" marL="0">
              <a:lnSpc>
                <a:spcPts val="1680"/>
              </a:lnSpc>
              <a:buNone/>
            </a:pPr>
            <a:r>
              <a:rPr lang="ru-RU" altLang="en-US" sz="1200" dirty="0">
                <a:solidFill>
                  <a:schemeClr val="accent5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готовность заплатить за пилот, а не </a:t>
            </a:r>
            <a:br/>
            <a:pPr algn="l" indent="0" marL="0">
              <a:lnSpc>
                <a:spcPts val="1680"/>
              </a:lnSpc>
              <a:buNone/>
            </a:pPr>
            <a:r>
              <a:rPr lang="ru-RU" altLang="en-US" sz="1200" dirty="0">
                <a:solidFill>
                  <a:schemeClr val="accent5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просто интерес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17557" y="1413470"/>
            <a:ext cx="3455293" cy="2230140"/>
          </a:xfrm>
          <a:prstGeom prst="roundRect">
            <a:avLst>
              <a:gd name="adj" fmla="val 6834"/>
            </a:avLst>
          </a:prstGeom>
          <a:solidFill>
            <a:schemeClr val="accent3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27107" y="1645841"/>
            <a:ext cx="330200" cy="330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3647" y="1696641"/>
            <a:ext cx="18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3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571607" y="1597620"/>
            <a:ext cx="2669444" cy="435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ru-RU" altLang="en-US" sz="14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Конкурентоспособная </a:t>
            </a:r>
            <a:br/>
            <a:pPr algn="l" indent="0" marL="0">
              <a:lnSpc>
                <a:spcPts val="1680"/>
              </a:lnSpc>
              <a:buNone/>
            </a:pPr>
            <a:r>
              <a:rPr lang="ru-RU" altLang="en-US" sz="14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себестоимость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127107" y="2081411"/>
            <a:ext cx="3127279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00" b="1" dirty="0">
                <a:solidFill>
                  <a:schemeClr val="accent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Ключевой риск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127107" y="2374702"/>
            <a:ext cx="3127279" cy="853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ru-RU" altLang="en-US" sz="1200" dirty="0">
                <a:solidFill>
                  <a:schemeClr val="accent5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Владелец может не согласиться на цену, </a:t>
            </a:r>
            <a:br/>
            <a:pPr algn="l" indent="0" marL="0">
              <a:lnSpc>
                <a:spcPts val="1680"/>
              </a:lnSpc>
              <a:buNone/>
            </a:pPr>
            <a:r>
              <a:rPr lang="ru-RU" altLang="en-US" sz="1200" dirty="0">
                <a:solidFill>
                  <a:schemeClr val="accent5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при которой Улей выгоден клиенту. </a:t>
            </a:r>
            <a:br/>
            <a:pPr algn="l" indent="0" marL="0">
              <a:lnSpc>
                <a:spcPts val="1680"/>
              </a:lnSpc>
              <a:buNone/>
            </a:pPr>
            <a:r>
              <a:rPr lang="ru-RU" altLang="en-US" sz="1200" dirty="0">
                <a:solidFill>
                  <a:schemeClr val="accent5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Обсуждаем условия с 15 владельцами и </a:t>
            </a:r>
            <a:br/>
            <a:pPr algn="l" indent="0" marL="0">
              <a:lnSpc>
                <a:spcPts val="1680"/>
              </a:lnSpc>
              <a:buNone/>
            </a:pPr>
            <a:r>
              <a:rPr lang="ru-RU" altLang="en-US" sz="1200" dirty="0">
                <a:solidFill>
                  <a:schemeClr val="accent5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считаем затраты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5975" y="3805535"/>
            <a:ext cx="3390404" cy="2236490"/>
          </a:xfrm>
          <a:prstGeom prst="roundRect">
            <a:avLst>
              <a:gd name="adj" fmla="val 6814"/>
            </a:avLst>
          </a:prstGeom>
          <a:solidFill>
            <a:schemeClr val="accent3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22350" y="4034730"/>
            <a:ext cx="330200" cy="330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117600" y="4085530"/>
            <a:ext cx="190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3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466850" y="3986510"/>
            <a:ext cx="2609149" cy="435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ru-RU" altLang="en-US" sz="14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Право и защита </a:t>
            </a:r>
            <a:br/>
            <a:pPr algn="l" indent="0" marL="0">
              <a:lnSpc>
                <a:spcPts val="1680"/>
              </a:lnSpc>
              <a:buNone/>
            </a:pPr>
            <a:r>
              <a:rPr lang="ru-RU" altLang="en-US" sz="14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данных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022350" y="4489351"/>
            <a:ext cx="3066984" cy="853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ru-RU" altLang="en-US" sz="1200" dirty="0">
                <a:solidFill>
                  <a:schemeClr val="accent5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Изоляция задач не гарантирует </a:t>
            </a:r>
            <a:br/>
            <a:pPr algn="l" indent="0" marL="0">
              <a:lnSpc>
                <a:spcPts val="1680"/>
              </a:lnSpc>
              <a:buNone/>
            </a:pPr>
            <a:r>
              <a:rPr lang="ru-RU" altLang="en-US" sz="1200" dirty="0">
                <a:solidFill>
                  <a:schemeClr val="accent5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конфиденциальность. В пилоте — </a:t>
            </a:r>
            <a:br/>
            <a:pPr algn="l" indent="0" marL="0">
              <a:lnSpc>
                <a:spcPts val="1680"/>
              </a:lnSpc>
              <a:buNone/>
            </a:pPr>
            <a:r>
              <a:rPr lang="ru-RU" altLang="en-US" sz="1200" dirty="0">
                <a:solidFill>
                  <a:schemeClr val="accent5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тестовые данные, правовая проверка </a:t>
            </a:r>
            <a:br/>
            <a:pPr algn="l" indent="0" marL="0">
              <a:lnSpc>
                <a:spcPts val="1680"/>
              </a:lnSpc>
              <a:buNone/>
            </a:pPr>
            <a:r>
              <a:rPr lang="ru-RU" altLang="en-US" sz="1200" dirty="0">
                <a:solidFill>
                  <a:schemeClr val="accent5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обязательна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365129" y="3805535"/>
            <a:ext cx="3390503" cy="2236490"/>
          </a:xfrm>
          <a:prstGeom prst="roundRect">
            <a:avLst>
              <a:gd name="adj" fmla="val 6814"/>
            </a:avLst>
          </a:prstGeom>
          <a:solidFill>
            <a:schemeClr val="accent3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1504" y="4034730"/>
            <a:ext cx="330200" cy="330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670623" y="4085530"/>
            <a:ext cx="1827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3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016004" y="3986510"/>
            <a:ext cx="2609251" cy="435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ru-RU" altLang="en-US" sz="14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Подходящее </a:t>
            </a:r>
            <a:br/>
            <a:pPr algn="l" indent="0" marL="0">
              <a:lnSpc>
                <a:spcPts val="1680"/>
              </a:lnSpc>
              <a:buNone/>
            </a:pPr>
            <a:r>
              <a:rPr lang="ru-RU" altLang="en-US" sz="14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оборудование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4571504" y="4489351"/>
            <a:ext cx="3067086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ru-RU" altLang="en-US" sz="1200" dirty="0">
                <a:solidFill>
                  <a:schemeClr val="accent5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Изучаем карты у 15 владельцев. Если </a:t>
            </a:r>
            <a:br/>
            <a:pPr algn="l" indent="0" marL="0">
              <a:lnSpc>
                <a:spcPts val="1680"/>
              </a:lnSpc>
              <a:buNone/>
            </a:pPr>
            <a:r>
              <a:rPr lang="ru-RU" altLang="en-US" sz="1200" dirty="0">
                <a:solidFill>
                  <a:schemeClr val="accent5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подходящих мало — пересматриваем </a:t>
            </a:r>
            <a:br/>
            <a:pPr algn="l" indent="0" marL="0">
              <a:lnSpc>
                <a:spcPts val="1680"/>
              </a:lnSpc>
              <a:buNone/>
            </a:pPr>
            <a:r>
              <a:rPr lang="ru-RU" altLang="en-US" sz="1200" dirty="0">
                <a:solidFill>
                  <a:schemeClr val="accent5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направление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917557" y="3808710"/>
            <a:ext cx="3455293" cy="2230140"/>
          </a:xfrm>
          <a:prstGeom prst="roundRect">
            <a:avLst>
              <a:gd name="adj" fmla="val 6834"/>
            </a:avLst>
          </a:prstGeom>
          <a:solidFill>
            <a:schemeClr val="accent3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27107" y="4041080"/>
            <a:ext cx="330200" cy="330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222059" y="4091880"/>
            <a:ext cx="1909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3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571607" y="3992860"/>
            <a:ext cx="2669444" cy="435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ru-RU" altLang="en-US" sz="14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Нет технического </a:t>
            </a:r>
            <a:br/>
            <a:pPr algn="l" indent="0" marL="0">
              <a:lnSpc>
                <a:spcPts val="1680"/>
              </a:lnSpc>
              <a:buNone/>
            </a:pPr>
            <a:r>
              <a:rPr lang="ru-RU" altLang="en-US" sz="14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специалиста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8127107" y="4476651"/>
            <a:ext cx="3127279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00" b="1" dirty="0">
                <a:solidFill>
                  <a:schemeClr val="accent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Ключевой риск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8127107" y="4769941"/>
            <a:ext cx="3127279" cy="853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ru-RU" altLang="en-US" sz="1200" dirty="0">
                <a:solidFill>
                  <a:schemeClr val="accent5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Без него не подтвердить технические </a:t>
            </a:r>
            <a:br/>
            <a:pPr algn="l" indent="0" marL="0">
              <a:lnSpc>
                <a:spcPts val="1680"/>
              </a:lnSpc>
              <a:buNone/>
            </a:pPr>
            <a:r>
              <a:rPr lang="ru-RU" altLang="en-US" sz="1200" dirty="0">
                <a:solidFill>
                  <a:schemeClr val="accent5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гипотезы. Ищем специалиста или </a:t>
            </a:r>
            <a:br/>
            <a:pPr algn="l" indent="0" marL="0">
              <a:lnSpc>
                <a:spcPts val="1680"/>
              </a:lnSpc>
              <a:buNone/>
            </a:pPr>
            <a:r>
              <a:rPr lang="ru-RU" altLang="en-US" sz="1200" dirty="0">
                <a:solidFill>
                  <a:schemeClr val="accent5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наставника — в программе и в </a:t>
            </a:r>
            <a:br/>
            <a:pPr algn="l" indent="0" marL="0">
              <a:lnSpc>
                <a:spcPts val="1680"/>
              </a:lnSpc>
              <a:buNone/>
            </a:pPr>
            <a:r>
              <a:rPr lang="ru-RU" altLang="en-US" sz="1200" dirty="0">
                <a:solidFill>
                  <a:schemeClr val="accent5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профильных сообществах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2800" y="768350"/>
            <a:ext cx="108204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2800" spc="-50" kern="0" dirty="0">
                <a:solidFill>
                  <a:schemeClr val="tx2"/>
                </a:solidFill>
              </a:rPr>
              <a:t>План на полгода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15975" y="1504057"/>
            <a:ext cx="3414216" cy="2529284"/>
          </a:xfrm>
          <a:prstGeom prst="roundRect">
            <a:avLst>
              <a:gd name="adj" fmla="val 6025"/>
            </a:avLst>
          </a:prstGeom>
          <a:solidFill>
            <a:schemeClr val="bg2"/>
          </a:solidFill>
          <a:ln w="6350">
            <a:solidFill>
              <a:srgbClr val="E2D7C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22350" y="1634232"/>
            <a:ext cx="30915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400" b="1" dirty="0">
                <a:solidFill>
                  <a:schemeClr val="tx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Месяц 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22350" y="1900932"/>
            <a:ext cx="309151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00" b="1" dirty="0">
                <a:solidFill>
                  <a:schemeClr val="accent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Оценка идеи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22350" y="2159298"/>
            <a:ext cx="3001466" cy="0"/>
          </a:xfrm>
          <a:prstGeom prst="line">
            <a:avLst/>
          </a:prstGeom>
          <a:noFill/>
          <a:ln w="6350">
            <a:solidFill>
              <a:srgbClr val="E2D7C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22350" y="2194223"/>
            <a:ext cx="309151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00" dirty="0">
                <a:solidFill>
                  <a:schemeClr val="tx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20 проблемных интервью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22350" y="2452588"/>
            <a:ext cx="3001466" cy="0"/>
          </a:xfrm>
          <a:prstGeom prst="line">
            <a:avLst/>
          </a:prstGeom>
          <a:noFill/>
          <a:ln w="6350">
            <a:solidFill>
              <a:srgbClr val="E2D7C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22350" y="2487513"/>
            <a:ext cx="309151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00" dirty="0">
                <a:solidFill>
                  <a:schemeClr val="tx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Оборудование у 15 владельцев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22350" y="2745879"/>
            <a:ext cx="3001466" cy="0"/>
          </a:xfrm>
          <a:prstGeom prst="line">
            <a:avLst/>
          </a:prstGeom>
          <a:noFill/>
          <a:ln w="6350">
            <a:solidFill>
              <a:srgbClr val="E2D7C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22350" y="2780804"/>
            <a:ext cx="309151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00" dirty="0">
                <a:solidFill>
                  <a:schemeClr val="tx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Анализ предложений конкурентов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22350" y="3039170"/>
            <a:ext cx="3001466" cy="0"/>
          </a:xfrm>
          <a:prstGeom prst="line">
            <a:avLst/>
          </a:prstGeom>
          <a:noFill/>
          <a:ln w="6350">
            <a:solidFill>
              <a:srgbClr val="E2D7C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22350" y="3074095"/>
            <a:ext cx="309151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00" dirty="0">
                <a:solidFill>
                  <a:schemeClr val="tx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Предварительная экономика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22350" y="3332460"/>
            <a:ext cx="3001466" cy="0"/>
          </a:xfrm>
          <a:prstGeom prst="line">
            <a:avLst/>
          </a:prstGeom>
          <a:noFill/>
          <a:ln w="6350">
            <a:solidFill>
              <a:srgbClr val="E2D7C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22350" y="3367385"/>
            <a:ext cx="309151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00" dirty="0">
                <a:solidFill>
                  <a:schemeClr val="tx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Требования к MVP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22350" y="3625751"/>
            <a:ext cx="3001466" cy="0"/>
          </a:xfrm>
          <a:prstGeom prst="line">
            <a:avLst/>
          </a:prstGeom>
          <a:noFill/>
          <a:ln w="6350">
            <a:solidFill>
              <a:srgbClr val="E2D7C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22350" y="3660676"/>
            <a:ext cx="309151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00" dirty="0">
                <a:solidFill>
                  <a:schemeClr val="tx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Поиск технической экспертизы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88941" y="1504057"/>
            <a:ext cx="3414216" cy="2529284"/>
          </a:xfrm>
          <a:prstGeom prst="roundRect">
            <a:avLst>
              <a:gd name="adj" fmla="val 6025"/>
            </a:avLst>
          </a:prstGeom>
          <a:solidFill>
            <a:schemeClr val="bg2"/>
          </a:solidFill>
          <a:ln w="6350">
            <a:solidFill>
              <a:srgbClr val="E2D7C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95316" y="1634232"/>
            <a:ext cx="30915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400" b="1" dirty="0">
                <a:solidFill>
                  <a:schemeClr val="tx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Месяцы 2–3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595316" y="1900932"/>
            <a:ext cx="309151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00" b="1" dirty="0">
                <a:solidFill>
                  <a:schemeClr val="accent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Проверка возможности пилота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95316" y="2159298"/>
            <a:ext cx="3001466" cy="0"/>
          </a:xfrm>
          <a:prstGeom prst="line">
            <a:avLst/>
          </a:prstGeom>
          <a:noFill/>
          <a:ln w="6350">
            <a:solidFill>
              <a:srgbClr val="E2D7C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95316" y="2194223"/>
            <a:ext cx="309151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00" dirty="0">
                <a:solidFill>
                  <a:schemeClr val="tx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Выбор первой целевой задачи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95316" y="2452588"/>
            <a:ext cx="3001466" cy="0"/>
          </a:xfrm>
          <a:prstGeom prst="line">
            <a:avLst/>
          </a:prstGeom>
          <a:noFill/>
          <a:ln w="6350">
            <a:solidFill>
              <a:srgbClr val="E2D7C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95316" y="2487513"/>
            <a:ext cx="309151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00" dirty="0">
                <a:solidFill>
                  <a:schemeClr val="tx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Простой технический прототип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95316" y="2745879"/>
            <a:ext cx="3001466" cy="0"/>
          </a:xfrm>
          <a:prstGeom prst="line">
            <a:avLst/>
          </a:prstGeom>
          <a:noFill/>
          <a:ln w="6350">
            <a:solidFill>
              <a:srgbClr val="E2D7C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95316" y="2780804"/>
            <a:ext cx="309151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00" dirty="0">
                <a:solidFill>
                  <a:schemeClr val="tx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Тест нескольких видеокарт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95316" y="3039170"/>
            <a:ext cx="3001466" cy="0"/>
          </a:xfrm>
          <a:prstGeom prst="line">
            <a:avLst/>
          </a:prstGeom>
          <a:noFill/>
          <a:ln w="6350">
            <a:solidFill>
              <a:srgbClr val="E2D7C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595316" y="3074095"/>
            <a:ext cx="309151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00" dirty="0">
                <a:solidFill>
                  <a:schemeClr val="tx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Работоспособность и стоимость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95316" y="3332460"/>
            <a:ext cx="3001466" cy="0"/>
          </a:xfrm>
          <a:prstGeom prst="line">
            <a:avLst/>
          </a:prstGeom>
          <a:noFill/>
          <a:ln w="6350">
            <a:solidFill>
              <a:srgbClr val="E2D7C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595316" y="3367385"/>
            <a:ext cx="309151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00" dirty="0">
                <a:solidFill>
                  <a:schemeClr val="tx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Поиск пилотных клиентов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95316" y="3625751"/>
            <a:ext cx="3001466" cy="0"/>
          </a:xfrm>
          <a:prstGeom prst="line">
            <a:avLst/>
          </a:prstGeom>
          <a:noFill/>
          <a:ln w="6350">
            <a:solidFill>
              <a:srgbClr val="E2D7C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595316" y="3660676"/>
            <a:ext cx="309151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00" b="1" dirty="0">
                <a:solidFill>
                  <a:schemeClr val="accent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Желательно: первые оплаты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961908" y="1504057"/>
            <a:ext cx="3414216" cy="2529284"/>
          </a:xfrm>
          <a:prstGeom prst="roundRect">
            <a:avLst>
              <a:gd name="adj" fmla="val 6025"/>
            </a:avLst>
          </a:prstGeom>
          <a:solidFill>
            <a:schemeClr val="bg2"/>
          </a:solidFill>
          <a:ln w="6350">
            <a:solidFill>
              <a:srgbClr val="E2D7C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168283" y="1634232"/>
            <a:ext cx="30915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400" b="1" dirty="0">
                <a:solidFill>
                  <a:schemeClr val="tx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Месяцы 4–6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8168283" y="1900932"/>
            <a:ext cx="309151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00" b="1" dirty="0">
                <a:solidFill>
                  <a:schemeClr val="accent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Развитие по результатам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168283" y="2159298"/>
            <a:ext cx="3001466" cy="0"/>
          </a:xfrm>
          <a:prstGeom prst="line">
            <a:avLst/>
          </a:prstGeom>
          <a:noFill/>
          <a:ln w="6350">
            <a:solidFill>
              <a:srgbClr val="E2D7C5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168283" y="2194223"/>
            <a:ext cx="309151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00" dirty="0">
                <a:solidFill>
                  <a:schemeClr val="tx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Улучшение прототипа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168283" y="2452588"/>
            <a:ext cx="3001466" cy="0"/>
          </a:xfrm>
          <a:prstGeom prst="line">
            <a:avLst/>
          </a:prstGeom>
          <a:noFill/>
          <a:ln w="6350">
            <a:solidFill>
              <a:srgbClr val="E2D7C5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168283" y="2487513"/>
            <a:ext cx="309151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00" dirty="0">
                <a:solidFill>
                  <a:schemeClr val="tx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Дополнительные испытания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168283" y="2745879"/>
            <a:ext cx="3001466" cy="0"/>
          </a:xfrm>
          <a:prstGeom prst="line">
            <a:avLst/>
          </a:prstGeom>
          <a:noFill/>
          <a:ln w="6350">
            <a:solidFill>
              <a:srgbClr val="E2D7C5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168283" y="2780804"/>
            <a:ext cx="309151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00" dirty="0">
                <a:solidFill>
                  <a:schemeClr val="tx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Проверка платёжеспособного спроса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168283" y="3039170"/>
            <a:ext cx="3001466" cy="0"/>
          </a:xfrm>
          <a:prstGeom prst="line">
            <a:avLst/>
          </a:prstGeom>
          <a:noFill/>
          <a:ln w="6350">
            <a:solidFill>
              <a:srgbClr val="E2D7C5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168283" y="3074095"/>
            <a:ext cx="309151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00" dirty="0">
                <a:solidFill>
                  <a:schemeClr val="tx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Корректировка экономики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8168283" y="3332460"/>
            <a:ext cx="3001466" cy="0"/>
          </a:xfrm>
          <a:prstGeom prst="line">
            <a:avLst/>
          </a:prstGeom>
          <a:noFill/>
          <a:ln w="6350">
            <a:solidFill>
              <a:srgbClr val="E2D7C5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168283" y="3386435"/>
            <a:ext cx="3091510" cy="407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ru-RU" altLang="en-US" sz="1200" b="1" dirty="0">
                <a:solidFill>
                  <a:schemeClr val="accent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Решение: развивать, сменить </a:t>
            </a:r>
            <a:br/>
            <a:pPr algn="l" indent="0" marL="0">
              <a:lnSpc>
                <a:spcPts val="1560"/>
              </a:lnSpc>
              <a:buNone/>
            </a:pPr>
            <a:r>
              <a:rPr lang="ru-RU" altLang="en-US" sz="1200" b="1" dirty="0">
                <a:solidFill>
                  <a:schemeClr val="accent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направление или остановиться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812800" y="4333478"/>
            <a:ext cx="10566400" cy="1711722"/>
          </a:xfrm>
          <a:prstGeom prst="roundRect">
            <a:avLst>
              <a:gd name="adj" fmla="val 8903"/>
            </a:avLst>
          </a:prstGeom>
          <a:solidFill>
            <a:schemeClr val="tx1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1066800" y="4447778"/>
            <a:ext cx="274701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2400" spc="-50" kern="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0,1–0,7 млн ₽</a:t>
            </a:r>
            <a:endParaRPr lang="en-US" sz="2400" dirty="0"/>
          </a:p>
        </p:txBody>
      </p:sp>
      <p:sp>
        <p:nvSpPr>
          <p:cNvPr id="48" name="Text 46"/>
          <p:cNvSpPr txBox="1"/>
          <p:nvPr/>
        </p:nvSpPr>
        <p:spPr>
          <a:xfrm>
            <a:off x="1066800" y="4871938"/>
            <a:ext cx="2747010" cy="620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ru-RU" altLang="en-US" sz="1200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на три месяца, предварительно: </a:t>
            </a:r>
            <a:br/>
            <a:pPr algn="l" indent="0" marL="0">
              <a:lnSpc>
                <a:spcPts val="1620"/>
              </a:lnSpc>
              <a:buNone/>
            </a:pPr>
            <a:r>
              <a:rPr lang="ru-RU" altLang="en-US" sz="1200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зависит от объёма разработки и </a:t>
            </a:r>
            <a:br/>
            <a:pPr algn="l" indent="0" marL="0">
              <a:lnSpc>
                <a:spcPts val="1620"/>
              </a:lnSpc>
              <a:buNone/>
            </a:pPr>
            <a:r>
              <a:rPr lang="ru-RU" altLang="en-US" sz="1200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привлечения специалистов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3987800" y="4489053"/>
            <a:ext cx="3441700" cy="0"/>
          </a:xfrm>
          <a:prstGeom prst="line">
            <a:avLst/>
          </a:prstGeom>
          <a:noFill/>
          <a:ln w="6350">
            <a:solidFill>
              <a:schemeClr val="accent4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3987800" y="4523978"/>
            <a:ext cx="1873444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00" dirty="0">
                <a:solidFill>
                  <a:schemeClr val="accent5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Технический специалист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6605687" y="4523978"/>
            <a:ext cx="874613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0–450 тыс.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3987800" y="4795044"/>
            <a:ext cx="3441700" cy="0"/>
          </a:xfrm>
          <a:prstGeom prst="line">
            <a:avLst/>
          </a:prstGeom>
          <a:noFill/>
          <a:ln w="6350">
            <a:solidFill>
              <a:schemeClr val="accent4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3987800" y="4829969"/>
            <a:ext cx="527149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00" dirty="0">
                <a:solidFill>
                  <a:schemeClr val="accent5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Юрист</a:t>
            </a:r>
            <a:endParaRPr lang="en-US" sz="1200" dirty="0"/>
          </a:p>
        </p:txBody>
      </p:sp>
      <p:sp>
        <p:nvSpPr>
          <p:cNvPr id="54" name="Text 52"/>
          <p:cNvSpPr txBox="1"/>
          <p:nvPr/>
        </p:nvSpPr>
        <p:spPr>
          <a:xfrm>
            <a:off x="6622256" y="4829969"/>
            <a:ext cx="858044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0–100 тыс.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3987800" y="5101034"/>
            <a:ext cx="3441700" cy="0"/>
          </a:xfrm>
          <a:prstGeom prst="line">
            <a:avLst/>
          </a:prstGeom>
          <a:noFill/>
          <a:ln w="6350">
            <a:solidFill>
              <a:schemeClr val="accent4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3987800" y="5135959"/>
            <a:ext cx="1926177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00" dirty="0">
                <a:solidFill>
                  <a:schemeClr val="accent5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Испытания оборудования</a:t>
            </a:r>
            <a:endParaRPr lang="en-US" sz="1200" dirty="0"/>
          </a:p>
        </p:txBody>
      </p:sp>
      <p:sp>
        <p:nvSpPr>
          <p:cNvPr id="57" name="Text 55"/>
          <p:cNvSpPr txBox="1"/>
          <p:nvPr/>
        </p:nvSpPr>
        <p:spPr>
          <a:xfrm>
            <a:off x="6608465" y="5135959"/>
            <a:ext cx="871835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20–50 тыс.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3987800" y="5407025"/>
            <a:ext cx="3441700" cy="0"/>
          </a:xfrm>
          <a:prstGeom prst="line">
            <a:avLst/>
          </a:prstGeom>
          <a:noFill/>
          <a:ln w="6350">
            <a:solidFill>
              <a:schemeClr val="accent4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3987800" y="5441950"/>
            <a:ext cx="241845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00" dirty="0">
                <a:solidFill>
                  <a:schemeClr val="accent5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Серверы, сервисы, регистрация</a:t>
            </a:r>
            <a:endParaRPr lang="en-US" sz="1200" dirty="0"/>
          </a:p>
        </p:txBody>
      </p:sp>
      <p:sp>
        <p:nvSpPr>
          <p:cNvPr id="60" name="Text 58"/>
          <p:cNvSpPr txBox="1"/>
          <p:nvPr/>
        </p:nvSpPr>
        <p:spPr>
          <a:xfrm>
            <a:off x="6528891" y="5441950"/>
            <a:ext cx="951409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80–100 тыс.</a:t>
            </a:r>
            <a:endParaRPr lang="en-US" sz="1200" dirty="0"/>
          </a:p>
        </p:txBody>
      </p:sp>
      <p:sp>
        <p:nvSpPr>
          <p:cNvPr id="61" name="Text 59"/>
          <p:cNvSpPr txBox="1"/>
          <p:nvPr/>
        </p:nvSpPr>
        <p:spPr>
          <a:xfrm>
            <a:off x="7683500" y="4485878"/>
            <a:ext cx="3544951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ru-RU" altLang="en-US" sz="1200" b="1" dirty="0">
                <a:solidFill>
                  <a:schemeClr val="accent5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Сами:</a:t>
            </a:r>
            <a:pPr algn="l" indent="0" marL="0">
              <a:lnSpc>
                <a:spcPts val="1680"/>
              </a:lnSpc>
              <a:buNone/>
            </a:pPr>
            <a:r>
              <a:rPr lang="ru-RU" altLang="en-US" sz="1200" dirty="0">
                <a:solidFill>
                  <a:schemeClr val="accent5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 интервью, изучение оборудования, </a:t>
            </a:r>
            <a:br/>
            <a:pPr algn="l" indent="0" marL="0">
              <a:lnSpc>
                <a:spcPts val="1680"/>
              </a:lnSpc>
              <a:buNone/>
            </a:pPr>
            <a:r>
              <a:rPr lang="ru-RU" altLang="en-US" sz="1200" dirty="0">
                <a:solidFill>
                  <a:schemeClr val="accent5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анализ цен, финмодель</a:t>
            </a:r>
            <a:endParaRPr lang="en-US" sz="1200" dirty="0"/>
          </a:p>
        </p:txBody>
      </p:sp>
      <p:sp>
        <p:nvSpPr>
          <p:cNvPr id="62" name="Text 60"/>
          <p:cNvSpPr txBox="1"/>
          <p:nvPr/>
        </p:nvSpPr>
        <p:spPr>
          <a:xfrm>
            <a:off x="7683500" y="4976019"/>
            <a:ext cx="3544951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ru-RU" altLang="en-US" sz="1200" b="1" dirty="0">
                <a:solidFill>
                  <a:schemeClr val="accent5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Внешние специалисты:</a:t>
            </a:r>
            <a:pPr algn="l" indent="0" marL="0">
              <a:lnSpc>
                <a:spcPts val="1680"/>
              </a:lnSpc>
              <a:buNone/>
            </a:pPr>
            <a:r>
              <a:rPr lang="ru-RU" altLang="en-US" sz="1200" dirty="0">
                <a:solidFill>
                  <a:schemeClr val="accent5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 прототип, </a:t>
            </a:r>
            <a:br/>
            <a:pPr algn="l" indent="0" marL="0">
              <a:lnSpc>
                <a:spcPts val="1680"/>
              </a:lnSpc>
              <a:buNone/>
            </a:pPr>
            <a:r>
              <a:rPr lang="ru-RU" altLang="en-US" sz="1200" dirty="0">
                <a:solidFill>
                  <a:schemeClr val="accent5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юридическая оценка</a:t>
            </a:r>
            <a:endParaRPr lang="en-US" sz="1200" dirty="0"/>
          </a:p>
        </p:txBody>
      </p:sp>
      <p:sp>
        <p:nvSpPr>
          <p:cNvPr id="63" name="Text 61"/>
          <p:cNvSpPr txBox="1"/>
          <p:nvPr/>
        </p:nvSpPr>
        <p:spPr>
          <a:xfrm>
            <a:off x="7683500" y="5466159"/>
            <a:ext cx="3544951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ru-RU" altLang="en-US" sz="1200" b="1" dirty="0">
                <a:solidFill>
                  <a:schemeClr val="accent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Грант «Студенческий стартап» — возможный </a:t>
            </a:r>
            <a:br/>
            <a:pPr algn="l" indent="0" marL="0">
              <a:lnSpc>
                <a:spcPts val="1680"/>
              </a:lnSpc>
              <a:buNone/>
            </a:pPr>
            <a:r>
              <a:rPr lang="ru-RU" altLang="en-US" sz="1200" b="1" dirty="0">
                <a:solidFill>
                  <a:schemeClr val="accent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источник, не гарантирован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2800" y="768350"/>
            <a:ext cx="108204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2800" spc="-50" kern="0" dirty="0">
                <a:solidFill>
                  <a:schemeClr val="bg1"/>
                </a:solidFill>
              </a:rPr>
              <a:t>Команда и запрос к преакселератору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15975" y="1435695"/>
            <a:ext cx="4946650" cy="1776115"/>
          </a:xfrm>
          <a:prstGeom prst="roundRect">
            <a:avLst>
              <a:gd name="adj" fmla="val 10011"/>
            </a:avLst>
          </a:prstGeom>
          <a:solidFill>
            <a:schemeClr val="accent3"/>
          </a:solidFill>
          <a:ln w="6350">
            <a:solidFill>
              <a:schemeClr val="accent4"/>
            </a:solidFill>
            <a:prstDash val="solid"/>
          </a:ln>
        </p:spPr>
      </p:sp>
      <p:pic>
        <p:nvPicPr>
          <p:cNvPr id="4" name="Image 0" descr="Ячейка сот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750" y="1968103"/>
            <a:ext cx="711200" cy="711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22350" y="1953498"/>
            <a:ext cx="762000" cy="734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altLang="en-US" sz="1800" b="1" dirty="0">
                <a:solidFill>
                  <a:schemeClr val="tx2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ТН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936750" y="1651397"/>
            <a:ext cx="3701923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800" spc="-50" kern="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Тимур Новиков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936750" y="1971377"/>
            <a:ext cx="3701923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00" b="1" dirty="0">
                <a:solidFill>
                  <a:schemeClr val="accent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Продакт-менеджер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936750" y="2277368"/>
            <a:ext cx="3701923" cy="693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ru-RU" altLang="en-US" sz="1300" dirty="0">
                <a:solidFill>
                  <a:schemeClr val="accent5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Отвечает за продукт и проверку технических </a:t>
            </a:r>
            <a:br/>
            <a:pPr algn="l" indent="0" marL="0">
              <a:lnSpc>
                <a:spcPts val="1820"/>
              </a:lnSpc>
              <a:buNone/>
            </a:pPr>
            <a:r>
              <a:rPr lang="ru-RU" altLang="en-US" sz="1300" dirty="0">
                <a:solidFill>
                  <a:schemeClr val="accent5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гипотез: модель сервиса, цена часа, </a:t>
            </a:r>
            <a:br/>
            <a:pPr algn="l" indent="0" marL="0">
              <a:lnSpc>
                <a:spcPts val="1820"/>
              </a:lnSpc>
              <a:buNone/>
            </a:pPr>
            <a:r>
              <a:rPr lang="ru-RU" altLang="en-US" sz="1300" dirty="0">
                <a:solidFill>
                  <a:schemeClr val="accent5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требования к оборудованию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15975" y="3370560"/>
            <a:ext cx="4946650" cy="1776115"/>
          </a:xfrm>
          <a:prstGeom prst="roundRect">
            <a:avLst>
              <a:gd name="adj" fmla="val 10011"/>
            </a:avLst>
          </a:prstGeom>
          <a:solidFill>
            <a:schemeClr val="accent3"/>
          </a:solidFill>
          <a:ln w="6350">
            <a:solidFill>
              <a:schemeClr val="accent4"/>
            </a:solidFill>
            <a:prstDash val="solid"/>
          </a:ln>
        </p:spPr>
      </p:sp>
      <p:pic>
        <p:nvPicPr>
          <p:cNvPr id="10" name="Image 1" descr="Ячейка сот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" y="3902968"/>
            <a:ext cx="711200" cy="711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022350" y="3888363"/>
            <a:ext cx="762000" cy="734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altLang="en-US" sz="1800" b="1" dirty="0">
                <a:solidFill>
                  <a:schemeClr val="tx2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ИК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1936750" y="3586262"/>
            <a:ext cx="3701923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800" spc="-50" kern="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Игорь Кузьмин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1936750" y="3906242"/>
            <a:ext cx="3701923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00" b="1" dirty="0">
                <a:solidFill>
                  <a:schemeClr val="accent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Менеджер по продажам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1936750" y="4212233"/>
            <a:ext cx="3701923" cy="693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ru-RU" altLang="en-US" sz="1300" dirty="0">
                <a:solidFill>
                  <a:schemeClr val="accent5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Отвечает за проверку спроса: проблемные </a:t>
            </a:r>
            <a:br/>
            <a:pPr algn="l" indent="0" marL="0">
              <a:lnSpc>
                <a:spcPts val="1820"/>
              </a:lnSpc>
              <a:buNone/>
            </a:pPr>
            <a:r>
              <a:rPr lang="ru-RU" altLang="en-US" sz="1300" dirty="0">
                <a:solidFill>
                  <a:schemeClr val="accent5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интервью и поиск потенциальных пилотных </a:t>
            </a:r>
            <a:br/>
            <a:pPr algn="l" indent="0" marL="0">
              <a:lnSpc>
                <a:spcPts val="1820"/>
              </a:lnSpc>
              <a:buNone/>
            </a:pPr>
            <a:r>
              <a:rPr lang="ru-RU" altLang="en-US" sz="1300" dirty="0">
                <a:solidFill>
                  <a:schemeClr val="accent5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клиентов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918200" y="1432520"/>
            <a:ext cx="5461000" cy="3717330"/>
          </a:xfrm>
          <a:prstGeom prst="roundRect">
            <a:avLst>
              <a:gd name="adj" fmla="val 4783"/>
            </a:avLst>
          </a:prstGeom>
          <a:solidFill>
            <a:schemeClr val="accent1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6172200" y="1661120"/>
            <a:ext cx="5101590" cy="514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5"/>
              </a:lnSpc>
              <a:buNone/>
            </a:pPr>
            <a:r>
              <a:rPr lang="ru-RU" altLang="en-US" sz="17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Чем может помочь </a:t>
            </a:r>
            <a:br/>
            <a:pPr algn="l" indent="0" marL="0">
              <a:lnSpc>
                <a:spcPts val="1955"/>
              </a:lnSpc>
              <a:buNone/>
            </a:pPr>
            <a:r>
              <a:rPr lang="ru-RU" altLang="en-US" sz="17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преакселератор</a:t>
            </a:r>
            <a:endParaRPr lang="en-US" sz="1700" dirty="0"/>
          </a:p>
        </p:txBody>
      </p:sp>
      <p:sp>
        <p:nvSpPr>
          <p:cNvPr id="17" name="Shape 13"/>
          <p:cNvSpPr/>
          <p:nvPr/>
        </p:nvSpPr>
        <p:spPr>
          <a:xfrm>
            <a:off x="6172200" y="2236986"/>
            <a:ext cx="4953000" cy="0"/>
          </a:xfrm>
          <a:prstGeom prst="line">
            <a:avLst/>
          </a:prstGeom>
          <a:noFill/>
          <a:ln w="6350">
            <a:solidFill>
              <a:srgbClr val="C9861E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172200" y="2290961"/>
            <a:ext cx="510159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300" dirty="0">
                <a:solidFill>
                  <a:schemeClr val="tx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Экспертная оценка жизнеспособности идеи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6172200" y="2612231"/>
            <a:ext cx="4953000" cy="0"/>
          </a:xfrm>
          <a:prstGeom prst="line">
            <a:avLst/>
          </a:prstGeom>
          <a:noFill/>
          <a:ln w="6350">
            <a:solidFill>
              <a:srgbClr val="C9861E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6172200" y="2666206"/>
            <a:ext cx="510159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300" dirty="0">
                <a:solidFill>
                  <a:schemeClr val="tx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Проверка клиентских гипотез и поиск целевой аудитории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6172200" y="2987477"/>
            <a:ext cx="4953000" cy="0"/>
          </a:xfrm>
          <a:prstGeom prst="line">
            <a:avLst/>
          </a:prstGeom>
          <a:noFill/>
          <a:ln w="6350">
            <a:solidFill>
              <a:srgbClr val="C9861E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172200" y="3041452"/>
            <a:ext cx="510159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300" dirty="0">
                <a:solidFill>
                  <a:schemeClr val="tx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Техническая экспертиза: можно ли создать платформу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6172200" y="3362722"/>
            <a:ext cx="4953000" cy="0"/>
          </a:xfrm>
          <a:prstGeom prst="line">
            <a:avLst/>
          </a:prstGeom>
          <a:noFill/>
          <a:ln w="6350">
            <a:solidFill>
              <a:srgbClr val="C9861E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6172200" y="3416697"/>
            <a:ext cx="510159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300" dirty="0">
                <a:solidFill>
                  <a:schemeClr val="tx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Наставники и потенциальные технические партнёры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6172200" y="3737967"/>
            <a:ext cx="4953000" cy="0"/>
          </a:xfrm>
          <a:prstGeom prst="line">
            <a:avLst/>
          </a:prstGeom>
          <a:noFill/>
          <a:ln w="6350">
            <a:solidFill>
              <a:srgbClr val="C9861E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6172200" y="3791942"/>
            <a:ext cx="510159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300" dirty="0">
                <a:solidFill>
                  <a:schemeClr val="tx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Помощь с финансовой моделью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6172200" y="4113213"/>
            <a:ext cx="4953000" cy="0"/>
          </a:xfrm>
          <a:prstGeom prst="line">
            <a:avLst/>
          </a:prstGeom>
          <a:noFill/>
          <a:ln w="6350">
            <a:solidFill>
              <a:srgbClr val="C9861E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6172200" y="4167188"/>
            <a:ext cx="510159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300" dirty="0">
                <a:solidFill>
                  <a:schemeClr val="tx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Юридическая оценка проекта</a:t>
            </a:r>
            <a:endParaRPr lang="en-US" sz="1300" dirty="0"/>
          </a:p>
        </p:txBody>
      </p:sp>
      <p:sp>
        <p:nvSpPr>
          <p:cNvPr id="29" name="Text 25"/>
          <p:cNvSpPr txBox="1"/>
          <p:nvPr/>
        </p:nvSpPr>
        <p:spPr>
          <a:xfrm>
            <a:off x="812800" y="5378450"/>
            <a:ext cx="107188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ru-RU" altLang="en-US" sz="14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Мы хотим использовать преакселератор, чтобы проверить спрос, экономику и </a:t>
            </a:r>
            <a:br/>
            <a:pPr algn="l" indent="0" marL="0">
              <a:lnSpc>
                <a:spcPts val="1750"/>
              </a:lnSpc>
              <a:buNone/>
            </a:pPr>
            <a:r>
              <a:rPr lang="ru-RU" altLang="en-US" sz="14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техническую реализуемость «Улья» — и на основе результатов решить, стоит ли развивать </a:t>
            </a:r>
            <a:br/>
            <a:pPr algn="l" indent="0" marL="0">
              <a:lnSpc>
                <a:spcPts val="1750"/>
              </a:lnSpc>
              <a:buNone/>
            </a:pPr>
            <a:r>
              <a:rPr lang="ru-RU" altLang="en-US" sz="14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проект дальше.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Улей">
  <a:themeElements>
    <a:clrScheme name="Улей">
      <a:dk1>
        <a:srgbClr val="14110D"/>
      </a:dk1>
      <a:lt1>
        <a:srgbClr val="F5EFE4"/>
      </a:lt1>
      <a:dk2>
        <a:srgbClr val="1A1611"/>
      </a:dk2>
      <a:lt2>
        <a:srgbClr val="FBF7EF"/>
      </a:lt2>
      <a:accent1>
        <a:srgbClr val="F0A531"/>
      </a:accent1>
      <a:accent2>
        <a:srgbClr val="8A5207"/>
      </a:accent2>
      <a:accent3>
        <a:srgbClr val="1E1913"/>
      </a:accent3>
      <a:accent4>
        <a:srgbClr val="3A3228"/>
      </a:accent4>
      <a:accent5>
        <a:srgbClr val="BFB4A1"/>
      </a:accent5>
      <a:accent6>
        <a:srgbClr val="5A5044"/>
      </a:accent6>
      <a:hlink>
        <a:srgbClr val="8A5207"/>
      </a:hlink>
      <a:folHlink>
        <a:srgbClr val="7A6E5F"/>
      </a:folHlink>
    </a:clrScheme>
    <a:fontScheme name="Улей">
      <a:majorFont>
        <a:latin typeface="Unbounded Semi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nrop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Улей — презентация для преакселератора ВШМ СПбГУ</dc:title>
  <dc:subject>PptxGenJS Presentation</dc:subject>
  <dc:creator>Команда «Улей»</dc:creator>
  <cp:lastModifiedBy>Команда «Улей»</cp:lastModifiedBy>
  <cp:revision>1</cp:revision>
  <dcterms:created xsi:type="dcterms:W3CDTF">2026-10-16T10:42:02Z</dcterms:created>
  <dcterms:modified xsi:type="dcterms:W3CDTF">2026-10-16T10:42:02Z</dcterms:modified>
</cp:coreProperties>
</file>