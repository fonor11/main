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ложка" id="{96170764-bae3-f99e-3fb7-f01198326fcd}">
          <p14:sldIdLst>
            <p14:sldId id="256"/>
          </p14:sldIdLst>
        </p14:section>
        <p14:section name="Проблема и решение" id="{4e8bf2c2-077f-c35d-742c-1209220c4038}">
          <p14:sldIdLst>
            <p14:sldId id="257"/>
            <p14:sldId id="258"/>
            <p14:sldId id="259"/>
          </p14:sldIdLst>
        </p14:section>
        <p14:section name="Клиенты и рынок" id="{a011f3f0-4751-078d-fe05-80796da333e2}">
          <p14:sldIdLst>
            <p14:sldId id="260"/>
            <p14:sldId id="261"/>
            <p14:sldId id="262"/>
          </p14:sldIdLst>
        </p14:section>
        <p14:section name="Экономика и риски" id="{340bb762-18c8-deca-a147-ac6572e05697}">
          <p14:sldIdLst>
            <p14:sldId id="263"/>
            <p14:sldId id="264"/>
          </p14:sldIdLst>
        </p14:section>
        <p14:section name="План и команда" id="{203ef852-f951-9f3a-5836-f3719006b1c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— платформа, которая объединяет простаивающие видеокарты майнинговых ферм и мощных домашних компьютеров в сеть и предлагает их вычислительную мощность тем, кому она нужна: небольшим ML-командам, лабораториям и AI-стартапам. Проект на стадии идеи: у нас есть гипотеза, расчётная экономика и план проверки, а в преакселераторе мы хотим проверить спрос, экономику и техническую реализуемость.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одной стороны, вычислительная мощность имеет понятную рыночную цену. Час аренды игровой видеокарты RTX 3090 в облаке Immers.cloud стоит от 63 до 71 рубля в зависимости от конфигурации процессора и памяти: например, 63,15 рубля с 4 vCPU и 8 ГБ памяти, 66,76 рубля с 8 vCPU и 16 ГБ. Круглосуточная аренда такой карты обходится примерно в 45–50 тысяч рублей в месяц. У других провайдеров и на распределённых площадках бывает дешевле — это разберём на слайде с конкурентами. С другой стороны, есть уже купленное оборудование, которое загружено не полностью. В 2022 году Ethereum, крупнейшая монета для майнинга на видеокартах, перешёл на другой механизм и перестал использовать майнинг. С тех пор доход от майнинга на видеокартах зависит от модели карты, тарифа на электричество и курса монет, и для части владельцев он невысок. Мы не утверждаем, что майнинг убыточен для всех; наша гипотеза в том, что часть ферм и игровых ПК можно загрузить полезной работой.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— это аренда мощности чужих видеокарт по часам. Владелец фермы или мощного компьютера предоставляет свободную мощность своей видеокарты. Улей подключает оборудование, подбирает подходящую карту под запрос клиента и учитывает часы работы. Клиент — небольшая ML-команда или лаборатория — платит за использованные часы: в нашей модели 40 рублей за час. Владелец получает 20 рублей за каждый оплаченный час, остальное — доля Улья. На схеме янтарные стрелки — это мощность, которая идёт от владельцев к клиентам, а светлые — деньги, которые идут обратно. Первый шаг — не большая сеть, а несколько видеокарт для первых клиентов, чтобы проверить, как это работает на практике. Автоматический запуск задач, перезапуск при сбое и контроль выполнения — возможные функции MVP, их техническую реализуемость ещё нужно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выглядит для клиента. Первое: команда запрашивает видеокарту с нужным объёмом памяти на нужное число часов. Второе: Улей подбирает свободную подходящую карту у владельца. Третье: команда запускает на ней свою задачу, а Улей учитывает часы работы. Четвёртое: команда платит за часы, владелец получает вознаграждение, Улей — свою долю. Расчётный сценарий, а не коммерческое предложение: лаборатории нужно обработать большой набор изображений готовой моделью, это около ста часов работы карты с 24 гигабайтами памяти. Данные делятся на части, поэтому если работу прервали, часть можно запустить заново. По нашей целевой цене это четыре тысячи рублей, но 40 рублей за час — цель, пилотом она не подтверждена. В облаке Immers.cloud RTX 3090 стоит 63–71 рубль за час, то есть 6300–7100 рублей за такую задачу, и в эту цену входят процессор, память, диск и гарантии доступности дата-центра. Конфигурации не полностью сопоставимы: у Улья процессор, память и надёжность зависят от оборудования владельца. При этом распределённые площадки — Тераферма, Vast.ai, SaladCloud — уже предлагают RTX 3090 заметно дешевле 40 рублей за час. Поэтому экономию для любого клиента мы не обещаем: преимущество по цене предстоит проверить. На старте подходят задачи, которые можно разбить на части или повторить. Длительное обучение модели можно прерывать, только если сохраняется промежуточное состояние, — это проверим в пилоте. Срочные задачи и работу на нескольких картах сразу пока не берём.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гипотеза для пилота — аренда видеокарт небольшим ML-командам и лабораториям. Покупают ML-команды, лаборатории вузов и AI-стартапы. Для чего: эксперименты, обработка наборов данных, дообучение моделей. Почему могут выбрать Улей: наша цель — доступная цена часа для несрочных задач за счёт уже существующего оборудования. Чего мы пока не знаем: есть ли у владельцев карты с достаточной памятью — их ещё нужно найти. Есть два альтернативных применения той же сети: пакетная обработка аудио и видео и обработка изображений и документов. Это не запасной план, который сработает автоматически: их тоже нужно оценить по спросу, требованиям к оборудованию и стоимости выполнения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исследованию Apple Hills Digital и Selectel «Облачные сервисы для ИИ: серверы с GPU и AI/ML-платформы», представленному 8 октября 2026 года, потребление облачных серверов с видеокартами в публичном облаке в России в 2025 году составило 8,2 миллиарда рублей и выросло на 68,7% к 2024 году. По публикации RB.ru о том же исследовании, базовый прогноз — 36,5 миллиарда рублей к 2030 году; это прогноз исследователей, а не гарантированная величина. Важно: 8,2 миллиарда — это весь рынок, включая серверные ускорители, которые мы не предлагаем. Внутри него есть сегмент потребительских видеокарт уровня RTX 3090 и 4090, а наш потенциальный сегмент ещё уже — несрочные вычислительные задачи небольших команд. Его размер мы не знаем и определим по результатам анализа предложений конкурентов и интервью с потенциальными клиентами.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Сравниваем RTX 3090 с 24 гигабайтами памяти при почасовой аренде, но это не полностью взаимозаменяемые продукты. Российские GPU-облака, например Immers.cloud, берут 63–71 рубль за час, и в цену входят процессор, память, диск, дата-центр и гарантии доступности; у других облачных провайдеров встречаются цены ниже. Самый близкий к нам по модели российский игрок — Тераферма: она сдаёт в аренду видеокарты частных владельцев и предлагает владельцам сдать свою карту. На её страницах опубликованы цены RTX 3090 примерно от 22 до 31 рубля за час, но они расходятся между страницами и условиями оплаты, а наличие карт нужно проверять. Зарубежные площадки ещё дешевле: RunPod — 22 цента в Community Cloud и 50 центов в Secure Cloud, SaladCloud — от 9 до 17 центов в зависимости от приоритета, у Vast.ai цена зависит от хоста. Но расчёты там в долларах, российские карты обычно не проходят, а надёжность зависит от хоста и тарифа. Поэтому мы не называем Улей самым дешёвым или уникальным. Мы проверяем, можно ли создать конкурентоспособный российский сервис GPU-вычислений на базе простаивающего оборудования, с приоритетом на доступные мощности для небольших команд и несрочных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Экономика одной видеокарты — предварительный расчёт, а не достигнутый результат. Базовый сценарий: клиент платит 40 рублей за оплаченный час, 20 рублей получает владелец, 4,4 рубля — наши переменные расходы: налог по УСН «Доходы» 6%, то есть 2,4 рубля, и прочие расходы около двух рублей. Остаётся 15,6 рубля на постоянные расходы и прибыль. Электричество, а также процессор, память, накопитель и подключение к сети обеспечивает владелец, и эти затраты в два рубля не входят; электричество, по нашей оценке, стоит ему два-три рубля в час. Но базовый тариф — только один возможный сценарий. Конкуренты платят владельцам меньше: Тераферма публикует ставки около 11,8–13,6 рубля за оплаченный час RTX 3090 — это ориентир, а не подтверждённый доход владельцев. Поэтому мы считаем ещё два сценария: 35 рублей клиенту и 16 владельцу, и 30 рублей клиенту и 14 владельцу. Формула одна: цена умножить на 0,94, минус выплата владельцу, минус два рубля. Получается 15,6, 14,9 и 12,2 рубля маржинального дохода с часа. Это допущения: юридическая структура и налоговая модель ещё не определены, а при росте оборота может появиться НДС. Если карта на ферме доступна круглосуточно и оплачена половину времени, это 360 часов в месяц, и для 250 тысяч постоянных расходов нужно около 45, 47 или 57 карт. Домашний компьютер, доступный восемь часов в сутки, даёт втрое меньше часов, и карт понадобится втрое больше — около 134 в базовом сценарии. Но для бизнеса важнее не число карт, а объём продаж: в базовом сценарии нужно продать около 16 тысяч GPU-часов в месяц, это примерно 160 заказов по 100 часов. Такой спрос не подтверждён — его мы и проверяем. 250 тысяч рублей в месяц — условные постоянные расходы работающего сервиса на более зрелой стадии, а не бюджет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рисков, три ключевых выделены. Первый — техническая реализуемость: сможем ли мы дать клиенту стабильную вычислительную среду на чужом оборудовании. Проверяем на нескольких картах: как задача запускается, что происходит при сбое и можно ли её перезапустить. Второй — платёжеспособный спрос, и здесь важен объём продаж: даже если карт подключено достаточно, оплаченных часов может не хватить. Базовому сценарию нужно около 16 тысяч часов в месяц, поэтому в двадцати интервью выясняем не только интерес, но и сколько часов в месяц команда готова покупать и по какой цене. Третий — конкурентоспособная себестоимость и ценовая конкуренция: уже есть площадки, которые сдают RTX 3090 дешевле нашей целевой цены, а владелец может не согласиться на выплату, при которой Улей остаётся конкурентным. Это обсуждаем с пятнадцатью владельцами и считаем их затраты. Четвёртый — право и защита данных: изоляция задач снижает риск, но не гарантирует конфиденциальность, поэтому в пилоте используем тестовые и неконфиденциальные данные, а юридическую сторону проверяем отдельно. Пятый — подходящее оборудование: если у владельцев мало карт с нужной памятью, пересматриваем направление. Шестой — нет технического специалиста: без него мы не подтвердим технические гипотезы. Ищем специалиста или наставника через программу и профильные сообщества, но понимаем, что это не гарантировано.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на полгода построен как последовательная проверка. Первый месяц — оценка идеи: двадцать проблемных интервью с потенциальными клиентами, где выясняем не только интерес, но и сколько GPU-часов в месяц им нужно и какую цену часа они готовы платить; разговоры с пятнадцатью потенциальными владельцами — не только о модели видеокарты, но и о том, когда она доступна, во что обходится и на каких условиях её можно подключить, и какое минимальное вознаграждение их устроит. Плюс анализ предложений конкурентов, требования к будущему MVP и поиск технической экспертизы. Второй и третий месяцы — проверка возможности пилота, если у нас будут нужные ресурсы: выбираем первую целевую задачу, делаем простой технический прототип, тестируем несколько видеокарт, проверяем работоспособность и стоимость вычислений и ищем пилотных клиентов. Первые оплаченные задания — желательный, но не обязательный результат. Четвёртый–шестой месяцы — развитие по результатам: улучшаем прототип, проводим дополнительные испытания, проверяем платёжеспособный спрос и корректируем экономику. В конце принимаем решение: развивать проект, сменить направление или отказаться от гипотезы, если она нежизнеспособна. Бюджет на три месяца — предварительно от 100 до 700 тысяч рублей на проверку гипотез и ограниченный прототип; конкретные затраты зависят от объёма разработки и привлечения специалистов. Это не те 250 тысяч рублей в месяц, что на слайде с экономикой: там условные постоянные расходы работающего сервиса на более зрелой стадии. Выхода в ноль за три месяца мы не обещаем.Интервью, изучение оборудования, анализ цен и финмодель делаем сами; внешние специалисты нужны для прототипа и юридической оценки. Грант «Студенческий стартап» — возможный источник, получение не гарантировано.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Тимур Новиков — продакт-менеджер, отвечает за продукт и проверку технических гипотез: какой будет модель сервиса, цена часа и требования к оборудованию. Игорь Кузьмин — менеджер по продажам, отвечает за проверку спроса: проблемные интервью и поиск потенциальных пилотных клиентов. В преакселераторе мы рассчитываем на экспертизу, связи и методологическую поддержку: экспертную оценку жизнеспособности идеи, помощь с проверкой клиентских гипотез и поиском целевой аудитории, техническую экспертизу — можно ли вообще создать такую платформу, — наставников и потенциальных технических партнёров, помощь с финансовой моделью и юридическую оценку. Мы хотим использовать преакселератор, чтобы проверить спрос, экономику и техническую реализуемость Улья и на основе результатов решить, стоит ли развивать проект дальше.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обложка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buNone/>
            </a:pPr>
            <a:endParaRPr lang="en-US" sz="9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тёмный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светлый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Улья: шестиугольная ячейка сот с янтарным кубом внутр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143000"/>
            <a:ext cx="4318000" cy="431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Улей</a:t>
            </a:r>
            <a:endParaRPr lang="en-US" sz="920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4887020"/>
            <a:ext cx="58674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Превращаем простаивающие видеокарты </a:t>
            </a:r>
            <a:br/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доступные вычислительные мощности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5795070"/>
            <a:ext cx="586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Преакселератор ВШМ СПбГУ,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Проблема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2034679"/>
            <a:ext cx="48072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5200" spc="-1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63–71 ₽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91097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 аренды RTX 3090 в облаке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566220"/>
            <a:ext cx="4807268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Круглосуточная аренда такой карты — около 45–50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тыс. ₽ в месяц. Для небольших команд это заметные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деньги.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9650" y="2123579"/>
            <a:ext cx="12700" cy="2189163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11950" y="2034679"/>
            <a:ext cx="480726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5200" spc="-1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2022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6711950" y="291097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Ethereum, крупнейшая монета для майнинга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видеокартах, отказался от майнинга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950" y="3566220"/>
            <a:ext cx="4807268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Сейчас доход от майнинга зависит от модели карты,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тарифа на электричество и курса монет. Часть ферм и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игровых ПК загружена не полностью.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5232400"/>
            <a:ext cx="10718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Вычислительная мощность стоит денег, а часть уже купленного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оборудования можно использовать эффективнее.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Цены: immers.cloud, октябрь 2026. Ethereum: переход на proof-of-stake, сентябрь 2022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Решение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511895"/>
            <a:ext cx="2571750" cy="3658989"/>
          </a:xfrm>
          <a:prstGeom prst="roundRect">
            <a:avLst>
              <a:gd name="adj" fmla="val 69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73150" y="1769070"/>
            <a:ext cx="211912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Владельцы </a:t>
            </a:r>
            <a:br/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видеокарт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73150" y="2325291"/>
            <a:ext cx="2119122" cy="11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Фермы и владельцы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мощных ПК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предоставляют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свободную мощность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73150" y="4350544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3150" y="446801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Вознаграждение за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оплаченные часы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41700" y="273059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9" name="Image 0" descr="Стрел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3023890"/>
            <a:ext cx="1270000" cy="152400"/>
          </a:xfrm>
          <a:prstGeom prst="rect">
            <a:avLst/>
          </a:prstGeom>
        </p:spPr>
      </p:pic>
      <p:pic>
        <p:nvPicPr>
          <p:cNvPr id="10" name="Image 1" descr="Стрел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3506490"/>
            <a:ext cx="1270000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41700" y="371604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20 ₽ за час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813300" y="1508720"/>
            <a:ext cx="2565400" cy="3665339"/>
          </a:xfrm>
          <a:prstGeom prst="roundRect">
            <a:avLst>
              <a:gd name="adj" fmla="val 6931"/>
            </a:avLst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067300" y="1737320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067300" y="2085280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Подключает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оборудование, подбирает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карту под запрос и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учитывает часы работы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67300" y="4356894"/>
            <a:ext cx="20574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067300" y="447436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Оставляет свою долю с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каждого часа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429500" y="273059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8" name="Image 2" descr="Стрел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900" y="3023890"/>
            <a:ext cx="1270000" cy="152400"/>
          </a:xfrm>
          <a:prstGeom prst="rect">
            <a:avLst/>
          </a:prstGeom>
        </p:spPr>
      </p:pic>
      <p:pic>
        <p:nvPicPr>
          <p:cNvPr id="19" name="Image 3" descr="Стрел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900" y="3506490"/>
            <a:ext cx="1270000" cy="1524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429500" y="371604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40 ₽ за час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804275" y="1511895"/>
            <a:ext cx="2571750" cy="3658989"/>
          </a:xfrm>
          <a:prstGeom prst="roundRect">
            <a:avLst>
              <a:gd name="adj" fmla="val 69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061450" y="1743670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Клиенты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061450" y="2091630"/>
            <a:ext cx="2119122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ML-команды и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 арендуют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видеокарту по часам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9061450" y="4350544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061450" y="446801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доступная цена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несрочных задач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812800" y="54852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128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Первый шаг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— предоставить несколько видеокарт первым клиентам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посмотреть, как это работает на практике.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248400" y="54852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2484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Возможные функции MVP: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автоматический запуск задач, перезапуск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 сбое, контроль выполнения. Их реализуемость проверим.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0007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950" y="155565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0180" y="160645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6950" y="198745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Команда запрашивает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видеокарту с нужной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памятью на нужное число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часов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40007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76650" y="155565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73785" y="160645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76650" y="1987451"/>
            <a:ext cx="222377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подбирает свободную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подходящую карту у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владельца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5375" y="140007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6350" y="155565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52890" y="160645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6350" y="1987451"/>
            <a:ext cx="222377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Команда запускает свою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задачу, Улей учитывает часы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55075" y="140007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36050" y="155565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300" y="1606451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36050" y="198745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Команда платит за часы,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владелец получает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вознаграждение, Улей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долю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2800" y="3192463"/>
            <a:ext cx="5812730" cy="2852638"/>
          </a:xfrm>
          <a:prstGeom prst="roundRect">
            <a:avLst>
              <a:gd name="adj" fmla="val 6233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3344863"/>
            <a:ext cx="545713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Расчётный сценарий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3665538"/>
            <a:ext cx="545713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 нужно обработать набор изображений готовой моделью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около 100 часов работы карты с 24 ГБ памяти. Прерванную часть можно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запустить заново.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6800" y="4337248"/>
            <a:ext cx="22237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4 000 ₽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4739779"/>
            <a:ext cx="2223770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Улья: 100 ч × 40 ₽,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пилотом не подтверждена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79800" y="4337248"/>
            <a:ext cx="297848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6 300–7 100 ₽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3479800" y="4739779"/>
            <a:ext cx="2978482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GPU-облако Immers.cloud: 63–71 ₽ за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час, в цену входят vCPU, RAM и диск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6800" y="5227340"/>
            <a:ext cx="545713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Целевая цена конкурентна относительно части облачных предложений,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но на рынке есть более дешёвые распределённые площадки.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Преимущество по цене предстоит проверить.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81105" y="3195638"/>
            <a:ext cx="4594920" cy="2846288"/>
          </a:xfrm>
          <a:prstGeom prst="roundRect">
            <a:avLst>
              <a:gd name="adj" fmla="val 62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38280" y="3376613"/>
            <a:ext cx="4202987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Какие задачи подходят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038280" y="3709988"/>
            <a:ext cx="420298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старте: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задачи, которые можно разбить на части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или повторить, — обработка наборов данных, серии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коротких экспериментов.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38280" y="4438848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Длительное обучение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— только с сохранением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промежуточного состояния. Это проверим в пилоте.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38280" y="4954389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Пока нет: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срочные задачи и работа на нескольких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картах сразу.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Первые клиенты и направления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515070"/>
            <a:ext cx="6218436" cy="4523780"/>
          </a:xfrm>
          <a:prstGeom prst="roundRect">
            <a:avLst>
              <a:gd name="adj" fmla="val 3930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4900" y="1781770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Основная гипотеза для пилота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04900" y="2113161"/>
            <a:ext cx="5799336" cy="568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8"/>
              </a:lnSpc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Аренда видеокарт ML-командам и </a:t>
            </a:r>
            <a:br/>
            <a:pPr algn="l" indent="0" marL="0">
              <a:lnSpc>
                <a:spcPts val="2128"/>
              </a:lnSpc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лабораториям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104900" y="2770981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900" y="2856706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покупает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04900" y="3092847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ML-команды, лаборатории вузов, AI-стартапы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04900" y="3452217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4900" y="3537942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чего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04900" y="3774083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Эксперименты, обработка наборов данных, дообучение моделей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04900" y="4133453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900" y="4219178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Почему Улей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04900" y="4474369"/>
            <a:ext cx="5799336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доступная цена часа для несрочных задач на уже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существующем оборудовании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04900" y="5037534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4900" y="5123259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 нужно найти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4900" y="5359400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Владельцев карт с достаточной памятью для таких задач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99511" y="1511895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31286" y="1724620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Альтернатива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31286" y="2017911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Пакетная обработка аудио и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видео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31286" y="2536706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Расшифровка записей, субтитры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99511" y="3155156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31286" y="3367881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Альтернатива 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1286" y="3661172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Обработка изображений и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документов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31286" y="4179967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Фото товаров, распознавание сканов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96336" y="4795242"/>
            <a:ext cx="43083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Альтернативные направления также оценим по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спросу, требованиям к оборудованию и стоимости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выполнения задач.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Рынок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928515"/>
            <a:ext cx="62484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6400" b="1" spc="-250" kern="0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8,2 млрд ₽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976265"/>
            <a:ext cx="6248400" cy="517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потратили компании в России на облачные серверы с </a:t>
            </a:r>
            <a:br/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видеокартами в 2025 году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3725565"/>
            <a:ext cx="1290836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2800" y="3795415"/>
            <a:ext cx="134163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+69%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56405"/>
            <a:ext cx="13416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рост к 2024 году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08436" y="3725565"/>
            <a:ext cx="2928640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8436" y="3795415"/>
            <a:ext cx="3016499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36,5 млрд ₽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08436" y="4256405"/>
            <a:ext cx="301649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прогноз исследователей на 2030 год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24725" y="1839020"/>
            <a:ext cx="4044950" cy="2859881"/>
          </a:xfrm>
          <a:prstGeom prst="roundRect">
            <a:avLst>
              <a:gd name="adj" fmla="val 6217"/>
            </a:avLst>
          </a:prstGeom>
          <a:solidFill>
            <a:srgbClr val="FFF4DE">
              <a:alpha val="42000"/>
            </a:srgbClr>
          </a:solidFill>
          <a:ln w="19050">
            <a:solidFill>
              <a:srgbClr val="3B2A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12050" y="2000945"/>
            <a:ext cx="37804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Весь рынок облачных GPU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512050" y="2335590"/>
            <a:ext cx="37804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8,2 млрд ₽, включая серверные ускорители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12050" y="2665115"/>
            <a:ext cx="3670300" cy="1846461"/>
          </a:xfrm>
          <a:prstGeom prst="roundRect">
            <a:avLst>
              <a:gd name="adj" fmla="val 7566"/>
            </a:avLst>
          </a:prstGeom>
          <a:solidFill>
            <a:srgbClr val="3B2A0E">
              <a:alpha val="1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64450" y="2817515"/>
            <a:ext cx="3466465" cy="443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Потребительские видеокарты уровня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 и 4090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64450" y="3335635"/>
            <a:ext cx="3365500" cy="1023541"/>
          </a:xfrm>
          <a:prstGeom prst="roundRect">
            <a:avLst>
              <a:gd name="adj" fmla="val 11167"/>
            </a:avLst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16850" y="3462635"/>
            <a:ext cx="3152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Потенциальный сегмент Улья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16850" y="3761085"/>
            <a:ext cx="3152521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Несрочные вычислительные задачи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небольших команд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5334000"/>
            <a:ext cx="10718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Размер доступного сегмента определим по результатам анализа предложений </a:t>
            </a:r>
            <a:br/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конкурентов и интервью с потенциальными клиентами.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Apple Hills Digital и Selectel, исследование «Облачные сервисы для ИИ», октябрь 2026; прогноз на 2030 год — по публикации RB.ru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Конкуренты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324100" y="1579761"/>
            <a:ext cx="2125663" cy="39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Российские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GPU-облака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2324100" y="1978422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 и другие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16450" y="1579761"/>
            <a:ext cx="2125663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Российские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распределённые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площадки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616450" y="2168227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Тераферма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08800" y="1579761"/>
            <a:ext cx="2125663" cy="39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Зарубежные </a:t>
            </a:r>
            <a:br/>
            <a:pPr algn="l" indent="0" marL="0">
              <a:lnSpc>
                <a:spcPts val="149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GPU-площадки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908800" y="1997472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Vast.ai, RunPod Community,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SaladCloud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86850" y="1452761"/>
            <a:ext cx="2292350" cy="1029692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01150" y="1554361"/>
            <a:ext cx="212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201150" y="1788616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наша гипотеза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800" y="2485628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2800" y="2565003"/>
            <a:ext cx="13335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RTX 3090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09800" y="248562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24100" y="2565003"/>
            <a:ext cx="2125663" cy="605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63–71 ₽ у Immers.cloud, у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других облаков бывает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дешевле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02150" y="248562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6450" y="2565003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≈22–31 ₽ в опубликованных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предложениях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94500" y="248562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8800" y="2565003"/>
            <a:ext cx="2125663" cy="605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RunPod $0,22–0,50,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SaladCloud $0,09–0,17,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Vast.ai — по хосту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86850" y="2482453"/>
            <a:ext cx="2292350" cy="7528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6850" y="2485628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01150" y="2565003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40 ₽, не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подтверждена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2800" y="3238500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2800" y="3317875"/>
            <a:ext cx="13335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Оплата из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России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09800" y="323850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24100" y="3298825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рублях, по договору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02150" y="323850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6450" y="3298825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94500" y="323850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8800" y="3317875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долларах; российские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карты обычно не проходят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86850" y="3235325"/>
            <a:ext cx="2292350" cy="5548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9086850" y="3238500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01150" y="3298825"/>
            <a:ext cx="21256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3793331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2800" y="3872706"/>
            <a:ext cx="13335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Надёжность 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ограничения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09800" y="379333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24100" y="3872706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Дата-центры, гарантии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доступности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02150" y="379333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16450" y="3872706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владельца,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наличие нужно проверять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794500" y="379333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08800" y="3872706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хоста и тарифа,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возможны прерывания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86850" y="3790156"/>
            <a:ext cx="2292350" cy="5548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9086850" y="3793331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01150" y="3872706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проверена — ключевой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вопрос пилота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4348163"/>
            <a:ext cx="13970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800" y="4427538"/>
            <a:ext cx="13335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Как выдаются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ресурсы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209800" y="4348163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324100" y="4427538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Готовые серверы: vCPU,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RAM, диск, поддержка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02150" y="4348163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616450" y="4427538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Карты частных владельцев,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можно сдать свою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794500" y="4348163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08800" y="4427538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Самообслуживание: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инстансы и контейнеры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 rot="10800000">
            <a:off x="9086850" y="4344988"/>
            <a:ext cx="2292350" cy="554831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54" name="Shape 52"/>
          <p:cNvSpPr/>
          <p:nvPr/>
        </p:nvSpPr>
        <p:spPr>
          <a:xfrm>
            <a:off x="9086850" y="4348163"/>
            <a:ext cx="22923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01150" y="4427538"/>
            <a:ext cx="212566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Несрочные задачи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небольших команд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12800" y="5148659"/>
            <a:ext cx="10718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 проверяет, можно ли создать конкурентоспособный российский сервис </a:t>
            </a:r>
            <a:br/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GPU-вычислений</a:t>
            </a:r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на базе простаивающего оборудования.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812800" y="56249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Приоритет — доступные мощности для небольших команд и несрочных задач.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3090, 24 ГБ, почасово, октябрь 2026: immers.cloud, teraferma.io, runpod.io, salad.com, vast.ai. CPU, RAM и диск различаются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Экономика одной видеокарты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70112"/>
            <a:ext cx="1071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Базовый сценарий: один оплаченный час видеокарты — 40 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748532"/>
            <a:ext cx="5384800" cy="406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5200" y="1820962"/>
            <a:ext cx="131960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20 ₽ владельцу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56450" y="1748532"/>
            <a:ext cx="4222750" cy="406400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10450" y="1820962"/>
            <a:ext cx="363283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15,6 ₽ — на постоянные расходы и прибыль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6000" y="1748532"/>
            <a:ext cx="1162050" cy="406400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97600" y="1820962"/>
            <a:ext cx="44469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4,4 ₽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2229227"/>
            <a:ext cx="10718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4,4 ₽ — налог 6% (2,4 ₽) и прочие переменные расходы (≈2 ₽). Электричество, CPU, RAM, накопитель и сеть обеспечивает владелец.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5975" y="2651919"/>
            <a:ext cx="7359650" cy="2771775"/>
          </a:xfrm>
          <a:prstGeom prst="roundRect">
            <a:avLst>
              <a:gd name="adj" fmla="val 5498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350" y="2788444"/>
            <a:ext cx="70993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Три сценария тарифа · карта доступна 24 ч, платная загрузка 50% = 360 ч в месяц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38624" y="3138884"/>
            <a:ext cx="156100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Базовый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48833" y="3138884"/>
            <a:ext cx="156100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Альтернатива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9041" y="3069034"/>
            <a:ext cx="156100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Ценовая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конкуренция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2350" y="3504009"/>
            <a:ext cx="6946900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2350" y="3555405"/>
            <a:ext cx="248876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клиенту за час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38624" y="3538934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40 ₽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48833" y="3538934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₽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59041" y="3538934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30 ₽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22350" y="3843040"/>
            <a:ext cx="6946900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2350" y="3894435"/>
            <a:ext cx="248876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Выплата владельцу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438624" y="387796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20 ₽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48833" y="387796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16 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59041" y="387796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14 ₽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22350" y="4182070"/>
            <a:ext cx="6946900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22350" y="4233466"/>
            <a:ext cx="248876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Маржинальный доход с часа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438624" y="421699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15,6 ₽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948833" y="421699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14,9 ₽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59041" y="4216995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12,2 ₽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2350" y="4521101"/>
            <a:ext cx="6946900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2350" y="4572496"/>
            <a:ext cx="248876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 на 250 тыс. ₽ в месяц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438624" y="4556026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≈45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948833" y="4556026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≈47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459041" y="4556026"/>
            <a:ext cx="15610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≈57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22350" y="4901406"/>
            <a:ext cx="70993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Маржинальный доход = цена × 0,94 − выплата − 2 ₽; допущения: УСН «Доходы» 6%, без НДС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331200" y="2648744"/>
            <a:ext cx="3048000" cy="2778125"/>
          </a:xfrm>
          <a:prstGeom prst="roundRect">
            <a:avLst>
              <a:gd name="adj" fmla="val 5486"/>
            </a:avLst>
          </a:prstGeom>
          <a:solidFill>
            <a:schemeClr val="tx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534400" y="2801144"/>
            <a:ext cx="272084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показатель — объём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оплаченных GPU-часов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534400" y="3216275"/>
            <a:ext cx="272084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spc="-1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≈16 тыс. ч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8534400" y="3771205"/>
            <a:ext cx="272084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месяц нужно продать в базовом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сценарии для 250 тыс. ₽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постоянных расходов — ≈160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заказов по 100 часов или меньше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крупных клиентов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534400" y="4863108"/>
            <a:ext cx="2720848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При 35 и 30 ₽ — ≈16,8 и ≈20,5 тыс. ч.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Спрос не подтверждён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2800" y="5618460"/>
            <a:ext cx="107188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Расчёты предварительные, не прогноз: не подтверждены платная загрузка, фактические затраты на инфраструктуру и обслуживание клиентов.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rgbClr val="7A6E5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250 тыс. ₽ в месяц — условные постоянные расходы работающего сервиса, а не бюджет пилота.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Риски по степени важности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413470"/>
            <a:ext cx="3384054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" y="16458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51930" y="169664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73200" y="1597620"/>
            <a:ext cx="2596068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Техническая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реализуемость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081411"/>
            <a:ext cx="305390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374702"/>
            <a:ext cx="3053903" cy="106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Можно ли дать стабильную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вычислительную среду на чужом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оборудовании. Проверяем на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нескольких картах: запуск, сбои,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перезапуск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65129" y="1410295"/>
            <a:ext cx="3390503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1504" y="163949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8639" y="169029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16004" y="1591270"/>
            <a:ext cx="2609251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Платёжеспособный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спрос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1504" y="2094111"/>
            <a:ext cx="3067086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Хватит ли оплаченных часов: базовому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сценарию нужно ≈16 тыс. в месяц. В 20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выясняем объём часов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готовность платить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7557" y="1413470"/>
            <a:ext cx="3455293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27107" y="16458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3647" y="169664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571607" y="1597620"/>
            <a:ext cx="266944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Конкурентоспособная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себестоимость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127107" y="2081411"/>
            <a:ext cx="312727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27107" y="2374702"/>
            <a:ext cx="3127279" cy="106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Уже есть площадки с RTX 3090 дешевле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40 ₽. Владелец может не согласиться на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выплату, при которой цена Улья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конкурентна. Обсуждаем с 15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владельцами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975" y="3805535"/>
            <a:ext cx="3390404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2350" y="403473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17600" y="4085530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6850" y="3986510"/>
            <a:ext cx="2609149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Право и защита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данных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22350" y="4489351"/>
            <a:ext cx="3066984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Изоляция задач не гарантирует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конфиденциальность. В пилоте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тестовые данные, правовая проверка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обязательна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65129" y="3805535"/>
            <a:ext cx="3390503" cy="2236490"/>
          </a:xfrm>
          <a:prstGeom prst="roundRect">
            <a:avLst>
              <a:gd name="adj" fmla="val 6814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1504" y="403473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70623" y="4085530"/>
            <a:ext cx="182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16004" y="3986510"/>
            <a:ext cx="2609251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Подходящее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оборудование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1504" y="4489351"/>
            <a:ext cx="306708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Изучаем карты у 15 владельцев. Если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подходящих мало — пересматриваем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направление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17557" y="3808710"/>
            <a:ext cx="3455293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7107" y="40410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2059" y="4091880"/>
            <a:ext cx="190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571607" y="3992860"/>
            <a:ext cx="266944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Нет технического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специалиста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127107" y="4476651"/>
            <a:ext cx="312727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27107" y="4769941"/>
            <a:ext cx="3127279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Без него не подтвердить технические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гипотезы. Ищем специалиста или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наставника — в программе и в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профильных сообществах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План на полгода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48891"/>
            <a:ext cx="3414216" cy="2632075"/>
          </a:xfrm>
          <a:prstGeom prst="roundRect">
            <a:avLst>
              <a:gd name="adj" fmla="val 579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2350" y="1579066"/>
            <a:ext cx="3091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1833066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Оценка идеи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22350" y="2078732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2350" y="2100957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20 интервью: интерес и объём часов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22350" y="234662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2350" y="236884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часа, которую готовы платить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22350" y="261451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2350" y="263673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владельцев: доступность, расходы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22350" y="2882404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2350" y="2904629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Минимальная выплата владельцам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22350" y="3150295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2350" y="3172520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Анализ предложений конкурентов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2350" y="3418185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2350" y="3440410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Требования к MVP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22350" y="3686076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22350" y="3708301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технической экспертизы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8941" y="1448891"/>
            <a:ext cx="3414216" cy="2632075"/>
          </a:xfrm>
          <a:prstGeom prst="roundRect">
            <a:avLst>
              <a:gd name="adj" fmla="val 579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95316" y="1579066"/>
            <a:ext cx="3091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2–3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95316" y="1833066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возможности пилота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95316" y="2078732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95316" y="2100957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Выбор первой целевой задачи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95316" y="234662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95316" y="236884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Простой технический прототип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95316" y="261451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95316" y="263673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Тест нескольких видеокарт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95316" y="2882404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95316" y="2904629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Работоспособность и стоимость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95316" y="3150295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5316" y="3172520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пилотных клиентов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95316" y="3418185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5316" y="3440410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Желательно: первые оплаты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61908" y="1448891"/>
            <a:ext cx="3414216" cy="2632075"/>
          </a:xfrm>
          <a:prstGeom prst="roundRect">
            <a:avLst>
              <a:gd name="adj" fmla="val 579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68283" y="1579066"/>
            <a:ext cx="3091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4–6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68283" y="1833066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Развитие по результатам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68283" y="2078732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8283" y="2100957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Улучшение прототипа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68283" y="234662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68283" y="236884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Дополнительные испытания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68283" y="2614513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68283" y="2636738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платёжеспособного спроса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168283" y="2882404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8283" y="2904629"/>
            <a:ext cx="309151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Корректировка экономики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68283" y="3150295"/>
            <a:ext cx="30014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68283" y="3191570"/>
            <a:ext cx="309151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Решение: развивать, сменить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направление или остановиться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2800" y="4325938"/>
            <a:ext cx="10566400" cy="1719263"/>
          </a:xfrm>
          <a:prstGeom prst="roundRect">
            <a:avLst>
              <a:gd name="adj" fmla="val 8864"/>
            </a:avLst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66800" y="4440238"/>
            <a:ext cx="274701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0,1–0,7 млн ₽</a:t>
            </a:r>
            <a:endParaRPr lang="en-US" sz="2400" dirty="0"/>
          </a:p>
        </p:txBody>
      </p:sp>
      <p:sp>
        <p:nvSpPr>
          <p:cNvPr id="50" name="Text 48"/>
          <p:cNvSpPr txBox="1"/>
          <p:nvPr/>
        </p:nvSpPr>
        <p:spPr>
          <a:xfrm>
            <a:off x="1066800" y="4864398"/>
            <a:ext cx="2747010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три месяца: проверка гипотез и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ограниченный прототип,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предварительно. 250 тыс. ₽ в месяц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расчёте экономики — модель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работающего сервиса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987800" y="4481513"/>
            <a:ext cx="34417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987800" y="4516438"/>
            <a:ext cx="187334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Технический специалист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608763" y="4516438"/>
            <a:ext cx="871538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0–450 тыс.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987800" y="4787503"/>
            <a:ext cx="34417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987800" y="4822428"/>
            <a:ext cx="52714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Юрист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625332" y="4822428"/>
            <a:ext cx="854968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0–100 тыс.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987800" y="5093494"/>
            <a:ext cx="34417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987800" y="5128419"/>
            <a:ext cx="192617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Испытания оборудования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611541" y="5128419"/>
            <a:ext cx="86875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20–50 тыс.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3987800" y="5399484"/>
            <a:ext cx="34417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987800" y="5434409"/>
            <a:ext cx="241845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Серверы, сервисы, регистрация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31967" y="5434409"/>
            <a:ext cx="94833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80–100 тыс.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7683500" y="4478338"/>
            <a:ext cx="354495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Сами: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интервью, изучение оборудования,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анализ цен, финмодель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683500" y="4968478"/>
            <a:ext cx="354495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Внешние специалисты: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прототип,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юридическая оценка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83500" y="5458619"/>
            <a:ext cx="354495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Грант «Студенческий стартап» — возможный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источник, не гарантирован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Команда и запрос к преакселератору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35695"/>
            <a:ext cx="4946650" cy="1776115"/>
          </a:xfrm>
          <a:prstGeom prst="roundRect">
            <a:avLst>
              <a:gd name="adj" fmla="val 1001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4" name="Image 0" descr="Ячейка со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1968103"/>
            <a:ext cx="711200" cy="711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2350" y="1953498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ТН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936750" y="1651397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Тимур Новиков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36750" y="1971377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Продакт-менеджер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36750" y="2277368"/>
            <a:ext cx="3701923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Отвечает за продукт и проверку технических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гипотез: модель сервиса, цена часа,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требования к оборудованию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15975" y="3370560"/>
            <a:ext cx="4946650" cy="1776115"/>
          </a:xfrm>
          <a:prstGeom prst="roundRect">
            <a:avLst>
              <a:gd name="adj" fmla="val 10011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10" name="Image 1" descr="Ячейка со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902968"/>
            <a:ext cx="711200" cy="71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2350" y="3888363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ИК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936750" y="3586262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Игорь Кузьмин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36750" y="3906242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Менеджер по продажам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36750" y="4212233"/>
            <a:ext cx="3701923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Отвечает за проверку спроса: проблемные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и поиск потенциальных пилотных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клиентов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918200" y="1432520"/>
            <a:ext cx="5461000" cy="3717330"/>
          </a:xfrm>
          <a:prstGeom prst="roundRect">
            <a:avLst>
              <a:gd name="adj" fmla="val 4783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72200" y="1661120"/>
            <a:ext cx="5101590" cy="514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5"/>
              </a:lnSpc>
              <a:buNone/>
            </a:pPr>
            <a:r>
              <a:rPr lang="ru-RU" altLang="en-US" sz="17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Чем может помочь </a:t>
            </a:r>
            <a:br/>
            <a:pPr algn="l" indent="0" marL="0">
              <a:lnSpc>
                <a:spcPts val="1955"/>
              </a:lnSpc>
              <a:buNone/>
            </a:pPr>
            <a:r>
              <a:rPr lang="ru-RU" altLang="en-US" sz="17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преакселератор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6172200" y="2236986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2290961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Экспертная оценка жизнеспособности идеи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72200" y="261223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2666206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клиентских гипотез и поиск целевой аудитории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172200" y="2987477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172200" y="3041452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Техническая экспертиза: можно ли создать платформу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172200" y="336272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3416697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Наставники и потенциальные технические партнёры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172200" y="3737967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3791942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Помощь с финансовой моделью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172200" y="4113213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172200" y="4167188"/>
            <a:ext cx="510159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Юридическая оценка проекта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812800" y="5378450"/>
            <a:ext cx="10718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Мы хотим использовать преакселератор, чтобы проверить спрос, экономику и техническую </a:t>
            </a:r>
            <a:br/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реализуемость «Улья» — и на основе результатов решить, стоит ли развивать проект </a:t>
            </a:r>
            <a:br/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дальше.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лей">
  <a:themeElements>
    <a:clrScheme name="Улей">
      <a:dk1>
        <a:srgbClr val="14110D"/>
      </a:dk1>
      <a:lt1>
        <a:srgbClr val="F5EFE4"/>
      </a:lt1>
      <a:dk2>
        <a:srgbClr val="1A1611"/>
      </a:dk2>
      <a:lt2>
        <a:srgbClr val="FBF7EF"/>
      </a:lt2>
      <a:accent1>
        <a:srgbClr val="F0A531"/>
      </a:accent1>
      <a:accent2>
        <a:srgbClr val="8A5207"/>
      </a:accent2>
      <a:accent3>
        <a:srgbClr val="1E1913"/>
      </a:accent3>
      <a:accent4>
        <a:srgbClr val="3A3228"/>
      </a:accent4>
      <a:accent5>
        <a:srgbClr val="BFB4A1"/>
      </a:accent5>
      <a:accent6>
        <a:srgbClr val="5A5044"/>
      </a:accent6>
      <a:hlink>
        <a:srgbClr val="8A5207"/>
      </a:hlink>
      <a:folHlink>
        <a:srgbClr val="7A6E5F"/>
      </a:folHlink>
    </a:clrScheme>
    <a:fontScheme name="Улей">
      <a:majorFont>
        <a:latin typeface="Unbounded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Улей — презентация для преакселератора ВШМ СПбГУ</dc:title>
  <dc:subject>PptxGenJS Presentation</dc:subject>
  <dc:creator>Команда «Улей»</dc:creator>
  <cp:lastModifiedBy>Команда «Улей»</cp:lastModifiedBy>
  <cp:revision>1</cp:revision>
  <dcterms:created xsi:type="dcterms:W3CDTF">2026-10-16T12:10:35Z</dcterms:created>
  <dcterms:modified xsi:type="dcterms:W3CDTF">2026-10-16T12:10:35Z</dcterms:modified>
</cp:coreProperties>
</file>