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ложка" id="{d7192152-5a61-6238-e138-e5f6df825986}">
          <p14:sldIdLst>
            <p14:sldId id="256"/>
          </p14:sldIdLst>
        </p14:section>
        <p14:section name="Проблема и решение" id="{3b2675ca-0048-3940-b84f-2f381fbc2f56}">
          <p14:sldIdLst>
            <p14:sldId id="257"/>
            <p14:sldId id="258"/>
            <p14:sldId id="259"/>
          </p14:sldIdLst>
        </p14:section>
        <p14:section name="Клиенты и рынок" id="{de4ae551-5310-141d-7275-482fcece143c}">
          <p14:sldIdLst>
            <p14:sldId id="260"/>
            <p14:sldId id="261"/>
            <p14:sldId id="262"/>
          </p14:sldIdLst>
        </p14:section>
        <p14:section name="Экономика и риски" id="{2d18260a-cc13-c00a-0783-9281aab95e03}">
          <p14:sldIdLst>
            <p14:sldId id="263"/>
            <p14:sldId id="264"/>
          </p14:sldIdLst>
        </p14:section>
        <p14:section name="План и команда" id="{2acd1b0c-2450-2a0c-a9a4-a993b6aa3d5b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Улей — B2B-сервис вычислительных мощностей на базе партнёрских GPU-ферм. Небольшим технологическим командам нужны видеокарты, а часть уже купленного оборудования используется не полностью. На первом этапе мы проверяем аренду через несколько партнёрских ферм с ручной координацией заказов. Если спрос и экономика подтвердятся, следующий шаг — автоматизация сервиса и, со временем, собственная распределённая сеть. Проект на стадии идеи: MVP, клиентов и договорённостей с фермами пока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одной стороны, небольшим технологическим командам нужны вычислительные мощности, и у них есть понятная рыночная цена. Час аренды RTX 3090 в облаке Immers.cloud стоит от 63 до 71 рубля в зависимости от конфигурации процессора и памяти, круглосуточная аренда — около 45–50 тысяч рублей в месяц. Но для небольших команд важна не только цена: важно, чтобы нужная карта была доступна, аренда — простой, а условия — предсказуемыми. Мы не утверждаем, что существующие облака неудобны всем; насколько это важно именно нашим клиентам, проверим в интервью. С другой стороны, есть уже купленное оборудование, которое загружено не полностью. В 2022 году Ethereum перестал использовать майнинг на видеокартах, и с тех пор доход фермы зависит от модели карт, тарифа на электричество и курса монет. Для части ферм и владельцев мощных компьютеров дополнительные заказы — коммерческая возможность лучше использовать уже сделанные вложения.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Улей соединяет небольшие технологические команды с владельцами GPU-мощностей. На первом этапе мы не строим собственную распределённую платформу, а проверяем B2B-аренду через несколько партнёрских ферм. Фермы предоставляют оборудование и вычислительные ресурсы; на старте нам нужно найти ограниченное число партнёров с подходящими конфигурациями. Улей находит клиентов, подбирает мощности под задачу, организует аренду и сопровождает заказ. Клиенты — небольшие ML-команды, лаборатории, AI-стартапы и технологические компании. Деньги в нашей гипотезе: клиент платит около 35 рублей за оплаченный час, ферма получает около 15. Это предварительные ориентиры: мы ещё не знаем, готовы ли фермы предоставить за 15 рублей полноценную рабочую конфигурацию, а не только видеокарту. Кто отвечает за процессор, память, накопители, сеть, доступность и техническое обслуживание, определим в условиях партнёрства — по умолчанию мы не берём это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выглядит в первом коммерческом пилоте. Первое: компания обращается к нам с запросом на вычислительные мощности. Второе: Улей подбирает подходящую конфигурацию у партнёрской фермы. Третье: ферма предоставляет вычислительную среду, а Улей сопровождает заказ в согласованных пределах. Четвёртое: клиент оплачивает услугу, ферма получает вознаграждение, Улей — свою долю. Расчётный сценарий, а не коммерческое предложение: лаборатории нужно около ста часов работы RTX 3090 с 24 гигабайтами памяти. По нашей целевой цене 35 рублей за час это 3500 рублей, но цена пилотом не подтверждена. В облаке Immers.cloud такой объём стоит 6300–7100 рублей, и в эту цену входят процессор, память, диск и уровень сервиса дата-центра, поэтому сравнение не полностью сопоставимо. На рынке есть и более дешёвые GPU-площадки, так что мы рассчитываем не только на цену, но и на организацию аренды для B2B-клиентов. Экономию мы не гарантируем. В пилоте Улей отвечает за подбор, организацию аренды и сопровождение, ферма — за оборудование и вычислительную среду по условиям партнёрства. Собственной платформы, круглосуточной поддержки и гарантированного SLA у нас пока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гипотеза для пилота — B2B-аренда GPU небольшим ML-командам. Покупают ML-команды, лаборатории вузов, AI-стартапы и небольшие технологические компании; им нужны мощности для экспериментов, обработки наборов данных и дообучения моделей. Почему они могут выбрать Улей: мы подбираем GPU под задачу, помогаем организовать аренду, сопровождаем взаимодействие с поставщиком и стремимся к конкурентной цене. Круглосуточную техническую поддержку, гарантированный SLA или готовые инструменты автоматизации мы не обещаем. Главное, что проверяем: готовы ли команды платить за подбор и сопровождение, а не только за цену часа. Пакетная обработка аудио и видео и обработка изображений и документов — будущие гипотезы, оценим их позже. Приоритет первого пилота — B2B-аренда вычислительной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исследованию Apple Hills Digital и Selectel «Облачные сервисы для ИИ: серверы с GPU и AI/ML-платформы», представленному 8 октября 2026 года, потребление облачных серверов с видеокартами в публичном облаке в России в 2025 году составило 8,2 миллиарда рублей и выросло на 68,7% к 2024 году. По публикации RB.ru о том же исследовании, базовый прогноз — 36,5 миллиарда рублей к 2030 году; это прогноз исследователей, а не гарантированная величина. Важно: 8,2 миллиарда — это весь рынок, включая серверные ускорители. Внутри него есть сегмент потребительских видеокарт уровня RTX 3090 и 4090, а наш потенциальный сегмент ещё уже — небольшие технологические команды, которым нужны GPU-мощности для несрочных задач и понятное сопровождение аренды. Его размер мы не знаем и определим по результатам анализа предложений конкурентов и интервью с потенциальными клиентами.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Сравниваем RTX 3090 при почасовой аренде, но это не полностью взаимозаменяемые продукты: ставки зависят от конфигурации, процессора, памяти, диска, времени и тарифа. Российские GPU-облака, например Immers.cloud, берут 63–71 рубль за час, и в цену входят серверная инфраструктура и поддержка; у других облачных провайдеров встречаются цены ниже. Тераферма — российская площадка с картами частных владельцев, опубликованные цены RTX 3090 — примерно 22–31 рубль за час, а наличие нужно проверять. Зарубежные маркетплейсы ещё дешевле — RunPod от 22 до 50 центов, SaladCloud от 9 до 17 центов, у Vast.ai цена зависит от хоста, — но расчёты в долларах, и российские карты там обычно не проходят. Поэтому Улей не стремится быть самым дешёвым маркетплейсом. Наша цель — около 35 рублей за час, а формат — B2B-сервис через партнёрские фермы для небольших ML-команд. Подбор и сопровождение — не уникальная услуга, их могут предлагать и конкуренты; задача пилота — выяснить, есть ли неудовлетворённый спрос на такой сервис. Надёжность у нас зависит от партнёров, а автоматизацию мы развиваем только после подтверждения спроса.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Экономика B2B-аренды — предварительный расчёт, а не достигнутый результат. Базовая гипотеза: клиент платит 35 рублей за оплаченный час, партнёрская ферма получает 15 рублей, ещё 3 рубля — условное допущение по переменным расходам: платежи, поддержка, инфраструктура. Остаётся 17 рублей на постоянные расходы и прибыль. Это расчёт без налогов и без постоянных расходов. 15 рублей — предполагаемая цена фермы за полноценную рабочую конфигурацию, а не только за видеокарту; согласятся ли фермы на такие условия, ещё предстоит проверить. Цена 35 рублей тоже не окончательная: при ценовой конкуренции остаток падает до 12 рублей при цене 30 и до 7 рублей при цене 25. Один заказ на 100 часов по 35 рублей даёт 3500 рублей выручки, 1500 уходит ферме, около 300 — на условные расходы, остаётся 1700 рублей до налогов и постоянных расходов; это не чистая прибыль. Чтобы при остатке 17 рублей покрыть 250 тысяч постоянных расходов в месяц, нужно около 14,7 тысячи оплаченных часов. Но 250 тысяч — условный сценарий развитого сервиса, на этапе ручной проверки расходы могут быть существенно ниже, и 14,7 тысячи часов — не цель первых трёх месяцев. Главное, что мы проверяем: какую цену готовы платить клиенты, сколько на самом деле стоит аренда у фермы, во что обходится обслуживание заказа и сколько часов и как регулярно покупают клиенты. Ручное сопровождение может создавать дополнительные расходы, которые в расчёт не включены.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рисков в порядке важности, три ключевых выделены. Первый — платёжеспособный спрос: готовы ли клиенты платить за подбор и сопровождение, если есть более дешёвые GPU-маркетплейсы. Проверяем интервью и попытками организовать платные пилоты. Второй — экономика партнёрских условий: найдутся ли фермы, которые предоставят подходящие ресурсы по цене, оставляющей нам достаточную маржу. Проверяем переговорами и расчётом стоимости. Третий — доступность и качество мощностей: есть ли у партнёров подходящие видеокарты и нужная инфраструктура; проверяем изучением оборудования и реальными тестами. Четвёртый — операционные затраты: ручное сопровождение небольших заказов может оказаться дороже маржи, поэтому на каждом пилоте фиксируем время и затраты. Пятый — право и безопасность данных: нужно определить правовую модель и правила работы с данными клиентов, в пилоте используем тестовые данные. Шестой — технологическое масштабирование: без технического специалиста трудно создать собственную платформу. Для первого ручного теста полноценная технологическая команда не обязательна, если ресурсы и техническое обслуживание обеспечивает партнёр, но для следующего этапа технический сооснователь или партнёр понадобится.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 на полгода построен как последовательная проверка. Первый месяц — проверка коммерческой гипотезы: 15–20 интервью с потенциальными B2B-клиентами, где выясняем их текущие затраты на GPU и объём потребления; поиск 3–5 потенциальных партнёрских ферм и переговоры о стоимости и доступности оборудования; проверка цен и качества предложений конкурентов и предварительная экономика заказа. Итог месяца — понимание, есть ли потенциально выгодный ценовой коридор между клиентом и фермой. Второй и третий месяцы — ручной пилот, если интерес подтвердят обе стороны: 2–3 небольших пилотных заказа, проверка работы оборудования, фактической стоимости обслуживания, качества и сроков исполнения и повторного спроса. Первые платные сделки — если получится, мы их не обещаем. Итог — первые практические данные о коммерческой реализуемости модели. Четвёртый–шестой месяцы — развитие при положительных результатах: больше партнёров и клиентов, автоматизация самых трудоёмких операций, оценка возможности разработать собственную платформу, поиск технического сооснователя или партнёра и уточнение модели масштабирования. Если результаты отрицательные — корректируем гипотезу или отказываемся от неё. Бюджет разделяем на два этапа. Коммерческая проверка — интервью и продажи, тестовая аренда оборудования, минимальные операционные расходы и при необходимости техническая консультация; точные суммы уточним после первого месяца. Прежняя оценка 0,1–0,7 миллиона рублей относилась к сценарию с разработкой технического прототипа и к новому плану напрямую не относится. Разработка собственной платформы, автоматизация, инфраструктура и дополнительные специалисты — отдельный следующий этап, который финансируется только после подтверждения модели. Грант «Студенческий стартап» — возможный источник, не гарантирован.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Тимур Новиков — продакт-менеджер, отвечает за продукт и бизнес-модель: проверку экономики, работу с потенциальными партнёрскими фермами, условия сервиса, технические требования и план дальнейшего развития продукта. Игорь Кузьмин — менеджер по продажам, отвечает за клиентов и продажи: интервью с потенциальными заказчиками, проверку их потребностей, поиск первых пилотных клиентов, организацию продаж и сбор обратной связи. От преакселератора мы ждём экспертной оценки бизнес-модели, помощи с проверкой спроса, контактов потенциальных B2B-клиентов и, если получится, знакомств с поставщиками GPU, помощи с финансовым моделированием, технической экспертизы для выбора дальнейшей архитектуры, наставничества и проверки гипотез. С помощью преакселератора мы хотим проверить спрос и экономику GPU-аренды через партнёрские фермы. Если модель окажется жизнеспособной, следующим шагом станет автоматизация сервиса и развитие собственной распределённой платформы.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обложка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3337620"/>
            <a:ext cx="10820400" cy="147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200" b="1" spc="-200" kern="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buNone/>
            </a:pPr>
            <a:endParaRPr lang="en-US" sz="9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тёмный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spc="-5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светлый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spc="-50" kern="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Логотип Улья: шестиугольная ячейка сот с янтарным кубом внутр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143000"/>
            <a:ext cx="4318000" cy="431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2800" y="3337620"/>
            <a:ext cx="1082040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200" b="1" spc="-200" kern="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Улей</a:t>
            </a:r>
            <a:endParaRPr lang="en-US" sz="920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4887020"/>
            <a:ext cx="5867400" cy="7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ru-RU" alt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Превращаем простаивающие видеокарты </a:t>
            </a:r>
            <a:br/>
            <a:pPr algn="l" indent="0" marL="0">
              <a:lnSpc>
                <a:spcPts val="2750"/>
              </a:lnSpc>
              <a:buNone/>
            </a:pPr>
            <a:r>
              <a:rPr lang="ru-RU" alt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доступные вычислительные мощности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5795070"/>
            <a:ext cx="5867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Преакселератор ВШМ СПбГУ,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Проблема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586409"/>
            <a:ext cx="349743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6000" spc="-1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63–71 ₽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577009"/>
            <a:ext cx="4807268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 аренды RTX 3090 в облаке </a:t>
            </a:r>
            <a:br/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232249"/>
            <a:ext cx="4807268" cy="995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Круглосуточно — около 45–50 тыс. ₽ в месяц.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Небольшим командам важна не только цена,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но и доступность нужной карты, простая аренда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предсказуемые условия.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89650" y="1688009"/>
            <a:ext cx="12700" cy="2539603"/>
          </a:xfrm>
          <a:prstGeom prst="rect">
            <a:avLst/>
          </a:prstGeom>
          <a:solidFill>
            <a:srgbClr val="E2D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11950" y="1834059"/>
            <a:ext cx="1781877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4200" spc="-150" kern="0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2022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6711950" y="2577009"/>
            <a:ext cx="4807268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Ethereum отказался от майнинга </a:t>
            </a:r>
            <a:br/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видеокартах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11950" y="3232249"/>
            <a:ext cx="4807268" cy="995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Часть ферм и владельцев мощных ПК загружена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полностью. Для них дополнительные заказы —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способ лучше использовать уже купленное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оборудование.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4718050"/>
            <a:ext cx="10566400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2800" y="4927600"/>
            <a:ext cx="107188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Командам нужны доступные и понятные GPU-мощности, а часть </a:t>
            </a:r>
            <a:br/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уже купленного оборудования можно использовать </a:t>
            </a:r>
            <a:br/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эффективнее.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Цены: immers.cloud, октябрь 2026. Ethereum: переход на proof-of-stake, сентябрь 2022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Решение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81720"/>
            <a:ext cx="9550400" cy="481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 соединяет небольшие технологические команды с владельцами GPU-мощностей. Первый этап — </a:t>
            </a:r>
            <a:br/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B2B-аренда</a:t>
            </a:r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через партнёрские фермы, без собственной платформы.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75" y="2042716"/>
            <a:ext cx="2571750" cy="3255169"/>
          </a:xfrm>
          <a:prstGeom prst="roundRect">
            <a:avLst>
              <a:gd name="adj" fmla="val 592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3150" y="2274491"/>
            <a:ext cx="2119122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Партнёрские </a:t>
            </a:r>
            <a:br/>
            <a:pPr algn="l" indent="0" marL="0">
              <a:lnSpc>
                <a:spcPts val="1840"/>
              </a:lnSpc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GPU-фермы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73150" y="283071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Дают оборудование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вычислительные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ресурсы. На старте —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несколько партнёров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73150" y="4502944"/>
            <a:ext cx="20574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3150" y="462041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Дополнительные заказы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свободные мощности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41700" y="3051175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мощность</a:t>
            </a:r>
            <a:endParaRPr lang="en-US" sz="1200" dirty="0"/>
          </a:p>
        </p:txBody>
      </p:sp>
      <p:pic>
        <p:nvPicPr>
          <p:cNvPr id="10" name="Image 0" descr="Стрел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7100" y="3344466"/>
            <a:ext cx="1270000" cy="152400"/>
          </a:xfrm>
          <a:prstGeom prst="rect">
            <a:avLst/>
          </a:prstGeom>
        </p:spPr>
      </p:pic>
      <p:pic>
        <p:nvPicPr>
          <p:cNvPr id="11" name="Image 1" descr="Стрел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3827066"/>
            <a:ext cx="1270000" cy="152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41700" y="4030266"/>
            <a:ext cx="132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3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≈15 ₽ за час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813300" y="2039541"/>
            <a:ext cx="2565400" cy="3261519"/>
          </a:xfrm>
          <a:prstGeom prst="roundRect">
            <a:avLst>
              <a:gd name="adj" fmla="val 5941"/>
            </a:avLst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67300" y="2242741"/>
            <a:ext cx="211912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067300" y="259070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Находит B2B-клиентов,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подбирает мощности,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организует аренду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сопровождает заказ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067300" y="4509294"/>
            <a:ext cx="20574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67300" y="462676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Доля с каждого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оплаченного часа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429500" y="3051175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мощность</a:t>
            </a:r>
            <a:endParaRPr lang="en-US" sz="1200" dirty="0"/>
          </a:p>
        </p:txBody>
      </p:sp>
      <p:pic>
        <p:nvPicPr>
          <p:cNvPr id="19" name="Image 2" descr="Стрел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900" y="3344466"/>
            <a:ext cx="1270000" cy="152400"/>
          </a:xfrm>
          <a:prstGeom prst="rect">
            <a:avLst/>
          </a:prstGeom>
        </p:spPr>
      </p:pic>
      <p:pic>
        <p:nvPicPr>
          <p:cNvPr id="20" name="Image 3" descr="Стрел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4900" y="3827066"/>
            <a:ext cx="1270000" cy="152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29500" y="4030266"/>
            <a:ext cx="132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3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≈35 ₽ за час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804275" y="2042716"/>
            <a:ext cx="2571750" cy="3255169"/>
          </a:xfrm>
          <a:prstGeom prst="roundRect">
            <a:avLst>
              <a:gd name="adj" fmla="val 592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061450" y="2249091"/>
            <a:ext cx="211912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B2B-клиенты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9061450" y="259705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ML-команды,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лаборатории,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AI-стартапы</a:t>
            </a:r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 небольшие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IT-компании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9061450" y="4280098"/>
            <a:ext cx="20574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061450" y="4397573"/>
            <a:ext cx="2119122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Подходящие GPU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понятные условия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аренды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812800" y="5485209"/>
            <a:ext cx="105664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12800" y="5618559"/>
            <a:ext cx="107188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35 и 15 ₽ — предварительные ориентиры, условия партнёрства не проверены.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Состав 15 ₽ — CPU, RAM, накопители, сеть, обслуживание —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согласуем с фермами.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Как это работает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558429"/>
            <a:ext cx="2520950" cy="1462286"/>
          </a:xfrm>
          <a:prstGeom prst="roundRect">
            <a:avLst>
              <a:gd name="adj" fmla="val 10422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1739404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32880" y="1790204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9650" y="2171204"/>
            <a:ext cx="2197608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Компания запрашивает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вычислительные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95675" y="1558429"/>
            <a:ext cx="2520950" cy="1462286"/>
          </a:xfrm>
          <a:prstGeom prst="roundRect">
            <a:avLst>
              <a:gd name="adj" fmla="val 10422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89350" y="1739404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86485" y="1790204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89350" y="2171204"/>
            <a:ext cx="2197608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 подбирает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конфигурацию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 партнёрской фермы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5375" y="1558429"/>
            <a:ext cx="2520950" cy="1462286"/>
          </a:xfrm>
          <a:prstGeom prst="roundRect">
            <a:avLst>
              <a:gd name="adj" fmla="val 10422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9050" y="1739404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5590" y="1790204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69050" y="2171204"/>
            <a:ext cx="2197608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Ферма предоставляет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среду, Улей сопровождает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заказ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855075" y="1558429"/>
            <a:ext cx="2520950" cy="1462286"/>
          </a:xfrm>
          <a:prstGeom prst="roundRect">
            <a:avLst>
              <a:gd name="adj" fmla="val 10422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48750" y="1739404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0" y="1790204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048750" y="2171204"/>
            <a:ext cx="2197608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 платит, ферма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получает вознаграждение,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 — долю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2800" y="3375223"/>
            <a:ext cx="6169620" cy="2669877"/>
          </a:xfrm>
          <a:prstGeom prst="roundRect">
            <a:avLst>
              <a:gd name="adj" fmla="val 5708"/>
            </a:avLst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6800" y="3553023"/>
            <a:ext cx="58140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Расчётный сценарий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66800" y="3899098"/>
            <a:ext cx="581402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Лаборатории нужно 100 часов RTX 3090 с 24 ГБ памяти для обработки набора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изображений.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6800" y="4401939"/>
            <a:ext cx="196215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3 500 ₽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1066800" y="4857849"/>
            <a:ext cx="19621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Улья: 100 ч × 35 ₽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28975" y="4452739"/>
            <a:ext cx="0" cy="835521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86150" y="4401939"/>
            <a:ext cx="3339538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6 300–7 100 ₽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3486150" y="4876899"/>
            <a:ext cx="3339538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Immers.cloud: 63–71 ₽ за час, с vCPU, RAM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диском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66800" y="5415260"/>
            <a:ext cx="581402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Есть GPU-площадки дешевле, поэтому экономия не гарантирована: ставка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только на цену, но и на организацию 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B2B-аренды.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7995" y="3378398"/>
            <a:ext cx="4238030" cy="2663527"/>
          </a:xfrm>
          <a:prstGeom prst="roundRect">
            <a:avLst>
              <a:gd name="adj" fmla="val 5722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69770" y="3559373"/>
            <a:ext cx="3887714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Кто за что отвечает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369770" y="3905448"/>
            <a:ext cx="3887714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подбор конфигурации, организация аренды,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69770" y="4433689"/>
            <a:ext cx="3887714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оборудование и вычислительная среда —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 условиям партнёрства.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369770" y="4947325"/>
            <a:ext cx="388771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Пока нет:</a:t>
            </a:r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своей платформы, поддержки 24/7 и SLA.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Первые клиенты и направления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9150" y="1515070"/>
            <a:ext cx="6389092" cy="4523780"/>
          </a:xfrm>
          <a:prstGeom prst="roundRect">
            <a:avLst>
              <a:gd name="adj" fmla="val 3369"/>
            </a:avLst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4900" y="1756370"/>
            <a:ext cx="59699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Основная гипотеза для пилота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04900" y="2056011"/>
            <a:ext cx="59699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B2B-аренда GPU для </a:t>
            </a:r>
            <a:pPr algn="l" indent="0" marL="0">
              <a:buNone/>
            </a:pPr>
            <a:r>
              <a:rPr lang="ru-RU" alt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ML-команд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104900" y="2489696"/>
            <a:ext cx="5817592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4900" y="2575421"/>
            <a:ext cx="59699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Кто покупает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04900" y="2811562"/>
            <a:ext cx="596999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Небольшие ML-команды, лаборатории вузов, AI-стартапы, IT-компании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04900" y="3170932"/>
            <a:ext cx="5817592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4900" y="3256657"/>
            <a:ext cx="59699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чего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04900" y="3492798"/>
            <a:ext cx="596999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Эксперименты, обработка данных, дообучение моделей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04900" y="3852168"/>
            <a:ext cx="5817592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4900" y="3937893"/>
            <a:ext cx="59699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Почему Улей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04900" y="4193084"/>
            <a:ext cx="596999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Подбор GPU под задачу, помощь с арендой и связью с поставщиком,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потенциально конкурентная цена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104900" y="4756249"/>
            <a:ext cx="5817592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4900" y="4841974"/>
            <a:ext cx="59699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Что проверяем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4900" y="5078115"/>
            <a:ext cx="596999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Готовы ли платить за подбор и сопровождение, а не только за час работы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70167" y="1511895"/>
            <a:ext cx="4005858" cy="1403152"/>
          </a:xfrm>
          <a:prstGeom prst="roundRect">
            <a:avLst>
              <a:gd name="adj" fmla="val 10861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01942" y="1699220"/>
            <a:ext cx="364857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Будущая гипотеза 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01942" y="1992511"/>
            <a:ext cx="3648577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Пакетная обработка аудио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 видео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601942" y="2480747"/>
            <a:ext cx="364857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Расшифровка записей, субтитры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70167" y="3073797"/>
            <a:ext cx="4005858" cy="1403152"/>
          </a:xfrm>
          <a:prstGeom prst="roundRect">
            <a:avLst>
              <a:gd name="adj" fmla="val 10861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01942" y="3261122"/>
            <a:ext cx="364857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Будущая гипотеза 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601942" y="3554413"/>
            <a:ext cx="3648577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Обработка изображений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 документов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601942" y="4042648"/>
            <a:ext cx="364857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Фото товаров, распознавание сканов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366992" y="4632523"/>
            <a:ext cx="413257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Оценим позже. Приоритет пилота —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B2B-аренда GPU</a:t>
            </a:r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Рынок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928515"/>
            <a:ext cx="62484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6400" b="1" spc="-250" kern="0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8,2 млрд ₽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976265"/>
            <a:ext cx="6248400" cy="517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ru-RU" altLang="en-US" sz="15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потратили компании в России на облачные серверы </a:t>
            </a:r>
            <a:br/>
            <a:pPr algn="l" indent="0" marL="0">
              <a:lnSpc>
                <a:spcPts val="2025"/>
              </a:lnSpc>
              <a:buNone/>
            </a:pPr>
            <a:r>
              <a:rPr lang="ru-RU" altLang="en-US" sz="15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 видеокартами в 2025 году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3725565"/>
            <a:ext cx="1290836" cy="0"/>
          </a:xfrm>
          <a:prstGeom prst="line">
            <a:avLst/>
          </a:prstGeom>
          <a:noFill/>
          <a:ln w="12700">
            <a:solidFill>
              <a:srgbClr val="3B2A0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2800" y="3795415"/>
            <a:ext cx="134163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+69%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256405"/>
            <a:ext cx="13416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рост к 2024 году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08436" y="3725565"/>
            <a:ext cx="2928640" cy="0"/>
          </a:xfrm>
          <a:prstGeom prst="line">
            <a:avLst/>
          </a:prstGeom>
          <a:noFill/>
          <a:ln w="12700">
            <a:solidFill>
              <a:srgbClr val="3B2A0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08436" y="3795415"/>
            <a:ext cx="3016499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36,5 млрд ₽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408436" y="4256405"/>
            <a:ext cx="301649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прогноз исследователей на 2030 год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24725" y="1650504"/>
            <a:ext cx="4044950" cy="3236913"/>
          </a:xfrm>
          <a:prstGeom prst="roundRect">
            <a:avLst>
              <a:gd name="adj" fmla="val 5493"/>
            </a:avLst>
          </a:prstGeom>
          <a:solidFill>
            <a:srgbClr val="FFF4DE">
              <a:alpha val="42000"/>
            </a:srgbClr>
          </a:solidFill>
          <a:ln w="19050">
            <a:solidFill>
              <a:srgbClr val="3B2A0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12050" y="1812429"/>
            <a:ext cx="37804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Весь рынок облачных GPU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512050" y="2147074"/>
            <a:ext cx="37804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8,2 млрд ₽, включая серверные ускорители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12050" y="2476599"/>
            <a:ext cx="3670300" cy="2223492"/>
          </a:xfrm>
          <a:prstGeom prst="roundRect">
            <a:avLst>
              <a:gd name="adj" fmla="val 6283"/>
            </a:avLst>
          </a:prstGeom>
          <a:solidFill>
            <a:srgbClr val="3B2A0E">
              <a:alpha val="12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64450" y="2628999"/>
            <a:ext cx="3466465" cy="443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Потребительские видеокарты уровня </a:t>
            </a:r>
            <a:br/>
            <a:pPr algn="l" indent="0" marL="0">
              <a:lnSpc>
                <a:spcPts val="1690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RTX 3090 и 4090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64450" y="3147120"/>
            <a:ext cx="3365500" cy="1400572"/>
          </a:xfrm>
          <a:prstGeom prst="roundRect">
            <a:avLst>
              <a:gd name="adj" fmla="val 8161"/>
            </a:avLst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16850" y="3274120"/>
            <a:ext cx="31525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Потенциальный сегмент Улья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16850" y="3572570"/>
            <a:ext cx="3152521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Небольшие технологические команды,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которым нужны GPU-мощности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несрочных задач и понятное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 аренды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2800" y="5334000"/>
            <a:ext cx="10718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Размер доступного сегмента определим по результатам анализа предложений </a:t>
            </a:r>
            <a:br/>
            <a:pPr algn="l" indent="0" marL="0">
              <a:lnSpc>
                <a:spcPts val="2000"/>
              </a:lnSpc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конкурентов и интервью с потенциальными клиентами.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Apple Hills Digital и Selectel, исследование «Облачные сервисы для ИИ», октябрь 2026; прогноз на 2030 год — по публикации RB.ru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Конкуренты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2800" y="2274292"/>
            <a:ext cx="14478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60600" y="2274292"/>
            <a:ext cx="227965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62200" y="1563291"/>
            <a:ext cx="2138744" cy="393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Российские </a:t>
            </a:r>
            <a:br/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GPU-облака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362200" y="1961952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 и др.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40250" y="2274292"/>
            <a:ext cx="227965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1850" y="1563291"/>
            <a:ext cx="2138744" cy="393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Распределённые </a:t>
            </a:r>
            <a:br/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площадки в РФ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41850" y="1961952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Тераферма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19900" y="2274292"/>
            <a:ext cx="227965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21500" y="1563291"/>
            <a:ext cx="2138744" cy="393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Зарубежные </a:t>
            </a:r>
            <a:br/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GPU-площадки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21500" y="1961952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Vast.ai, RunPod, SaladCloud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9550" y="1473002"/>
            <a:ext cx="2279650" cy="807641"/>
          </a:xfrm>
          <a:prstGeom prst="round2SameRect">
            <a:avLst/>
          </a:prstGeom>
          <a:solidFill>
            <a:schemeClr val="accent3"/>
          </a:solidFill>
          <a:ln/>
        </p:spPr>
      </p:sp>
      <p:sp>
        <p:nvSpPr>
          <p:cNvPr id="14" name="Shape 12"/>
          <p:cNvSpPr/>
          <p:nvPr/>
        </p:nvSpPr>
        <p:spPr>
          <a:xfrm>
            <a:off x="9099550" y="2274292"/>
            <a:ext cx="227965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01150" y="1727696"/>
            <a:ext cx="565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201150" y="1961952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небольших ML-команд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800" y="2356842"/>
            <a:ext cx="13970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 RTX 3090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62200" y="2356842"/>
            <a:ext cx="2138744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Immers.cloud: 63–71 ₽; есть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дешевле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641850" y="2337792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≈22–31 ₽ на сайте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21500" y="2356842"/>
            <a:ext cx="2138744" cy="605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RunPod $0,22–0,50; Salad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$0,09–0,17; Vast.ai —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 хосту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99550" y="2280642"/>
            <a:ext cx="2279650" cy="74652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01150" y="2337792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— около 35 ₽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2800" y="3030339"/>
            <a:ext cx="14478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2800" y="3090664"/>
            <a:ext cx="13970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Формат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60600" y="3030339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62200" y="3109714"/>
            <a:ext cx="2138744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Серверы с vCPU, RAM,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диском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40250" y="3030339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41850" y="3090664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Карты частных владельцев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9900" y="3030339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21500" y="3090664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Маркетплейсы инстансов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99550" y="3027164"/>
            <a:ext cx="2279650" cy="5548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9099550" y="3030339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01150" y="3109714"/>
            <a:ext cx="2138744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B2B-сервис через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партнёрские фермы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2800" y="3585170"/>
            <a:ext cx="14478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2800" y="3664545"/>
            <a:ext cx="13970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Подбор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сопровождение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60600" y="3585170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62200" y="3645495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Поддержка провайдера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40250" y="3585170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641850" y="3645495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Нужно уточнить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819900" y="3585170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21500" y="3645495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Чаще самообслуживание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099550" y="3581995"/>
            <a:ext cx="2279650" cy="5548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3" name="Shape 41"/>
          <p:cNvSpPr/>
          <p:nvPr/>
        </p:nvSpPr>
        <p:spPr>
          <a:xfrm>
            <a:off x="9099550" y="3585170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01150" y="3645495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Гипотеза пилота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800" y="4140002"/>
            <a:ext cx="14478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2800" y="4200327"/>
            <a:ext cx="13970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Надёжность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260600" y="4140002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362200" y="4200327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Дата-центры, SLA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40250" y="4140002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641850" y="4200327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 владельца карты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19900" y="4140002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921500" y="4200327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 хоста и тарифа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9099550" y="4136827"/>
            <a:ext cx="2279650" cy="35679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4" name="Shape 52"/>
          <p:cNvSpPr/>
          <p:nvPr/>
        </p:nvSpPr>
        <p:spPr>
          <a:xfrm>
            <a:off x="9099550" y="4140002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01150" y="4200327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 партнёров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12800" y="4496792"/>
            <a:ext cx="14478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12800" y="4557117"/>
            <a:ext cx="13970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Оплата из России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260600" y="4496792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362200" y="4557117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Рубли, договор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540250" y="4496792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641850" y="4557117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Рубли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819900" y="4496792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921500" y="4576167"/>
            <a:ext cx="2138744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Доллары; карты РФ обычно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проходят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 rot="10800000">
            <a:off x="9099550" y="4493617"/>
            <a:ext cx="2279650" cy="554831"/>
          </a:xfrm>
          <a:prstGeom prst="round2SameRect">
            <a:avLst/>
          </a:prstGeom>
          <a:solidFill>
            <a:schemeClr val="accent3"/>
          </a:solidFill>
          <a:ln/>
        </p:spPr>
      </p:sp>
      <p:sp>
        <p:nvSpPr>
          <p:cNvPr id="65" name="Shape 63"/>
          <p:cNvSpPr/>
          <p:nvPr/>
        </p:nvSpPr>
        <p:spPr>
          <a:xfrm>
            <a:off x="9099550" y="4496792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201150" y="4557117"/>
            <a:ext cx="213874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Рубли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12800" y="5303242"/>
            <a:ext cx="10718800" cy="263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 проверяет спрос на </a:t>
            </a:r>
            <a:pPr algn="l" indent="0" marL="0">
              <a:buNone/>
            </a:pPr>
            <a:r>
              <a:rPr lang="ru-RU" altLang="en-US" sz="15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B2B-аренду</a:t>
            </a:r>
            <a:pPr algn="l" indent="0" marL="0">
              <a:buNone/>
            </a:pPr>
            <a:r>
              <a:rPr lang="ru-RU" altLang="en-US" sz="15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GPU с подбором и сопровождением.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812800" y="5600105"/>
            <a:ext cx="10718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рынке есть более дешёвые предложения. Наша задача — выяснить, готовы ли клиенты платить за удобство сервиса.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A69B89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RTX 3090, 24 ГБ, почасово, октябрь 2026: immers.cloud, teraferma.io, runpod.io, salad.com, vast.ai. Конфигурации и условия различаются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Экономика B2B-аренды GPU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40259"/>
            <a:ext cx="51116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 ₽ за час → 17 ₽ остаётся Улью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927923" y="1516459"/>
            <a:ext cx="149453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базовая гипотеза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2800" y="1859359"/>
            <a:ext cx="4641850" cy="533400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90600" y="1977430"/>
            <a:ext cx="22677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7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₽</a:t>
            </a:r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партнёрской ферме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34100" y="1859359"/>
            <a:ext cx="5245100" cy="533400"/>
          </a:xfrm>
          <a:prstGeom prst="roundRect">
            <a:avLst>
              <a:gd name="adj" fmla="val 21429"/>
            </a:avLst>
          </a:prstGeom>
          <a:solidFill>
            <a:schemeClr val="tx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26200" y="1977430"/>
            <a:ext cx="36710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7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 ₽</a:t>
            </a:r>
            <a:pPr algn="l" indent="0" marL="0"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— на постоянные расходы и прибыль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340350" y="1859359"/>
            <a:ext cx="908050" cy="533400"/>
          </a:xfrm>
          <a:prstGeom prst="rect">
            <a:avLst/>
          </a:prstGeom>
          <a:solidFill>
            <a:srgbClr val="E2D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586809" y="1977430"/>
            <a:ext cx="46583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7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₽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2800" y="2494359"/>
            <a:ext cx="107188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 — цена фермы за полноценную рабочую конфигурацию, не только за видеокарту. 3 ₽ — условные переменные расходы. 17 ₽ — не чистая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прибыль: до налогов и постоянных расходов.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975" y="3185914"/>
            <a:ext cx="4046637" cy="2045593"/>
          </a:xfrm>
          <a:prstGeom prst="roundRect">
            <a:avLst>
              <a:gd name="adj" fmla="val 7450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9650" y="3316089"/>
            <a:ext cx="376906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Сценарии ценовой конкуренции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8550" y="3606899"/>
            <a:ext cx="92114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Клиенту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968897" y="3606899"/>
            <a:ext cx="92114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Ферме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39244" y="3606899"/>
            <a:ext cx="92114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Расходы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709591" y="3606899"/>
            <a:ext cx="92114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Остаток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09650" y="3876774"/>
            <a:ext cx="3659287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550" y="3911699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25 ₽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968897" y="3911699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839244" y="3911699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709591" y="3911699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7 ₽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09650" y="4235549"/>
            <a:ext cx="3659287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8550" y="4270474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30 ₽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968897" y="4270474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2839244" y="4270474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709591" y="4270474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12 ₽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009650" y="4591149"/>
            <a:ext cx="3659287" cy="352425"/>
          </a:xfrm>
          <a:prstGeom prst="roundRect">
            <a:avLst>
              <a:gd name="adj" fmla="val 21622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98550" y="4622899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35 ₽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968897" y="4622899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839244" y="4622899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709591" y="4622899"/>
            <a:ext cx="921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17 ₽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021362" y="3185914"/>
            <a:ext cx="3097907" cy="2045593"/>
          </a:xfrm>
          <a:prstGeom prst="roundRect">
            <a:avLst>
              <a:gd name="adj" fmla="val 7450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215037" y="3322439"/>
            <a:ext cx="279187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Один заказ: 100 часов × 35 ₽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15037" y="3618905"/>
            <a:ext cx="2710557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15037" y="3641130"/>
            <a:ext cx="65712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Выручка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381677" y="3641130"/>
            <a:ext cx="59471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3 500 ₽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215037" y="3899495"/>
            <a:ext cx="2710557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215037" y="3921720"/>
            <a:ext cx="53290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Ферме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21252" y="3921720"/>
            <a:ext cx="655141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−1 500 ₽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215037" y="4180086"/>
            <a:ext cx="2710557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215037" y="4202311"/>
            <a:ext cx="14068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Условные расходы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419181" y="4202311"/>
            <a:ext cx="55721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−300 ₽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215037" y="4463852"/>
            <a:ext cx="2710557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215037" y="4540052"/>
            <a:ext cx="6747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Остаток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072213" y="4501952"/>
            <a:ext cx="9041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spc="-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1 700 ₽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278019" y="3185914"/>
            <a:ext cx="3097907" cy="2045593"/>
          </a:xfrm>
          <a:prstGeom prst="roundRect">
            <a:avLst>
              <a:gd name="adj" fmla="val 7450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471694" y="3322439"/>
            <a:ext cx="279187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Объём продаж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471694" y="3583980"/>
            <a:ext cx="27918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≈14,7 тыс. ч</a:t>
            </a:r>
            <a:endParaRPr lang="en-US" sz="2000" dirty="0"/>
          </a:p>
        </p:txBody>
      </p:sp>
      <p:sp>
        <p:nvSpPr>
          <p:cNvPr id="50" name="Text 48"/>
          <p:cNvSpPr txBox="1"/>
          <p:nvPr/>
        </p:nvSpPr>
        <p:spPr>
          <a:xfrm>
            <a:off x="8471694" y="3971330"/>
            <a:ext cx="2791874" cy="620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месяц покроют условные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250 тыс. ₽ постоянных расходов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при остатке 17 ₽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471694" y="4664571"/>
            <a:ext cx="2791874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Сценарий развитого сервиса,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цель пилота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12800" y="5505351"/>
            <a:ext cx="96093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Проверяем: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951534" y="5496421"/>
            <a:ext cx="254000" cy="254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036663" y="5509121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2281734" y="5505351"/>
            <a:ext cx="133439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 для клиента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793927" y="5496421"/>
            <a:ext cx="254000" cy="254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52962" y="5509121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124127" y="5505351"/>
            <a:ext cx="11730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Условия фермы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5474990" y="5496421"/>
            <a:ext cx="254000" cy="254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533430" y="5509121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805190" y="5505351"/>
            <a:ext cx="2042271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Стоимость сопровождения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016577" y="5496421"/>
            <a:ext cx="254000" cy="254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073727" y="5509121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8346777" y="5505351"/>
            <a:ext cx="112881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Объём заказов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812800" y="5820271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Все значения — гипотезы. Ручное сопровождение может добавить расходы, не включённые в расчёт.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Риски по степени важности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9150" y="1413470"/>
            <a:ext cx="3407767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" y="16458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51930" y="1696641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73200" y="1597620"/>
            <a:ext cx="2620492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Платёжеспособный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спрос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081411"/>
            <a:ext cx="307832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374702"/>
            <a:ext cx="3078327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Будут ли клиенты доплачивать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сервис при дешёвых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маркетплейсах?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231535"/>
            <a:ext cx="307832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интервью и платные пилоты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2017" y="141347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1567" y="16458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98702" y="1696641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46067" y="1597620"/>
            <a:ext cx="262059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Экономика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партнёрских условий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1567" y="2081411"/>
            <a:ext cx="307842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1567" y="2374702"/>
            <a:ext cx="3078429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Дадут ли фермы ресурсы по цене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 достаточной маржой?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01567" y="3231535"/>
            <a:ext cx="307842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переговоры с фермами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64984" y="141347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534" y="16458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1073" y="1696641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19034" y="1597620"/>
            <a:ext cx="262059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Доступность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качество мощностей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74534" y="2100461"/>
            <a:ext cx="3078429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Есть ли у партнёров нужные GPU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инфраструктура?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74534" y="3231535"/>
            <a:ext cx="307842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тесты оборудования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9150" y="3808710"/>
            <a:ext cx="3407767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8700" y="404108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23950" y="4091880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73200" y="3992860"/>
            <a:ext cx="2620492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Операционные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затраты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28700" y="4476651"/>
            <a:ext cx="307832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" y="4769941"/>
            <a:ext cx="3078327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съест ли ручное сопровождение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маржу небольших заказов?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28700" y="5626775"/>
            <a:ext cx="307832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учёт затрат по пилотам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92017" y="380871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01567" y="404108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00687" y="4091880"/>
            <a:ext cx="182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046067" y="3992860"/>
            <a:ext cx="262059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Право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безопасность данных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601567" y="4495701"/>
            <a:ext cx="3078429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Нужны правовая модель и правила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работы с данными; в пилоте —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тестовые данные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964984" y="380871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74534" y="404108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269486" y="4091880"/>
            <a:ext cx="190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619034" y="3992860"/>
            <a:ext cx="262059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Технологическое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масштабирование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174534" y="4495701"/>
            <a:ext cx="3078429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Платформе нужен техспециалист,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ручному пилоту — нет: ресурсы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обслуживает партнёр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План на полгода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548110"/>
            <a:ext cx="3414216" cy="2917329"/>
          </a:xfrm>
          <a:prstGeom prst="roundRect">
            <a:avLst>
              <a:gd name="adj" fmla="val 5224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260501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1678285"/>
            <a:ext cx="31176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9650" y="1948160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 коммерческой гипотезы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9650" y="2355751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15–20 интервью: затраты на GPU и объём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9650" y="2628106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9650" y="2675731"/>
            <a:ext cx="3117672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3–5 партнёрских ферм: цена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доступность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9650" y="3134717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9650" y="316329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Цены и качество конкурентов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09650" y="3435648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9650" y="3464223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Предварительная экономика заказа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9650" y="3815953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9650" y="3898503"/>
            <a:ext cx="3117672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Итог: есть ли выгодный ценовой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коридор между клиентом и фермой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8941" y="1548110"/>
            <a:ext cx="3414216" cy="2917329"/>
          </a:xfrm>
          <a:prstGeom prst="roundRect">
            <a:avLst>
              <a:gd name="adj" fmla="val 5224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82616" y="2260501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82616" y="1678285"/>
            <a:ext cx="31176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Месяцы 2–3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82616" y="1948160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Ручной пилот — при интересе сторон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82616" y="2355751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2–3 небольших пилотных заказа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82616" y="2628106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82616" y="2656681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Работа оборудования, качество и сроки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82616" y="2929037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82616" y="295761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Фактическая стоимость обслуживания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82616" y="3229967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82616" y="3277592"/>
            <a:ext cx="3117672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Повторный спрос; возможно — первые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сделки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82616" y="4021634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616" y="408513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Итог: данные о реализуемости модели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61908" y="1548110"/>
            <a:ext cx="3414216" cy="2917329"/>
          </a:xfrm>
          <a:prstGeom prst="roundRect">
            <a:avLst>
              <a:gd name="adj" fmla="val 5224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55583" y="2260501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55583" y="1678285"/>
            <a:ext cx="31176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Месяцы 4–6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155583" y="1948160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Развитие — при успехе пилота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155583" y="2355751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Больше партнёров и клиентов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55583" y="2628106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55583" y="2656681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Автоматизация трудоёмких операций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55583" y="2929037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55583" y="2976662"/>
            <a:ext cx="3117672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Оценка платформы, поиск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техсооснователя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55583" y="3435648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55583" y="3464223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Уточнение модели масштабирования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55583" y="3815953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5583" y="3898503"/>
            <a:ext cx="3117672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Если нет — корректируем гипотезу или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отказываемся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9150" y="4815979"/>
            <a:ext cx="10553700" cy="1222871"/>
          </a:xfrm>
          <a:prstGeom prst="roundRect">
            <a:avLst>
              <a:gd name="adj" fmla="val 12462"/>
            </a:avLst>
          </a:prstGeom>
          <a:ln w="12700">
            <a:solidFill>
              <a:srgbClr val="E2D7C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54100" y="4942979"/>
            <a:ext cx="19621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Бюджет</a:t>
            </a:r>
            <a:endParaRPr lang="en-US" sz="1800" dirty="0"/>
          </a:p>
        </p:txBody>
      </p:sp>
      <p:sp>
        <p:nvSpPr>
          <p:cNvPr id="44" name="Text 42"/>
          <p:cNvSpPr txBox="1"/>
          <p:nvPr/>
        </p:nvSpPr>
        <p:spPr>
          <a:xfrm>
            <a:off x="1054100" y="5276949"/>
            <a:ext cx="19621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суммы пилота уточним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после месяца 1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190875" y="4974729"/>
            <a:ext cx="0" cy="905371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22650" y="4949329"/>
            <a:ext cx="373462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Коммерческая проверка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422650" y="5240139"/>
            <a:ext cx="37346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Интервью и продажи, тестовая аренда,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минимальные расходы, техконсультация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при необходимости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280275" y="4974729"/>
            <a:ext cx="0" cy="905371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12050" y="4949329"/>
            <a:ext cx="373462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Технологическое развитие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7512050" y="5240139"/>
            <a:ext cx="37346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Только после подтверждения модели: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платформа, автоматизация, специалисты. Грант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возможен, но не гарантирован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Команда и запрос к преакселератору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410295"/>
            <a:ext cx="4946650" cy="1813024"/>
          </a:xfrm>
          <a:prstGeom prst="roundRect">
            <a:avLst>
              <a:gd name="adj" fmla="val 840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pic>
        <p:nvPicPr>
          <p:cNvPr id="4" name="Image 0" descr="Ячейка со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1961158"/>
            <a:ext cx="711200" cy="711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22350" y="1946553"/>
            <a:ext cx="762000" cy="734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800" b="1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ТН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936750" y="1766391"/>
            <a:ext cx="370192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Тимур Новиков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936750" y="2086372"/>
            <a:ext cx="37019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Продакт-менеджер · продукт и бизнес-модель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36750" y="2379663"/>
            <a:ext cx="3701923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Экономика, партнёрские фермы, условия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сервиса, техтребования и развитие продукта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15975" y="3382070"/>
            <a:ext cx="4946650" cy="1813024"/>
          </a:xfrm>
          <a:prstGeom prst="roundRect">
            <a:avLst>
              <a:gd name="adj" fmla="val 840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pic>
        <p:nvPicPr>
          <p:cNvPr id="10" name="Image 1" descr="Ячейка со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932932"/>
            <a:ext cx="711200" cy="71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2350" y="3918327"/>
            <a:ext cx="762000" cy="734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800" b="1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ИК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936750" y="3738166"/>
            <a:ext cx="370192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Игорь Кузьмин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36750" y="4058146"/>
            <a:ext cx="37019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Менеджер по продажам · клиенты и продажи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936750" y="4351437"/>
            <a:ext cx="3701923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Интервью с заказчиками, поиск пилотных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клиентов, продажи и обратная связь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918200" y="1407120"/>
            <a:ext cx="5461000" cy="3791049"/>
          </a:xfrm>
          <a:prstGeom prst="roundRect">
            <a:avLst>
              <a:gd name="adj" fmla="val 402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172200" y="1610320"/>
            <a:ext cx="510159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Чем может помочь преакселератор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172200" y="1934170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72200" y="2057995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Экспертиза бизнес-модели и финансовой модели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172200" y="2430066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2553891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 спроса и контакты B2B-клиентов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172200" y="2925961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172200" y="3049786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Знакомства с GPU-поставщиками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172200" y="3421856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3545681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Техническая экспертиза будущей архитектуры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172200" y="3917752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4041577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Наставничество и проверка гипотез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812800" y="5401370"/>
            <a:ext cx="10058400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 помощью преакселератора мы хотим проверить спрос и экономику GPU-аренды через </a:t>
            </a:r>
            <a:br/>
            <a:pPr algn="l" indent="0" marL="0">
              <a:lnSpc>
                <a:spcPts val="169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партнёрские фермы. Если модель жизнеспособна — автоматизировать сервис и развивать </a:t>
            </a:r>
            <a:br/>
            <a:pPr algn="l" indent="0" marL="0">
              <a:lnSpc>
                <a:spcPts val="169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собственную распределённую платформу.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лей">
  <a:themeElements>
    <a:clrScheme name="Улей">
      <a:dk1>
        <a:srgbClr val="14110D"/>
      </a:dk1>
      <a:lt1>
        <a:srgbClr val="F5EFE4"/>
      </a:lt1>
      <a:dk2>
        <a:srgbClr val="1A1611"/>
      </a:dk2>
      <a:lt2>
        <a:srgbClr val="FBF7EF"/>
      </a:lt2>
      <a:accent1>
        <a:srgbClr val="F0A531"/>
      </a:accent1>
      <a:accent2>
        <a:srgbClr val="8A5207"/>
      </a:accent2>
      <a:accent3>
        <a:srgbClr val="1E1913"/>
      </a:accent3>
      <a:accent4>
        <a:srgbClr val="3A3228"/>
      </a:accent4>
      <a:accent5>
        <a:srgbClr val="CBC1AF"/>
      </a:accent5>
      <a:accent6>
        <a:srgbClr val="5A5044"/>
      </a:accent6>
      <a:hlink>
        <a:srgbClr val="8A5207"/>
      </a:hlink>
      <a:folHlink>
        <a:srgbClr val="6A5E4F"/>
      </a:folHlink>
    </a:clrScheme>
    <a:fontScheme name="Улей">
      <a:majorFont>
        <a:latin typeface="Unbounded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Улей — презентация для преакселератора ВШМ СПбГУ</dc:title>
  <dc:subject>PptxGenJS Presentation</dc:subject>
  <dc:creator>Команда «Улей»</dc:creator>
  <cp:lastModifiedBy>Команда «Улей»</cp:lastModifiedBy>
  <cp:revision>1</cp:revision>
  <dcterms:created xsi:type="dcterms:W3CDTF">2026-10-16T20:18:57Z</dcterms:created>
  <dcterms:modified xsi:type="dcterms:W3CDTF">2026-10-16T20:18:57Z</dcterms:modified>
</cp:coreProperties>
</file>