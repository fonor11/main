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ложка" id="{3edd790e-a6f3-aec8-2719-a2a1a334f4c1}">
          <p14:sldIdLst>
            <p14:sldId id="256"/>
          </p14:sldIdLst>
        </p14:section>
        <p14:section name="Проблема и решение" id="{3035298b-4b1c-322b-b280-228e8ab753f4}">
          <p14:sldIdLst>
            <p14:sldId id="257"/>
            <p14:sldId id="258"/>
            <p14:sldId id="259"/>
          </p14:sldIdLst>
        </p14:section>
        <p14:section name="Клиенты и рынок" id="{df0c558d-3005-983a-ca3b-063871f2381b}">
          <p14:sldIdLst>
            <p14:sldId id="260"/>
            <p14:sldId id="261"/>
            <p14:sldId id="262"/>
          </p14:sldIdLst>
        </p14:section>
        <p14:section name="Экономика и риски" id="{d831602f-f5fd-0ac6-5c74-b8567684f23e}">
          <p14:sldIdLst>
            <p14:sldId id="263"/>
            <p14:sldId id="264"/>
          </p14:sldIdLst>
        </p14:section>
        <p14:section name="План и команда" id="{7e1e3d9b-330d-ecd0-46ed-878b0735cb76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Улей — B2B-сервис вычислительных мощностей на базе партнёрских GPU-ферм. Небольшим технологическим командам нужны видеокарты, а часть уже купленного оборудования используется не полностью. На первом этапе мы проверяем аренду через несколько партнёрских ферм с ручной координацией заказов. Если спрос и экономика подтвердятся, следующий шаг — автоматизация сервиса и, со временем, собственная распределённая сеть. Проект на стадии идеи: MVP, клиентов и договорённостей с фермами пока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одной стороны, небольшим технологическим командам нужны вычислительные мощности, и у них есть понятная рыночная цена. Час аренды RTX 3090 в облаке Immers.cloud стоит от 63 до 71 рубля в зависимости от конфигурации процессора и памяти, круглосуточная аренда — около 45–50 тысяч рублей в месяц. Но для небольших команд важна не только цена: важно, чтобы нужная карта была доступна, аренда — простой, а условия — предсказуемыми. Мы не утверждаем, что существующие облака неудобны всем; насколько это важно именно нашим клиентам, проверим в интервью. С другой стороны, есть уже купленное оборудование, которое загружено не полностью. В 2022 году Ethereum перестал использовать майнинг на видеокартах, и с тех пор доход фермы зависит от модели карт, тарифа на электричество и курса монет. Для части ферм и владельцев мощных компьютеров дополнительные заказы — коммерческая возможность лучше использовать уже сделанные вложения.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Улей соединяет небольшие технологические команды с владельцами GPU-мощностей. На первом этапе мы не строим собственную распределённую платформу, а проверяем B2B-аренду через несколько партнёрских ферм. Фермы предоставляют оборудование и вычислительные ресурсы; на старте нам нужно найти ограниченное число партнёров с подходящими конфигурациями. Улей находит клиентов, подбирает мощности под задачу, организует аренду и сопровождает заказ. Клиенты — небольшие ML-команды, лаборатории, AI-стартапы и технологические компании. Деньги в нашей гипотезе: клиент платит около 35 рублей за оплаченный час, ферма получает около 15. Это предварительные ориентиры: мы ещё не знаем, готовы ли фермы предоставить за 15 рублей полноценную рабочую конфигурацию, а не только видеокарту. Кто отвечает за процессор, память, накопители, сеть, доступность и техническое обслуживание, определим в условиях партнёрства — по умолчанию мы не берём это на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выглядит в первом коммерческом пилоте. Первое: компания обращается к нам с запросом на вычислительные мощности. Второе: Улей подбирает подходящую конфигурацию у партнёрской фермы. Третье: ферма предоставляет вычислительную среду, а Улей сопровождает заказ в согласованных пределах. Четвёртое: клиент оплачивает услугу, ферма получает вознаграждение, Улей — свою долю. Расчётный сценарий, а не коммерческое предложение: лаборатории нужно около ста часов работы RTX 3090 с 24 гигабайтами памяти. По нашей целевой цене 35 рублей за час это 3500 рублей, но цена пилотом не подтверждена. В облаке Immers.cloud такой объём стоит 6300–7100 рублей, и в эту цену входят процессор, память, диск и уровень сервиса дата-центра, поэтому сравнение не полностью сопоставимо. На рынке есть и более дешёвые GPU-площадки, так что мы рассчитываем не только на цену, но и на организацию аренды для B2B-клиентов. Экономию мы не гарантируем. В пилоте Улей отвечает за подбор, организацию аренды и сопровождение, ферма — за оборудование и вычислительную среду по условиям партнёрства. Собственной платформы, круглосуточной поддержки и гарантированного SLA у нас пока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Основная гипотеза для пилота — B2B-аренда GPU небольшим ML-командам. Покупают ML-команды, лаборатории вузов, AI-стартапы и небольшие технологические компании; им нужны мощности для экспериментов, обработки наборов данных и дообучения моделей. Почему они могут выбрать Улей: мы подбираем GPU под задачу, помогаем организовать аренду, сопровождаем взаимодействие с поставщиком и стремимся к конкурентной цене. Круглосуточную техническую поддержку, гарантированный SLA или готовые инструменты автоматизации мы не обещаем. Главное, что проверяем: готовы ли команды платить за подбор и сопровождение, а не только за цену часа. Пакетная обработка аудио и видео и обработка изображений и документов — будущие гипотезы, оценим их позже. Приоритет первого пилота — B2B-аренда вычислительной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исследованию Apple Hills Digital и Selectel «Облачные сервисы для ИИ: серверы с GPU и AI/ML-платформы», представленному 8 октября 2026 года, потребление облачных серверов с видеокартами в публичном облаке в России в 2025 году составило 8,2 миллиарда рублей и выросло на 68,7% к 2024 году. По публикации RB.ru о том же исследовании, базовый прогноз — 36,5 миллиарда рублей к 2030 году; это прогноз исследователей, а не гарантированная величина. Важно: 8,2 миллиарда — это весь рынок, включая серверные ускорители. Внутри него есть сегмент потребительских видеокарт уровня RTX 3090 и 4090, а наш потенциальный сегмент ещё уже — небольшие технологические команды, которым нужны GPU-мощности для несрочных задач и понятное сопровождение аренды. Его размер мы не знаем и определим по результатам анализа предложений конкурентов и интервью с потенциальными клиентами.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Сравниваем RTX 3090 при почасовой аренде, но это не полностью взаимозаменяемые продукты: ставки зависят от конфигурации, процессора, памяти, диска, времени и тарифа. Российские GPU-облака, например Immers.cloud, берут 63–71 рубль за час, и в цену входят серверная инфраструктура и поддержка; у других облачных провайдеров встречаются цены ниже. Тераферма — российская площадка с картами частных владельцев, опубликованные цены RTX 3090 — примерно 22–31 рубль за час, а наличие нужно проверять. Зарубежные маркетплейсы ещё дешевле — RunPod от 22 до 50 центов, SaladCloud от 9 до 17 центов, у Vast.ai цена зависит от хоста, — но расчёты в долларах, и российские карты там обычно не проходят. Поэтому Улей не стремится быть самым дешёвым маркетплейсом. Наша цель — около 35 рублей за час, а формат — B2B-сервис через партнёрские фермы для небольших ML-команд. Подбор и сопровождение — не уникальная услуга, их могут предлагать и конкуренты; задача пилота — выяснить, есть ли неудовлетворённый спрос на такой сервис. Надёжность у нас зависит от партнёров, а автоматизацию мы развиваем только после подтверждения спроса.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Экономика B2B-аренды — предварительный расчёт, а не достигнутый результат. Базовая гипотеза: клиент платит 35 рублей за оплаченный час, партнёрская ферма получает 15 рублей, ещё 3 рубля — условное допущение по переменным расходам: платежи, поддержка, инфраструктура. Остаётся 17 рублей на постоянные расходы и прибыль. Это расчёт без налогов и без постоянных расходов. 15 рублей — предполагаемая цена фермы за полноценную рабочую конфигурацию, а не только за видеокарту; согласятся ли фермы на такие условия, ещё предстоит проверить. Цена 35 рублей тоже не окончательная: при ценовой конкуренции остаток падает до 12 рублей при цене 30 и до 7 рублей при цене 25. Один заказ на 100 часов по 35 рублей даёт 3500 рублей выручки, 1500 уходит ферме, около 300 — на условные расходы, остаётся 1700 рублей до налогов и постоянных расходов; это не чистая прибыль. Чтобы при остатке 17 рублей покрыть 250 тысяч постоянных расходов в месяц, нужно около 14,7 тысячи оплаченных часов. Но 250 тысяч — условный сценарий развитого сервиса, на этапе ручной проверки расходы могут быть существенно ниже, и 14,7 тысячи часов — не цель первых трёх месяцев. Главное, что мы проверяем: какую цену готовы платить клиенты, сколько на самом деле стоит аренда у фермы, во что обходится обслуживание заказа и сколько часов и как регулярно покупают клиенты. Ручное сопровождение может создавать дополнительные расходы, которые в расчёт не включены.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рисков в порядке важности, три ключевых выделены. Первый — платёжеспособный спрос: готовы ли клиенты платить за подбор и сопровождение, если есть более дешёвые GPU-маркетплейсы. Проверяем интервью и попытками организовать платные пилоты. Второй — экономика партнёрских условий: найдутся ли фермы, которые предоставят подходящие ресурсы по цене, оставляющей нам достаточную маржу. Проверяем переговорами и расчётом стоимости. Третий — доступность и качество мощностей: есть ли у партнёров подходящие видеокарты и нужная инфраструктура; проверяем изучением оборудования и реальными тестами. Четвёртый — операционные затраты: ручное сопровождение небольших заказов может оказаться дороже маржи, поэтому на каждом пилоте фиксируем время и затраты. Пятый — право и безопасность данных: нужно определить правовую модель и правила работы с данными клиентов, в пилоте используем тестовые данные. Шестой — технологическое масштабирование: без технического специалиста трудно создать собственную платформу. Для первого ручного теста полноценная технологическая команда не обязательна, если ресурсы и техническое обслуживание обеспечивает партнёр, но для следующего этапа технический сооснователь или партнёр понадобится.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 на полгода построен как последовательная проверка. Первый месяц — проверка коммерческой гипотезы: 15–20 интервью с потенциальными B2B-клиентами, где выясняем их текущие затраты на GPU и объём потребления; поиск 3–5 потенциальных партнёрских ферм и переговоры о стоимости и доступности оборудования; проверка цен и качества предложений конкурентов и предварительная экономика заказа. Итог месяца — понимание, есть ли потенциально выгодный ценовой коридор между клиентом и фермой. Второй и третий месяцы — ручной пилот, если интерес подтвердят обе стороны: 2–3 небольших пилотных заказа, проверка работы оборудования, фактической стоимости обслуживания, качества и сроков исполнения и повторного спроса. Первые платные сделки — если получится, мы их не обещаем. Итог — первые практические данные о коммерческой реализуемости модели. Четвёртый–шестой месяцы — развитие при положительных результатах: больше партнёров и клиентов, автоматизация самых трудоёмких операций, оценка возможности разработать собственную платформу, поиск технического сооснователя или партнёра и уточнение модели масштабирования. Если результаты отрицательные — корректируем гипотезу или отказываемся от неё. Бюджет разделяем на два этапа. Коммерческая проверка — интервью и продажи, тестовая аренда оборудования, минимальные операционные расходы и при необходимости техническая консультация; точные суммы уточним после первого месяца. Прежняя оценка 0,1–0,7 миллиона рублей относилась к сценарию с разработкой технического прототипа и к новому плану напрямую не относится. Разработка собственной платформы, автоматизация, инфраструктура и дополнительные специалисты — отдельный следующий этап, который финансируется только после подтверждения модели. Грант «Студенческий стартап» — возможный источник, не гарантирован.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Тимур Новиков — продакт-менеджер, отвечает за продукт и бизнес-модель: проверку экономики, работу с потенциальными партнёрскими фермами, условия сервиса, технические требования и план дальнейшего развития продукта. Игорь Кузьмин — менеджер по продажам, отвечает за клиентов и продажи: интервью с потенциальными заказчиками, проверку их потребностей, поиск первых пилотных клиентов, организацию продаж и сбор обратной связи. От преакселератора мы ждём экспертной оценки бизнес-модели, помощи с проверкой спроса, контактов потенциальных B2B-клиентов и, если получится, знакомств с поставщиками GPU, помощи с финансовым моделированием, технической экспертизы для выбора дальнейшей архитектуры, наставничества и проверки гипотез. С помощью преакселератора мы хотим проверить спрос и экономику GPU-аренды через партнёрские фермы. Если модель окажется жизнеспособной, следующим шагом станет автоматизация сервиса и развитие собственной распределённой платформы.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обложка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3337620"/>
            <a:ext cx="10820400" cy="147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200" b="1" spc="-200" kern="0" dirty="0">
                <a:solidFill>
                  <a:schemeClr val="bg1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defRPr>
            </a:lvl1pPr>
          </a:lstStyle>
          <a:p>
            <a:pPr algn="l" indent="0" marL="0">
              <a:buNone/>
            </a:pPr>
            <a:endParaRPr lang="en-US" sz="9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тёмный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spc="-5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светлый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spc="-50" kern="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Логотип Улья: шестиугольная ячейка сот с янтарным кубом внутр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200" y="1143000"/>
            <a:ext cx="4318000" cy="431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12800" y="3337620"/>
            <a:ext cx="10820400" cy="147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200" b="1" spc="-200" kern="0" dirty="0">
                <a:solidFill>
                  <a:schemeClr val="bg1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Улей</a:t>
            </a:r>
            <a:endParaRPr lang="en-US" sz="920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4887020"/>
            <a:ext cx="5867400" cy="7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ru-RU" altLang="en-US" sz="2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Превращаем простаивающие видеокарты </a:t>
            </a:r>
            <a:br/>
            <a:pPr algn="l" indent="0" marL="0">
              <a:lnSpc>
                <a:spcPts val="2750"/>
              </a:lnSpc>
              <a:buNone/>
            </a:pPr>
            <a:r>
              <a:rPr lang="ru-RU" altLang="en-US" sz="2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доступные вычислительные мощности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5795070"/>
            <a:ext cx="5867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Преакселератор ВШМ СПбГУ,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Проблема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757859"/>
            <a:ext cx="480726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5200" spc="-1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63–71 ₽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634159"/>
            <a:ext cx="4807268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 час аренды RTX 3090 в облаке </a:t>
            </a:r>
            <a:br/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Immers.cloud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3289399"/>
            <a:ext cx="4807268" cy="995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Круглосуточно — около 45–50 тыс. ₽ в месяц.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Небольшим командам важна не только цена, но и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доступность нужной карты, простая аренда и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предсказуемые условия.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89650" y="1846759"/>
            <a:ext cx="12700" cy="2438003"/>
          </a:xfrm>
          <a:prstGeom prst="rect">
            <a:avLst/>
          </a:prstGeom>
          <a:solidFill>
            <a:srgbClr val="E2D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711950" y="1757859"/>
            <a:ext cx="480726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5200" spc="-1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2022</a:t>
            </a:r>
            <a:endParaRPr lang="en-US" sz="5200" dirty="0"/>
          </a:p>
        </p:txBody>
      </p:sp>
      <p:sp>
        <p:nvSpPr>
          <p:cNvPr id="8" name="Text 6"/>
          <p:cNvSpPr txBox="1"/>
          <p:nvPr/>
        </p:nvSpPr>
        <p:spPr>
          <a:xfrm>
            <a:off x="6711950" y="2634159"/>
            <a:ext cx="4807268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Ethereum отказался от майнинга на </a:t>
            </a:r>
            <a:br/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видеокартах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11950" y="3289399"/>
            <a:ext cx="4807268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Часть ферм и владельцев мощных ПК загружена не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полностью. Для них дополнительные заказы — способ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лучше использовать уже купленное оборудование.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2800" y="4927600"/>
            <a:ext cx="107188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Командам нужны доступные и понятные GPU-мощности, а часть </a:t>
            </a:r>
            <a:br/>
            <a:pPr algn="l" indent="0" marL="0">
              <a:lnSpc>
                <a:spcPts val="2400"/>
              </a:lnSpc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уже купленного оборудования можно использовать </a:t>
            </a:r>
            <a:br/>
            <a:pPr algn="l" indent="0" marL="0">
              <a:lnSpc>
                <a:spcPts val="2400"/>
              </a:lnSpc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эффективнее.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Цены: immers.cloud, октябрь 2026. Ethereum: переход на proof-of-stake, сентябрь 2022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Решение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381720"/>
            <a:ext cx="10718800" cy="481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Улей соединяет небольшие технологические команды с владельцами GPU-мощностей. На первом этапе проверяем </a:t>
            </a:r>
            <a:br/>
            <a:pPr algn="l" indent="0" marL="0">
              <a:lnSpc>
                <a:spcPts val="189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B2B-аренду</a:t>
            </a:r>
            <a:pPr algn="l" indent="0" marL="0">
              <a:lnSpc>
                <a:spcPts val="189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через партнёрские фермы без создания собственной распределённой платформы.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5975" y="2042716"/>
            <a:ext cx="2571750" cy="3267869"/>
          </a:xfrm>
          <a:prstGeom prst="roundRect">
            <a:avLst>
              <a:gd name="adj" fmla="val 6914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73150" y="2274491"/>
            <a:ext cx="2119122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Партнёрские </a:t>
            </a:r>
            <a:br/>
            <a:pPr algn="l" indent="0" marL="0">
              <a:lnSpc>
                <a:spcPts val="1840"/>
              </a:lnSpc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GPU-фермы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73150" y="2830711"/>
            <a:ext cx="2119122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Дают оборудование и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вычислительные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ресурсы. На старте —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несколько партнёров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73150" y="4515644"/>
            <a:ext cx="20574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73150" y="4633119"/>
            <a:ext cx="2119122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Дополнительные заказы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свободные мощности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41700" y="3065859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мощность</a:t>
            </a:r>
            <a:endParaRPr lang="en-US" sz="1200" dirty="0"/>
          </a:p>
        </p:txBody>
      </p:sp>
      <p:pic>
        <p:nvPicPr>
          <p:cNvPr id="10" name="Image 0" descr="Стрел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7100" y="3359150"/>
            <a:ext cx="1270000" cy="152400"/>
          </a:xfrm>
          <a:prstGeom prst="rect">
            <a:avLst/>
          </a:prstGeom>
        </p:spPr>
      </p:pic>
      <p:pic>
        <p:nvPicPr>
          <p:cNvPr id="11" name="Image 1" descr="Стрел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100" y="3841750"/>
            <a:ext cx="1270000" cy="152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41700" y="405130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≈15 ₽ за час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813300" y="2039541"/>
            <a:ext cx="2565400" cy="3274219"/>
          </a:xfrm>
          <a:prstGeom prst="roundRect">
            <a:avLst>
              <a:gd name="adj" fmla="val 6931"/>
            </a:avLst>
          </a:prstGeom>
          <a:solidFill>
            <a:schemeClr val="accent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67300" y="2242741"/>
            <a:ext cx="211912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067300" y="2590701"/>
            <a:ext cx="2119122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Находит B2B-клиентов,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подбирает мощности,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организует аренду,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сопровождает заказ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067300" y="4521994"/>
            <a:ext cx="20574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67300" y="4639469"/>
            <a:ext cx="2119122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Доля с каждого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оплаченного часа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429500" y="3065859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мощность</a:t>
            </a:r>
            <a:endParaRPr lang="en-US" sz="1200" dirty="0"/>
          </a:p>
        </p:txBody>
      </p:sp>
      <p:pic>
        <p:nvPicPr>
          <p:cNvPr id="19" name="Image 2" descr="Стрел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4900" y="3359150"/>
            <a:ext cx="1270000" cy="152400"/>
          </a:xfrm>
          <a:prstGeom prst="rect">
            <a:avLst/>
          </a:prstGeom>
        </p:spPr>
      </p:pic>
      <p:pic>
        <p:nvPicPr>
          <p:cNvPr id="20" name="Image 3" descr="Стрел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4900" y="3841750"/>
            <a:ext cx="1270000" cy="1524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29500" y="405130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≈35 ₽ за час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8804275" y="2042716"/>
            <a:ext cx="2571750" cy="3267869"/>
          </a:xfrm>
          <a:prstGeom prst="roundRect">
            <a:avLst>
              <a:gd name="adj" fmla="val 6914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9061450" y="2249091"/>
            <a:ext cx="211912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Клиенты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9061450" y="2597051"/>
            <a:ext cx="2119122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ML-команды,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лаборатории,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AI-стартапы</a:t>
            </a:r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и небольшие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IT-компании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9061450" y="4292798"/>
            <a:ext cx="20574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061450" y="4410273"/>
            <a:ext cx="2119122" cy="674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Подходящие GPU и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понятные условия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аренды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812800" y="5497909"/>
            <a:ext cx="51308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12800" y="5618559"/>
            <a:ext cx="52832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35 и 15 ₽ — предварительные ориентиры: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не подтверждено, что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фермы дадут за 15 ₽ полноценную рабочую конфигурацию.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248400" y="5497909"/>
            <a:ext cx="51308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248400" y="5618559"/>
            <a:ext cx="52832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Кто отвечает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за CPU, RAM, накопители, сеть, доступность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обслуживание, определим в условиях партнёрства.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Как это работает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50673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950" y="166231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0180" y="1713111"/>
            <a:ext cx="134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96950" y="2094111"/>
            <a:ext cx="222377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Компания обращается с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запросом на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вычислительные мощности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5675" y="150673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76650" y="166231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73785" y="1713111"/>
            <a:ext cx="186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76650" y="2094111"/>
            <a:ext cx="222377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Улей подбирает подходящую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конфигурацию у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партнёрской фермы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5375" y="150673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6350" y="166231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52890" y="1713111"/>
            <a:ext cx="1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56350" y="2094111"/>
            <a:ext cx="2223770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Ферма предоставляет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вычислительную среду, Улей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сопровождает заказ в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согласованных пределах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855075" y="150673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36050" y="166231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31300" y="1713111"/>
            <a:ext cx="19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036050" y="2094111"/>
            <a:ext cx="2223770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Клиент оплачивает услугу,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ферма получает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вознаграждение, Улей —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свою долю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2800" y="3405783"/>
            <a:ext cx="5812730" cy="2639318"/>
          </a:xfrm>
          <a:prstGeom prst="roundRect">
            <a:avLst>
              <a:gd name="adj" fmla="val 6737"/>
            </a:avLst>
          </a:prstGeom>
          <a:solidFill>
            <a:schemeClr val="tx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6800" y="3558183"/>
            <a:ext cx="545713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Расчётный сценарий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66800" y="3878858"/>
            <a:ext cx="545713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Лаборатории нужно около 100 часов работы RTX 3090 с 24 ГБ памяти,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чтобы обработать набор изображений готовой моделью.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6800" y="4337248"/>
            <a:ext cx="222377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3 500 ₽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066800" y="4739779"/>
            <a:ext cx="2223770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цель Улья: 100 ч × 35 ₽,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пилотом не подтверждена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79800" y="4337248"/>
            <a:ext cx="297848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6 300–7 100 ₽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3479800" y="4739779"/>
            <a:ext cx="2978482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GPU-облако Immers.cloud: 63–71 ₽ за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час, в цену входят vCPU, RAM и диск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66800" y="5227340"/>
            <a:ext cx="545713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рынке есть более дешёвые GPU-площадки. Преимущество Улья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предполагается не только в цене, но и в организации аренды для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B2B-клиентов.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Экономия не гарантирована.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81105" y="3408958"/>
            <a:ext cx="4594920" cy="2632968"/>
          </a:xfrm>
          <a:prstGeom prst="roundRect">
            <a:avLst>
              <a:gd name="adj" fmla="val 6753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38280" y="3564533"/>
            <a:ext cx="4202987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Кто за что отвечает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038280" y="3897908"/>
            <a:ext cx="420298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Улей: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подбор конфигурации, организация аренды,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сопровождение заказа.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038280" y="4413448"/>
            <a:ext cx="420298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Ферма: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оборудование и вычислительная среда — по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условиям партнёрства.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038280" y="4928989"/>
            <a:ext cx="420298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Пока нет: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собственной платформы, круглосуточной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поддержки и гарантированного SLA.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Первые клиенты и направления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9150" y="1515070"/>
            <a:ext cx="6218436" cy="4523780"/>
          </a:xfrm>
          <a:prstGeom prst="roundRect">
            <a:avLst>
              <a:gd name="adj" fmla="val 3930"/>
            </a:avLst>
          </a:prstGeom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04900" y="1730970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Основная гипотеза для пилота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04900" y="2005211"/>
            <a:ext cx="57993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9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B2B-аренда GPU для </a:t>
            </a:r>
            <a:pPr algn="l" indent="0" marL="0">
              <a:buNone/>
            </a:pPr>
            <a:r>
              <a:rPr lang="ru-RU" altLang="en-US" sz="19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ML-команд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104900" y="2399209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4900" y="2472234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Кто покупает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04900" y="2708374"/>
            <a:ext cx="57993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Небольшие ML-команды, лаборатории вузов, AI-стартапы, IT-компании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04900" y="3042345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04900" y="3115370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Для чего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04900" y="3351510"/>
            <a:ext cx="57993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Эксперименты, обработка наборов данных, дообучение моделей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04900" y="3685480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4900" y="3758505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Почему Улей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04900" y="4013696"/>
            <a:ext cx="5799336" cy="674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Подбор GPU под задачу, помощь с организацией аренды,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сопровождение взаимодействия с поставщиком, потенциально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конкурентная цена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104900" y="4774307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4900" y="4847332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Что проверяем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4900" y="5102523"/>
            <a:ext cx="5799336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Готовы ли команды платить за подбор и сопровождение, а не только за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цену часа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199511" y="1511895"/>
            <a:ext cx="4176514" cy="1484511"/>
          </a:xfrm>
          <a:prstGeom prst="roundRect">
            <a:avLst>
              <a:gd name="adj" fmla="val 1026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31286" y="1724620"/>
            <a:ext cx="382435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Будущая гипотеза 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431286" y="2017911"/>
            <a:ext cx="3824353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Пакетная обработка аудио и </a:t>
            </a:r>
            <a:br/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видео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31286" y="2536706"/>
            <a:ext cx="382435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Расшифровка записей, субтитры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99511" y="3155156"/>
            <a:ext cx="4176514" cy="1484511"/>
          </a:xfrm>
          <a:prstGeom prst="roundRect">
            <a:avLst>
              <a:gd name="adj" fmla="val 1026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31286" y="3367881"/>
            <a:ext cx="382435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Будущая гипотеза 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431286" y="3661172"/>
            <a:ext cx="3824353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Обработка изображений и </a:t>
            </a:r>
            <a:br/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документов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31286" y="4179967"/>
            <a:ext cx="382435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Фото товаров, распознавание сканов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196336" y="4795242"/>
            <a:ext cx="43083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Эти направления оценим позже. Приоритет первого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пилота — B2B-аренда вычислительной мощности.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Рынок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928515"/>
            <a:ext cx="62484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6400" b="1" spc="-250" kern="0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8,2 млрд ₽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976265"/>
            <a:ext cx="6248400" cy="517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ru-RU" altLang="en-US" sz="15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потратили компании в России на облачные серверы с </a:t>
            </a:r>
            <a:br/>
            <a:pPr algn="l" indent="0" marL="0">
              <a:lnSpc>
                <a:spcPts val="2025"/>
              </a:lnSpc>
              <a:buNone/>
            </a:pPr>
            <a:r>
              <a:rPr lang="ru-RU" altLang="en-US" sz="15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видеокартами в 2025 году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3725565"/>
            <a:ext cx="1290836" cy="0"/>
          </a:xfrm>
          <a:prstGeom prst="line">
            <a:avLst/>
          </a:prstGeom>
          <a:noFill/>
          <a:ln w="12700">
            <a:solidFill>
              <a:srgbClr val="3B2A0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2800" y="3795415"/>
            <a:ext cx="1341636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+69%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256405"/>
            <a:ext cx="134163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рост к 2024 году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08436" y="3725565"/>
            <a:ext cx="2928640" cy="0"/>
          </a:xfrm>
          <a:prstGeom prst="line">
            <a:avLst/>
          </a:prstGeom>
          <a:noFill/>
          <a:ln w="12700">
            <a:solidFill>
              <a:srgbClr val="3B2A0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08436" y="3795415"/>
            <a:ext cx="3016499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36,5 млрд ₽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408436" y="4256405"/>
            <a:ext cx="301649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прогноз исследователей на 2030 год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24725" y="1650504"/>
            <a:ext cx="4044950" cy="3236913"/>
          </a:xfrm>
          <a:prstGeom prst="roundRect">
            <a:avLst>
              <a:gd name="adj" fmla="val 5493"/>
            </a:avLst>
          </a:prstGeom>
          <a:solidFill>
            <a:srgbClr val="FFF4DE">
              <a:alpha val="42000"/>
            </a:srgbClr>
          </a:solidFill>
          <a:ln w="19050">
            <a:solidFill>
              <a:srgbClr val="3B2A0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12050" y="1812429"/>
            <a:ext cx="37804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Весь рынок облачных GPU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512050" y="2147074"/>
            <a:ext cx="378040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8,2 млрд ₽, включая серверные ускорители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12050" y="2476599"/>
            <a:ext cx="3670300" cy="2223492"/>
          </a:xfrm>
          <a:prstGeom prst="roundRect">
            <a:avLst>
              <a:gd name="adj" fmla="val 6283"/>
            </a:avLst>
          </a:prstGeom>
          <a:solidFill>
            <a:srgbClr val="3B2A0E">
              <a:alpha val="12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64450" y="2628999"/>
            <a:ext cx="3466465" cy="443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Потребительские видеокарты уровня </a:t>
            </a:r>
            <a:br/>
            <a:pPr algn="l" indent="0" marL="0">
              <a:lnSpc>
                <a:spcPts val="1690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RTX 3090 и 4090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64450" y="3147120"/>
            <a:ext cx="3365500" cy="1400572"/>
          </a:xfrm>
          <a:prstGeom prst="roundRect">
            <a:avLst>
              <a:gd name="adj" fmla="val 8161"/>
            </a:avLst>
          </a:prstGeom>
          <a:solidFill>
            <a:schemeClr val="tx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16850" y="3274120"/>
            <a:ext cx="315252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Потенциальный сегмент Улья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816850" y="3572570"/>
            <a:ext cx="3152521" cy="826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Небольшие технологические команды,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которым нужны GPU-мощности для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несрочных задач и понятное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сопровождение аренды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12800" y="5334000"/>
            <a:ext cx="10718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Размер доступного сегмента определим по результатам анализа предложений </a:t>
            </a:r>
            <a:br/>
            <a:pPr algn="l" indent="0" marL="0">
              <a:lnSpc>
                <a:spcPts val="2000"/>
              </a:lnSpc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конкурентов и интервью с потенциальными клиентами.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Apple Hills Digital и Selectel, исследование «Облачные сервисы для ИИ», октябрь 2026; прогноз на 2030 год — по публикации RB.ru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Конкуренты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2311400" y="1542951"/>
            <a:ext cx="2151825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Российские </a:t>
            </a:r>
            <a:br/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GPU-облака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311400" y="1912441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Immers.cloud и другие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03750" y="1542951"/>
            <a:ext cx="2151825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Распределённые </a:t>
            </a:r>
            <a:br/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площадки в России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03750" y="1912441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Тераферма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96100" y="1542951"/>
            <a:ext cx="2151825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Зарубежные </a:t>
            </a:r>
            <a:br/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GPU-площадки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96100" y="1912441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Vast.ai, RunPod, SaladCloud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086850" y="1428651"/>
            <a:ext cx="2292350" cy="777081"/>
          </a:xfrm>
          <a:prstGeom prst="round2SameRect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88450" y="1517551"/>
            <a:ext cx="2151825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88450" y="1737221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для небольших ML-команд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800" y="2208907"/>
            <a:ext cx="13970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2800" y="2262882"/>
            <a:ext cx="134620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Цена RTX 3090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 час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09800" y="2208907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11400" y="2262882"/>
            <a:ext cx="2151825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63–71 ₽ у Immers.cloud, у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других бывает дешевле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02150" y="2208907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03750" y="2262882"/>
            <a:ext cx="2151825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≈22–31 ₽ в опубликованных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предложениях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94500" y="2208907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96100" y="2262882"/>
            <a:ext cx="2151825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RunPod $0,22–0,50, Salad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$0,09–0,17, Vast.ai — по хосту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86850" y="2205732"/>
            <a:ext cx="2292350" cy="504031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1" name="Shape 19"/>
          <p:cNvSpPr/>
          <p:nvPr/>
        </p:nvSpPr>
        <p:spPr>
          <a:xfrm>
            <a:off x="9086850" y="2208907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88450" y="2243832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Цель — около 35 ₽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2800" y="2712938"/>
            <a:ext cx="13970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2800" y="2747863"/>
            <a:ext cx="13462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Формат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09800" y="2712938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11400" y="2766913"/>
            <a:ext cx="2151825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Облачные серверы с vCPU,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RAM и диском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02150" y="2712938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3750" y="2766913"/>
            <a:ext cx="2151825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Площадка с картами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частных владельцев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94500" y="2712938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96100" y="2766913"/>
            <a:ext cx="2151825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Маркетплейсы: инстансы и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контейнеры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86850" y="2709763"/>
            <a:ext cx="2292350" cy="504031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2" name="Shape 30"/>
          <p:cNvSpPr/>
          <p:nvPr/>
        </p:nvSpPr>
        <p:spPr>
          <a:xfrm>
            <a:off x="9086850" y="2712938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88450" y="2766913"/>
            <a:ext cx="2151825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B2B-сервис через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партнёрские фермы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12800" y="3216970"/>
            <a:ext cx="13970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2800" y="3270945"/>
            <a:ext cx="134620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Подбор и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сопровождение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09800" y="3216970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11400" y="3251895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Поддержка провайдера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02150" y="3216970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603750" y="3251895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Нужно уточнить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794500" y="3216970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96100" y="3270945"/>
            <a:ext cx="2151825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основном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самообслуживание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086850" y="3213795"/>
            <a:ext cx="2292350" cy="504031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3" name="Shape 41"/>
          <p:cNvSpPr/>
          <p:nvPr/>
        </p:nvSpPr>
        <p:spPr>
          <a:xfrm>
            <a:off x="9086850" y="3216970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88450" y="3251895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Проверяемая гипотеза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2800" y="3721001"/>
            <a:ext cx="13970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2800" y="3755926"/>
            <a:ext cx="13462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Надёжность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209800" y="3721001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311400" y="3774976"/>
            <a:ext cx="2151825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Дата-центры, гарантии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доступности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02150" y="3721001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603750" y="3755926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Зависит от владельца карты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794500" y="3721001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96100" y="3755926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Зависит от хоста и тарифа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9086850" y="3717826"/>
            <a:ext cx="2292350" cy="504031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4" name="Shape 52"/>
          <p:cNvSpPr/>
          <p:nvPr/>
        </p:nvSpPr>
        <p:spPr>
          <a:xfrm>
            <a:off x="9086850" y="3721001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188450" y="3755926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Зависит от партнёров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12800" y="4225032"/>
            <a:ext cx="13970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12800" y="4279007"/>
            <a:ext cx="134620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Оплата из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России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209800" y="4225032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311400" y="4259957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рублях, по договору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502150" y="4225032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603750" y="4259957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рублях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794500" y="4225032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96100" y="4279007"/>
            <a:ext cx="2151825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долларах, российские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карты обычно не проходят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 rot="10800000">
            <a:off x="9086850" y="4221857"/>
            <a:ext cx="2292350" cy="504031"/>
          </a:xfrm>
          <a:prstGeom prst="round2SameRect">
            <a:avLst/>
          </a:prstGeom>
          <a:solidFill>
            <a:schemeClr val="accent3"/>
          </a:solidFill>
          <a:ln/>
        </p:spPr>
      </p:sp>
      <p:sp>
        <p:nvSpPr>
          <p:cNvPr id="65" name="Shape 63"/>
          <p:cNvSpPr/>
          <p:nvPr/>
        </p:nvSpPr>
        <p:spPr>
          <a:xfrm>
            <a:off x="9086850" y="4225032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188450" y="4259957"/>
            <a:ext cx="2151825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рублях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12800" y="4950619"/>
            <a:ext cx="10718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 не стремится быть самым дешёвым </a:t>
            </a:r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GPU-маркетплейсом</a:t>
            </a:r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 Мы проверяем спрос на </a:t>
            </a:r>
            <a:br/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удобное предоставление вычислительных мощностей небольшим B2B-клиентам.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812800" y="5445919"/>
            <a:ext cx="1071880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Более дешёвые предложения уже есть, а подбор и сопровождение могут предлагать и конкуренты. Задача пилота — выяснить, есть ли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неудовлетворённый спрос; автоматизация — только после его подтверждения.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RTX 3090, 24 ГБ, почасово, октябрь 2026: immers.cloud, teraferma.io, runpod.io, salad.com, vast.ai. Конфигурации и условия различаются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Экономика B2B-аренды GPU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331317"/>
            <a:ext cx="10718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Базовая гипотеза: один оплаченный час — 35 ₽, без налогов и постоянных расходов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12800" y="1709738"/>
            <a:ext cx="4629150" cy="406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5200" y="1782167"/>
            <a:ext cx="205892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 партнёрской ферме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46800" y="1709738"/>
            <a:ext cx="5232400" cy="406400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0" y="1782167"/>
            <a:ext cx="34665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17 ₽ — на постоянные расходы и прибыль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340350" y="1709738"/>
            <a:ext cx="908050" cy="406400"/>
          </a:xfrm>
          <a:prstGeom prst="rect">
            <a:avLst/>
          </a:prstGeom>
          <a:solidFill>
            <a:srgbClr val="E2D7C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41950" y="1782167"/>
            <a:ext cx="2929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₽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2800" y="2205038"/>
            <a:ext cx="107188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 — предполагаемая цена фермы за полноценную рабочую конфигурацию, а не только за видеокарту. 3 ₽ — условное допущение по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переменным расходам.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5975" y="2787650"/>
            <a:ext cx="3418384" cy="2339082"/>
          </a:xfrm>
          <a:prstGeom prst="roundRect">
            <a:avLst>
              <a:gd name="adj" fmla="val 6515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2350" y="2917825"/>
            <a:ext cx="309580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Сценарии ценовой конкуренции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2350" y="3195935"/>
            <a:ext cx="80218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Клиенту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773734" y="3195935"/>
            <a:ext cx="80218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Ферме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525117" y="3195935"/>
            <a:ext cx="80218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Расходы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276501" y="3195935"/>
            <a:ext cx="80218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Остаток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22350" y="3465810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2350" y="3500735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25 ₽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773734" y="3500735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525117" y="3500735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₽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276501" y="3500735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7 ₽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22350" y="3804841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2350" y="383976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30 ₽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773734" y="383976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525117" y="383976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₽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276501" y="383976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12 ₽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22350" y="4143871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2350" y="417879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35 ₽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773734" y="417879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525117" y="417879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₽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276501" y="417879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17 ₽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22350" y="4524177"/>
            <a:ext cx="309580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Все значения — гипотезы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93109" y="2787650"/>
            <a:ext cx="3418384" cy="2339082"/>
          </a:xfrm>
          <a:prstGeom prst="roundRect">
            <a:avLst>
              <a:gd name="adj" fmla="val 6515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9484" y="2917825"/>
            <a:ext cx="309580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Один заказ: 100 GPU-часов по 35 ₽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99484" y="3224510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99484" y="3259435"/>
            <a:ext cx="65712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Выручка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015956" y="3253085"/>
            <a:ext cx="63996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3 500 ₽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99484" y="3547070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99484" y="3581995"/>
            <a:ext cx="53290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Ферме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950472" y="3575645"/>
            <a:ext cx="70544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−1 500 ₽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599484" y="3869630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99484" y="3904555"/>
            <a:ext cx="14068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Условные расходы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056537" y="3898205"/>
            <a:ext cx="5993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−300 ₽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599484" y="4192191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99484" y="4227116"/>
            <a:ext cx="6747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Остаток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048302" y="4220766"/>
            <a:ext cx="6076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1 700 ₽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599484" y="4575076"/>
            <a:ext cx="309580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 налогов и постоянных расходов — не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чистая прибыль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967067" y="2784475"/>
            <a:ext cx="3412034" cy="2345432"/>
          </a:xfrm>
          <a:prstGeom prst="roundRect">
            <a:avLst>
              <a:gd name="adj" fmla="val 6498"/>
            </a:avLst>
          </a:prstGeom>
          <a:solidFill>
            <a:schemeClr val="tx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170267" y="2911475"/>
            <a:ext cx="309580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Объём продаж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170267" y="3170535"/>
            <a:ext cx="3095803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1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≈14,7 тыс. ч</a:t>
            </a:r>
            <a:endParaRPr lang="en-US" sz="2800" dirty="0"/>
          </a:p>
        </p:txBody>
      </p:sp>
      <p:sp>
        <p:nvSpPr>
          <p:cNvPr id="51" name="Text 49"/>
          <p:cNvSpPr txBox="1"/>
          <p:nvPr/>
        </p:nvSpPr>
        <p:spPr>
          <a:xfrm>
            <a:off x="8170267" y="3669605"/>
            <a:ext cx="3095803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месяц покрыли бы 250 тыс. ₽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постоянных расходов при остатке 17 ₽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170267" y="4144466"/>
            <a:ext cx="3095803" cy="620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250 тыс. ₽ — условный сценарий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развитого сервиса, а не бюджет и не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цель первого пилота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12800" y="5347990"/>
            <a:ext cx="193476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Главное для проверки: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843609" y="5341045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2941439" y="5366445"/>
            <a:ext cx="134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3199209" y="5282704"/>
            <a:ext cx="1714798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Цена, которую готовы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платить клиенты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015607" y="5341045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087342" y="5366445"/>
            <a:ext cx="186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371207" y="5282704"/>
            <a:ext cx="1714798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Стоимость аренды у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фермы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187605" y="5341045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258745" y="5366445"/>
            <a:ext cx="1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7543205" y="5282704"/>
            <a:ext cx="1714798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Стоимость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обслуживания заказа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9359602" y="5341045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452" y="5366445"/>
            <a:ext cx="19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9715202" y="5282704"/>
            <a:ext cx="1714798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Объём и регулярность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заказов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812800" y="5816977"/>
            <a:ext cx="10718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Расчёт предварительный. Ручное сопровождение клиентов может создавать дополнительные расходы, не включённые в расчёт.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Риски по степени важности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9150" y="1413470"/>
            <a:ext cx="3407767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6000" y="163314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39230" y="1683941"/>
            <a:ext cx="134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60500" y="1584920"/>
            <a:ext cx="2646654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Платёжеспособный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спрос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16000" y="2056011"/>
            <a:ext cx="310448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16000" y="2336602"/>
            <a:ext cx="3104489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Готовы ли клиенты платить за подбор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сопровождение, если есть более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дешёвые маркетплейсы?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6000" y="3040063"/>
            <a:ext cx="3104489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интервью и попытки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организовать платные пилоты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2017" y="1413470"/>
            <a:ext cx="3407866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88867" y="163314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6002" y="1683941"/>
            <a:ext cx="186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33367" y="1584920"/>
            <a:ext cx="2646756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Экономика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партнёрских условий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88867" y="2056011"/>
            <a:ext cx="3104591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88867" y="2336602"/>
            <a:ext cx="3104591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Найдутся ли фермы с подходящими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ресурсами по цене, оставляющей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достаточную маржу?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88867" y="3040063"/>
            <a:ext cx="3104591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переговоры и расчёт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стоимости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61809" y="1410295"/>
            <a:ext cx="3414216" cy="2236490"/>
          </a:xfrm>
          <a:prstGeom prst="roundRect">
            <a:avLst>
              <a:gd name="adj" fmla="val 6814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55484" y="162679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52023" y="1677591"/>
            <a:ext cx="1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99984" y="1578570"/>
            <a:ext cx="2659837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Доступность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качество мощностей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55484" y="2068711"/>
            <a:ext cx="3117672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Есть ли у партнёров подходящие GPU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нужная инфраструктура?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55484" y="2558852"/>
            <a:ext cx="3117672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изучение оборудования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реальные тесты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9150" y="3808710"/>
            <a:ext cx="3407767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6000" y="402838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111250" y="4079180"/>
            <a:ext cx="19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460500" y="3980160"/>
            <a:ext cx="2646654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Операционные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затраты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16000" y="4451251"/>
            <a:ext cx="310448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6000" y="4731841"/>
            <a:ext cx="3104489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 окажется ли сопровождение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небольших заказов дороже получаемой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маржи?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6000" y="5435302"/>
            <a:ext cx="3104489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учёт времени и затрат на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каждый пилот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88842" y="3805535"/>
            <a:ext cx="3414216" cy="2236490"/>
          </a:xfrm>
          <a:prstGeom prst="roundRect">
            <a:avLst>
              <a:gd name="adj" fmla="val 6814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82517" y="402203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681637" y="4072830"/>
            <a:ext cx="182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027017" y="3973810"/>
            <a:ext cx="2659837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Право и безопасность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данных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82517" y="4463951"/>
            <a:ext cx="311767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Нужно определить правовую модель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правила работы с данными клиентов. В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пилоте — тестовые данные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961809" y="3805535"/>
            <a:ext cx="3414216" cy="2236490"/>
          </a:xfrm>
          <a:prstGeom prst="roundRect">
            <a:avLst>
              <a:gd name="adj" fmla="val 6814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55484" y="402203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250436" y="4072830"/>
            <a:ext cx="190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599984" y="3973810"/>
            <a:ext cx="2659837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Технологическое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масштабирование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155484" y="4463951"/>
            <a:ext cx="3117672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Без технического специалиста сложно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создать свою платформу. Для ручного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пилота он не обязателен, если ресурсы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обслуживание обеспечивает партнёр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План на полгода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525687"/>
            <a:ext cx="3414216" cy="2804716"/>
          </a:xfrm>
          <a:prstGeom prst="roundRect">
            <a:avLst>
              <a:gd name="adj" fmla="val 5434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9650" y="1643162"/>
            <a:ext cx="31176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 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9650" y="189716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 коммерческой гипотезы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09650" y="2142827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9650" y="216505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15–20 интервью с B2B-клиентами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9650" y="2410718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9650" y="2432943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Их GPU-затраты и объём потребления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09650" y="267860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9650" y="270083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Поиск 3–5 партнёрских ферм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09650" y="294649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9650" y="296872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Переговоры о цене и доступности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9650" y="3214390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9650" y="3236615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Цены и качество конкурентов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09650" y="3482280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9650" y="3504505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Предварительная экономика заказа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09650" y="3750171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9650" y="3791446"/>
            <a:ext cx="3117672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Итог: есть ли выгодный ценовой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коридор между клиентом и фермой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8941" y="1525687"/>
            <a:ext cx="3414216" cy="2804716"/>
          </a:xfrm>
          <a:prstGeom prst="roundRect">
            <a:avLst>
              <a:gd name="adj" fmla="val 5434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82616" y="1643162"/>
            <a:ext cx="31176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Месяцы 2–3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82616" y="189716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Ручной пилот — при интересе сторон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82616" y="2142827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82616" y="216505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2–3 небольших пилотных заказа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82616" y="2410718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82616" y="2432943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Работоспособность оборудования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82616" y="267860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2616" y="270083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Фактическая стоимость обслуживания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82616" y="294649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82616" y="296872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Качество и сроки исполнения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82616" y="3214390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82616" y="3236615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Повторный спрос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82616" y="3482280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82616" y="3504505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Возможно — первые платные сделки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82616" y="3750171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82616" y="3791446"/>
            <a:ext cx="3117672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Итог: первые данные о коммерческой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реализуемости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961908" y="1525687"/>
            <a:ext cx="3414216" cy="2804716"/>
          </a:xfrm>
          <a:prstGeom prst="roundRect">
            <a:avLst>
              <a:gd name="adj" fmla="val 5434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55583" y="1643162"/>
            <a:ext cx="31176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Месяцы 4–6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155583" y="189716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Развитие — при успехе пилота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55583" y="2142827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5583" y="216505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Больше партнёров и клиентов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155583" y="2410718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55583" y="2432943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Автоматизация трудоёмких операций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155583" y="267860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55583" y="270083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Оценка разработки своей платформы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155583" y="294649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155583" y="296872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Поиск технического сооснователя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155583" y="3214390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155583" y="3236615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Уточнение модели масштабирования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155583" y="3482280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55583" y="3523555"/>
            <a:ext cx="3117672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Если нет — корректируем гипотезу или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отказываемся от неё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12800" y="4652169"/>
            <a:ext cx="10566400" cy="1392932"/>
          </a:xfrm>
          <a:prstGeom prst="roundRect">
            <a:avLst>
              <a:gd name="adj" fmla="val 10941"/>
            </a:avLst>
          </a:prstGeom>
          <a:solidFill>
            <a:schemeClr val="tx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66800" y="4772819"/>
            <a:ext cx="222377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0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Бюджет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1066800" y="5134769"/>
            <a:ext cx="2223770" cy="620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два этапа; суммы ручного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пилота уточним после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первого месяца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3479800" y="4779169"/>
            <a:ext cx="38065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Коммерческая проверка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3479800" y="5069979"/>
            <a:ext cx="3806571" cy="826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Интервью и продажи, тестовая аренда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оборудования, минимальные операционные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расходы, при необходимости — техническая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консультация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7429500" y="4779169"/>
            <a:ext cx="38065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Технологическое развитие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7429500" y="5069979"/>
            <a:ext cx="3806571" cy="826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Отдельный этап после подтверждения модели: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своя платформа, автоматизация, инфраструктура,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специалисты. Грант — возможный источник, не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гарантирован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Команда и запрос к преакселератору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410295"/>
            <a:ext cx="4946650" cy="1825327"/>
          </a:xfrm>
          <a:prstGeom prst="roundRect">
            <a:avLst>
              <a:gd name="adj" fmla="val 9741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pic>
        <p:nvPicPr>
          <p:cNvPr id="4" name="Image 0" descr="Ячейка со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1967309"/>
            <a:ext cx="711200" cy="711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22350" y="1952704"/>
            <a:ext cx="762000" cy="734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800" b="1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ТН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936750" y="1683643"/>
            <a:ext cx="370192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8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Тимур Новиков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936750" y="2003623"/>
            <a:ext cx="37019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Продакт-менеджер · продукт и бизнес-модель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36750" y="2296914"/>
            <a:ext cx="3701923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Экономика, работа с партнёрскими фермами,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условия сервиса, технические требования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план развития продукта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5975" y="3394373"/>
            <a:ext cx="4946650" cy="1825327"/>
          </a:xfrm>
          <a:prstGeom prst="roundRect">
            <a:avLst>
              <a:gd name="adj" fmla="val 9741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pic>
        <p:nvPicPr>
          <p:cNvPr id="10" name="Image 1" descr="Ячейка со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3951387"/>
            <a:ext cx="711200" cy="711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2350" y="3936782"/>
            <a:ext cx="762000" cy="734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800" b="1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ИК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936750" y="3667720"/>
            <a:ext cx="370192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8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Игорь Кузьмин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936750" y="3987701"/>
            <a:ext cx="37019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Менеджер по продажам · клиенты и продажи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936750" y="4280991"/>
            <a:ext cx="3701923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Интервью с заказчиками, проверка их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потребностей, поиск первых пилотных клиентов,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продажи и обратная связь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918200" y="1407120"/>
            <a:ext cx="5461000" cy="3815755"/>
          </a:xfrm>
          <a:prstGeom prst="roundRect">
            <a:avLst>
              <a:gd name="adj" fmla="val 466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172200" y="1584920"/>
            <a:ext cx="510159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Чем может помочь преакселератор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172200" y="1896070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172200" y="1943695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Экспертная оценка бизнес-модели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2235101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2282726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Помощь с проверкой спроса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172200" y="2574131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172200" y="2621756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Контакты потенциальных B2B-клиентов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172200" y="2913162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2960787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Знакомства с GPU-поставщиками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172200" y="3252192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3299817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Помощь с финансовым моделированием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172200" y="3591223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172200" y="3638848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Техническая экспертиза будущей архитектуры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172200" y="3930253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3977878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Наставничество и проверка гипотез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812800" y="5426075"/>
            <a:ext cx="10718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 помощью преакселератора мы хотим проверить спрос и экономику GPU-аренды через </a:t>
            </a:r>
            <a:br/>
            <a:pPr algn="l" indent="0" marL="0">
              <a:lnSpc>
                <a:spcPts val="162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партнёрские фермы. Если модель окажется жизнеспособной, следующим шагом станет </a:t>
            </a:r>
            <a:br/>
            <a:pPr algn="l" indent="0" marL="0">
              <a:lnSpc>
                <a:spcPts val="162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автоматизация сервиса и развитие собственной распределённой платформы.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Улей">
  <a:themeElements>
    <a:clrScheme name="Улей">
      <a:dk1>
        <a:srgbClr val="14110D"/>
      </a:dk1>
      <a:lt1>
        <a:srgbClr val="F5EFE4"/>
      </a:lt1>
      <a:dk2>
        <a:srgbClr val="1A1611"/>
      </a:dk2>
      <a:lt2>
        <a:srgbClr val="FBF7EF"/>
      </a:lt2>
      <a:accent1>
        <a:srgbClr val="F0A531"/>
      </a:accent1>
      <a:accent2>
        <a:srgbClr val="8A5207"/>
      </a:accent2>
      <a:accent3>
        <a:srgbClr val="1E1913"/>
      </a:accent3>
      <a:accent4>
        <a:srgbClr val="3A3228"/>
      </a:accent4>
      <a:accent5>
        <a:srgbClr val="BFB4A1"/>
      </a:accent5>
      <a:accent6>
        <a:srgbClr val="5A5044"/>
      </a:accent6>
      <a:hlink>
        <a:srgbClr val="8A5207"/>
      </a:hlink>
      <a:folHlink>
        <a:srgbClr val="7A6E5F"/>
      </a:folHlink>
    </a:clrScheme>
    <a:fontScheme name="Улей">
      <a:majorFont>
        <a:latin typeface="Unbounded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Улей — презентация для преакселератора ВШМ СПбГУ</dc:title>
  <dc:subject>PptxGenJS Presentation</dc:subject>
  <dc:creator>Команда «Улей»</dc:creator>
  <cp:lastModifiedBy>Команда «Улей»</cp:lastModifiedBy>
  <cp:revision>1</cp:revision>
  <dcterms:created xsi:type="dcterms:W3CDTF">2026-10-16T13:31:35Z</dcterms:created>
  <dcterms:modified xsi:type="dcterms:W3CDTF">2026-10-16T13:31:35Z</dcterms:modified>
</cp:coreProperties>
</file>