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</p:sldIdLst>
  <p:notesMasterIdLst>
    <p:notesMasterId r:id="rId13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521415D9-36F7-43E2-AB2F-B90AF26B5E84}">
      <p14:sectionLst xmlns:p14="http://schemas.microsoft.com/office/powerpoint/2010/main">
        <p14:section name="Обложка" id="{d3880070-060a-cdce-1b7d-7b9010af4a6d}">
          <p14:sldIdLst>
            <p14:sldId id="256"/>
          </p14:sldIdLst>
        </p14:section>
        <p14:section name="Проблема и решение" id="{cce734b3-1994-97c5-07be-007c67a75055}">
          <p14:sldIdLst>
            <p14:sldId id="257"/>
            <p14:sldId id="258"/>
            <p14:sldId id="259"/>
          </p14:sldIdLst>
        </p14:section>
        <p14:section name="Клиенты и рынок" id="{2f402a59-fd09-a5c8-ddaa-52f38c127562}">
          <p14:sldIdLst>
            <p14:sldId id="260"/>
            <p14:sldId id="261"/>
            <p14:sldId id="262"/>
          </p14:sldIdLst>
        </p14:section>
        <p14:section name="Экономика и риски" id="{bf9649b5-be0c-345e-bd33-54961f12d6f9}">
          <p14:sldIdLst>
            <p14:sldId id="263"/>
            <p14:sldId id="264"/>
          </p14:sldIdLst>
        </p14:section>
        <p14:section name="План и команда" id="{fdceaaff-be8a-fabf-55f9-55e18e7b66eb}">
          <p14:sldIdLst>
            <p14:sldId id="265"/>
            <p14:sldId id="266"/>
          </p14:sldIdLst>
        </p14:section>
      </p14:sectionLst>
    </p:ex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notesMaster" Target="notesMasters/notesMaster1.xml"/><Relationship Id="rId14" Type="http://schemas.openxmlformats.org/officeDocument/2006/relationships/presProps" Target="presProps.xml"/><Relationship Id="rId15" Type="http://schemas.openxmlformats.org/officeDocument/2006/relationships/viewProps" Target="viewProps.xml"/><Relationship Id="rId16" Type="http://schemas.openxmlformats.org/officeDocument/2006/relationships/theme" Target="theme/theme1.xml"/><Relationship Id="rId17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Улей — B2B-сервис вычислительных мощностей на базе партнёрских GPU-ферм. Небольшим технологическим командам нужны видеокарты, а часть уже купленного оборудования используется не полностью. На первом этапе мы проверяем аренду через несколько партнёрских ферм с ручной координацией заказов. Если спрос и экономика подтвердятся, следующий шаг — автоматизация сервиса и, со временем, собственная распределённая сеть. Проект на стадии идеи: MVP, клиентов и договорённостей с фермами пока нет.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С одной стороны, небольшим технологическим командам нужны вычислительные мощности, и у них есть понятная рыночная цена. Час аренды RTX 3090 в облаке Immers.cloud стоит от 63 до 71 рубля в зависимости от конфигурации процессора и памяти, круглосуточная аренда — около 45–50 тысяч рублей в месяц. Но для небольших команд важна не только цена: важно, чтобы нужная карта была доступна, аренда — простой, а условия — предсказуемыми. Мы не утверждаем, что существующие облака неудобны всем; насколько это важно именно нашим клиентам, проверим в интервью. С другой стороны, есть уже купленное оборудование, которое загружено не полностью. В 2022 году Ethereum перестал использовать майнинг на видеокартах, и с тех пор доход фермы зависит от модели карт, тарифа на электричество и курса монет. Для части ферм и владельцев мощных компьютеров дополнительные заказы — коммерческая возможность лучше использовать уже сделанные вложения.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Улей соединяет небольшие технологические команды с владельцами GPU-мощностей. На первом этапе мы не строим собственную распределённую платформу, а проверяем B2B-аренду через несколько партнёрских ферм. Фермы предоставляют оборудование и вычислительные ресурсы; на старте нам нужно найти ограниченное число партнёров с подходящими конфигурациями. Улей находит клиентов, подбирает мощности под задачу, организует аренду и сопровождает заказ. Клиенты — небольшие ML-команды, лаборатории, AI-стартапы и технологические компании. Деньги в нашей гипотезе: клиент платит около 35 рублей за оплаченный час, ферма получает около 15. Это предварительные ориентиры: мы ещё не знаем, готовы ли фермы предоставить за 15 рублей полноценную рабочую конфигурацию, а не только видеокарту. Кто отвечает за процессор, память, накопители, сеть, доступность и техническое обслуживание, определим в условиях партнёрства — по умолчанию мы не берём это на себя.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Как это выглядит в первом коммерческом пилоте. Первое: компания обращается к нам с запросом на вычислительные мощности. Второе: Улей подбирает подходящую конфигурацию у партнёрской фермы. Третье: ферма предоставляет вычислительную среду, а Улей сопровождает заказ в согласованных пределах. Четвёртое: клиент оплачивает услугу, ферма получает вознаграждение, Улей — свою долю. Расчётный сценарий, а не коммерческое предложение: лаборатории нужно около ста часов работы RTX 3090 с 24 гигабайтами памяти. По нашей целевой цене 35 рублей за час это 3500 рублей, но цена пилотом не подтверждена. В облаке Immers.cloud такой объём стоит 6300–7100 рублей, и в эту цену входят процессор, память, диск и уровень сервиса дата-центра, поэтому сравнение не полностью сопоставимо. На рынке есть и более дешёвые GPU-площадки, так что мы рассчитываем не только на цену, но и на организацию аренды для B2B-клиентов. Экономию мы не гарантируем. В пилоте Улей отвечает за подбор, организацию аренды и сопровождение, ферма — за оборудование и вычислительную среду по условиям партнёрства. Собственной платформы, круглосуточной поддержки и гарантированного SLA у нас пока нет.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Основная гипотеза для пилота — B2B-аренда GPU небольшим ML-командам. Покупают ML-команды, лаборатории вузов, AI-стартапы и небольшие технологические компании; им нужны мощности для экспериментов, обработки наборов данных и дообучения моделей. Почему они могут выбрать Улей: мы подбираем GPU под задачу, помогаем организовать аренду, сопровождаем взаимодействие с поставщиком и стремимся к конкурентной цене. Круглосуточную техническую поддержку, гарантированный SLA или готовые инструменты автоматизации мы не обещаем. Главное, что проверяем: готовы ли команды платить за подбор и сопровождение, а не только за цену часа. Пакетная обработка аудио и видео и обработка изображений и документов — будущие гипотезы, оценим их позже. Приоритет первого пилота — B2B-аренда вычислительной мощности.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По исследованию Apple Hills Digital и Selectel «Облачные сервисы для ИИ: серверы с GPU и AI/ML-платформы», представленному 8 октября 2026 года, потребление облачных серверов с видеокартами в публичном облаке в России в 2025 году составило 8,2 миллиарда рублей и выросло на 68,7% к 2024 году. По публикации RB.ru о том же исследовании, базовый прогноз — 36,5 миллиарда рублей к 2030 году; это прогноз исследователей, а не гарантированная величина. Важно: 8,2 миллиарда — это весь рынок, включая серверные ускорители. Внутри него есть сегмент потребительских видеокарт уровня RTX 3090 и 4090, а наш потенциальный сегмент ещё уже — небольшие технологические команды, которым нужны GPU-мощности для несрочных задач и понятное сопровождение аренды. Его размер мы не знаем и определим по результатам анализа предложений конкурентов и интервью с потенциальными клиентами.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Сравниваем RTX 3090 при почасовой аренде, но это не полностью взаимозаменяемые продукты: ставки зависят от конфигурации, процессора, памяти, диска, времени и тарифа. Российские GPU-облака, например Immers.cloud, берут 63–71 рубль за час, и в цену входят серверная инфраструктура и поддержка; у других облачных провайдеров встречаются цены ниже. Тераферма — российская площадка с картами частных владельцев, опубликованные цены RTX 3090 — примерно 22–31 рубль за час, а наличие нужно проверять. Зарубежные маркетплейсы ещё дешевле — RunPod от 22 до 50 центов, SaladCloud от 9 до 17 центов, у Vast.ai цена зависит от хоста, — но расчёты в долларах, и российские карты там обычно не проходят. Поэтому Улей не стремится быть самым дешёвым маркетплейсом. Наша цель — около 35 рублей за час, а формат — B2B-сервис через партнёрские фермы для небольших ML-команд. Подбор и сопровождение — не уникальная услуга, их могут предлагать и конкуренты; задача пилота — выяснить, есть ли неудовлетворённый спрос на такой сервис. Надёжность у нас зависит от партнёров, а автоматизацию мы развиваем только после подтверждения спроса.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Экономика B2B-аренды — предварительный расчёт, а не достигнутый результат. Базовая гипотеза: клиент платит 35 рублей за оплаченный час, партнёрская ферма получает 15 рублей, ещё 3 рубля — условное допущение по переменным расходам: платежи, поддержка, инфраструктура. Остаётся 17 рублей на постоянные расходы и прибыль. Это расчёт без налогов и без постоянных расходов. 15 рублей — предполагаемая цена фермы за полноценную рабочую конфигурацию, а не только за видеокарту; согласятся ли фермы на такие условия, ещё предстоит проверить. Цена 35 рублей тоже не окончательная: при ценовой конкуренции остаток падает до 12 рублей при цене 30 и до 7 рублей при цене 25. Один заказ на 100 часов по 35 рублей даёт 3500 рублей выручки, 1500 уходит ферме, около 300 — на условные расходы, остаётся 1700 рублей до налогов и постоянных расходов; это не чистая прибыль. Чтобы при остатке 17 рублей покрыть 250 тысяч постоянных расходов в месяц, нужно около 14,7 тысячи оплаченных часов. Но 250 тысяч — условный сценарий развитого сервиса, на этапе ручной проверки расходы могут быть существенно ниже, и 14,7 тысячи часов — не цель первых трёх месяцев. Главное, что мы проверяем: какую цену готовы платить клиенты, сколько на самом деле стоит аренда у фермы, во что обходится обслуживание заказа и сколько часов и как регулярно покупают клиенты. Ручное сопровождение может создавать дополнительные расходы, которые в расчёт не включены.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Шесть рисков в порядке важности, три ключевых выделены. Первый — платёжеспособный спрос: готовы ли клиенты платить за подбор и сопровождение, если есть более дешёвые GPU-маркетплейсы. Проверяем интервью и попытками организовать платные пилоты. Второй — экономика партнёрских условий: найдутся ли фермы, которые предоставят подходящие ресурсы по цене, оставляющей нам достаточную маржу. Проверяем переговорами и расчётом стоимости. Третий — доступность и качество мощностей: есть ли у партнёров подходящие видеокарты и нужная инфраструктура; проверяем изучением оборудования и реальными тестами. Четвёртый — операционные затраты: ручное сопровождение небольших заказов может оказаться дороже маржи, поэтому на каждом пилоте фиксируем время и затраты. Пятый — право и безопасность данных: нужно определить правовую модель и правила работы с данными клиентов, в пилоте используем тестовые данные. Шестой — технологическое масштабирование: без технического специалиста трудно создать собственную платформу. Для первого ручного теста полноценная технологическая команда не обязательна, если ресурсы и техническое обслуживание обеспечивает партнёр, но для следующего этапа технический сооснователь или партнёр понадобится.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План на полгода построен как последовательная проверка. Первый месяц — проверка коммерческой гипотезы: 15–20 интервью с потенциальными B2B-клиентами, где выясняем их текущие затраты на GPU и объём потребления; поиск 3–5 потенциальных партнёрских ферм и переговоры о стоимости и доступности оборудования; проверка цен и качества предложений конкурентов и предварительная экономика заказа. Итог месяца — понимание, есть ли потенциально выгодный ценовой коридор между клиентом и фермой. Второй и третий месяцы — ручной пилот, если интерес подтвердят обе стороны: 2–3 небольших пилотных заказа, проверка работы оборудования, фактической стоимости обслуживания, качества и сроков исполнения и повторного спроса. Первые платные сделки — если получится, мы их не обещаем. Итог — первые практические данные о коммерческой реализуемости модели. Четвёртый–шестой месяцы — развитие при положительных результатах: больше партнёров и клиентов, автоматизация самых трудоёмких операций, оценка возможности разработать собственную платформу, поиск технического сооснователя или партнёра и уточнение модели масштабирования. Если результаты отрицательные — корректируем гипотезу или отказываемся от неё. Бюджет разделяем на два этапа. Коммерческая проверка — интервью и продажи, тестовая аренда оборудования, минимальные операционные расходы и при необходимости техническая консультация; точные суммы уточним после первого месяца. Прежняя оценка 0,1–0,7 миллиона рублей относилась к сценарию с разработкой технического прототипа и к новому плану напрямую не относится. Разработка собственной платформы, автоматизация, инфраструктура и дополнительные специалисты — отдельный следующий этап, который финансируется только после подтверждения модели. Грант «Студенческий стартап» — возможный источник, не гарантирован.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Тимур Новиков — продакт-менеджер, отвечает за продукт и бизнес-модель: проверку экономики, работу с потенциальными партнёрскими фермами, условия сервиса, технические требования и план дальнейшего развития продукта. Игорь Кузьмин — менеджер по продажам, отвечает за клиентов и продажи: интервью с потенциальными заказчиками, проверку их потребностей, поиск первых пилотных клиентов, организацию продаж и сбор обратной связи. От преакселератора мы ждём экспертной оценки бизнес-модели, помощи с проверкой спроса, контактов потенциальных B2B-клиентов и, если получится, знакомств с поставщиками GPU, помощи с финансовым моделированием, технической экспертизы для выбора дальнейшей архитектуры, наставничества и проверки гипотез. С помощью преакселератора мы хотим проверить спрос и экономику GPU-аренды через партнёрские фермы. Если модель окажется жизнеспособной, следующим шагом станет автоматизация сервиса и развитие собственной распределённой платформы.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Улей — обложка">
    <p:bg>
      <p:bgPr>
        <a:solidFill>
          <a:schemeClr val="tx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812800" y="3337620"/>
            <a:ext cx="10820400" cy="147320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9200" b="1" spc="-200" kern="0" dirty="0">
                <a:solidFill>
                  <a:schemeClr val="bg1"/>
                </a:solidFill>
                <a:latin typeface="Unbounded" pitchFamily="34" charset="0"/>
                <a:ea typeface="Unbounded" pitchFamily="34" charset="-122"/>
                <a:cs typeface="Unbounded" pitchFamily="34" charset="-120"/>
              </a:defRPr>
            </a:lvl1pPr>
          </a:lstStyle>
          <a:p>
            <a:pPr algn="l" indent="0" marL="0">
              <a:buNone/>
            </a:pPr>
            <a:endParaRPr lang="en-US" sz="9200" dirty="0"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Улей — тёмный">
    <p:bg>
      <p:bgPr>
        <a:solidFill>
          <a:schemeClr val="tx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812800" y="768350"/>
            <a:ext cx="10820400" cy="46990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2800" spc="-50" kern="0" dirty="0">
                <a:solidFill>
                  <a:schemeClr val="bg1"/>
                </a:solidFill>
              </a:defRPr>
            </a:lvl1pPr>
          </a:lstStyle>
          <a:p>
            <a:pPr algn="l" indent="0" marL="0">
              <a:buNone/>
            </a:pPr>
            <a:endParaRPr lang="en-US" sz="2800" dirty="0"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Улей — светлый">
    <p:bg>
      <p:bgPr>
        <a:solidFill>
          <a:schemeClr val="bg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812800" y="768350"/>
            <a:ext cx="10820400" cy="46990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2800" spc="-50" kern="0" dirty="0">
                <a:solidFill>
                  <a:schemeClr val="tx2"/>
                </a:solidFill>
              </a:defRPr>
            </a:lvl1pPr>
          </a:lstStyle>
          <a:p>
            <a:pPr algn="l" indent="0" marL="0">
              <a:buNone/>
            </a:pPr>
            <a:endParaRPr lang="en-US" sz="2800" dirty="0"/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-1.png"/><Relationship Id="rId2" Type="http://schemas.openxmlformats.org/officeDocument/2006/relationships/image" Target="../media/image-3-2.png"/><Relationship Id="rId3" Type="http://schemas.openxmlformats.org/officeDocument/2006/relationships/image" Target="../media/image-3-3.png"/><Relationship Id="rId4" Type="http://schemas.openxmlformats.org/officeDocument/2006/relationships/image" Target="../media/image-3-4.png"/><Relationship Id="rId5" Type="http://schemas.openxmlformats.org/officeDocument/2006/relationships/slideLayout" Target="../slideLayouts/slideLayout3.xml"/><Relationship Id="rId6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Slide-6-image-1.png"/><Relationship Id="rId2" Type="http://schemas.openxmlformats.org/officeDocument/2006/relationships/slideLayout" Target="../slideLayouts/slideLayout4.xml"/><Relationship Id="rId3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1-1.png"/><Relationship Id="rId2" Type="http://schemas.openxmlformats.org/officeDocument/2006/relationships/image" Target="../media/image-11-2.png"/><Relationship Id="rId3" Type="http://schemas.openxmlformats.org/officeDocument/2006/relationships/slideLayout" Target="../slideLayouts/slideLayout3.xml"/><Relationship Id="rId4" Type="http://schemas.openxmlformats.org/officeDocument/2006/relationships/notesSlide" Target="../notesSlides/notesSlide1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Логотип Улья: шестиугольная ячейка сот с янтарным кубом внутри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061200" y="1143000"/>
            <a:ext cx="4318000" cy="4318000"/>
          </a:xfrm>
          <a:prstGeom prst="rect">
            <a:avLst/>
          </a:prstGeom>
        </p:spPr>
      </p:pic>
      <p:sp>
        <p:nvSpPr>
          <p:cNvPr id="3" name="Text 0"/>
          <p:cNvSpPr/>
          <p:nvPr>
            <p:ph idx="100" type="title" hasCustomPrompt="1"/>
          </p:nvPr>
        </p:nvSpPr>
        <p:spPr>
          <a:xfrm>
            <a:off x="812800" y="3337620"/>
            <a:ext cx="10820400" cy="1473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ru-RU" altLang="en-US" sz="9200" b="1" spc="-200" kern="0" dirty="0">
                <a:solidFill>
                  <a:schemeClr val="bg1"/>
                </a:solidFill>
                <a:latin typeface="Unbounded" pitchFamily="34" charset="0"/>
                <a:ea typeface="Unbounded" pitchFamily="34" charset="-122"/>
                <a:cs typeface="Unbounded" pitchFamily="34" charset="-120"/>
              </a:rPr>
              <a:t>Улей</a:t>
            </a:r>
            <a:endParaRPr lang="en-US" sz="9200" dirty="0"/>
          </a:p>
        </p:txBody>
      </p:sp>
      <p:sp>
        <p:nvSpPr>
          <p:cNvPr id="4" name="Text 1"/>
          <p:cNvSpPr txBox="1"/>
          <p:nvPr/>
        </p:nvSpPr>
        <p:spPr>
          <a:xfrm>
            <a:off x="812800" y="4887020"/>
            <a:ext cx="5867400" cy="7302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750"/>
              </a:lnSpc>
              <a:buNone/>
            </a:pPr>
            <a:r>
              <a:rPr lang="ru-RU" altLang="en-US" sz="2200" dirty="0">
                <a:solidFill>
                  <a:schemeClr val="bg1"/>
                </a:solidFill>
                <a:latin typeface="+mn-lt" pitchFamily="34" charset="0"/>
                <a:ea typeface="+mn-lt" pitchFamily="34" charset="-122"/>
                <a:cs typeface="+mn-lt" pitchFamily="34" charset="-120"/>
              </a:rPr>
              <a:t>Превращаем простаивающие видеокарты </a:t>
            </a:r>
            <a:br/>
            <a:pPr algn="l" indent="0" marL="0">
              <a:lnSpc>
                <a:spcPts val="2750"/>
              </a:lnSpc>
              <a:buNone/>
            </a:pPr>
            <a:r>
              <a:rPr lang="ru-RU" altLang="en-US" sz="2200" dirty="0">
                <a:solidFill>
                  <a:schemeClr val="bg1"/>
                </a:solidFill>
                <a:latin typeface="+mn-lt" pitchFamily="34" charset="0"/>
                <a:ea typeface="+mn-lt" pitchFamily="34" charset="-122"/>
                <a:cs typeface="+mn-lt" pitchFamily="34" charset="-120"/>
              </a:rPr>
              <a:t>в доступные вычислительные мощности</a:t>
            </a:r>
            <a:endParaRPr lang="en-US" sz="2200" dirty="0"/>
          </a:p>
        </p:txBody>
      </p:sp>
      <p:sp>
        <p:nvSpPr>
          <p:cNvPr id="5" name="Text 2"/>
          <p:cNvSpPr txBox="1"/>
          <p:nvPr/>
        </p:nvSpPr>
        <p:spPr>
          <a:xfrm>
            <a:off x="812800" y="5795070"/>
            <a:ext cx="5867400" cy="2667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ru-RU" altLang="en-US" sz="1400" dirty="0">
                <a:solidFill>
                  <a:schemeClr val="accent1"/>
                </a:solidFill>
                <a:latin typeface="+mn-lt" pitchFamily="34" charset="0"/>
                <a:ea typeface="+mn-lt" pitchFamily="34" charset="-122"/>
                <a:cs typeface="+mn-lt" pitchFamily="34" charset="-120"/>
              </a:rPr>
              <a:t>Преакселератор ВШМ СПбГУ, 2026</a:t>
            </a:r>
            <a:endParaRPr lang="en-US" sz="14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812800" y="768350"/>
            <a:ext cx="10820400" cy="4699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ru-RU" altLang="en-US" sz="2800" spc="-50" kern="0" dirty="0">
                <a:solidFill>
                  <a:schemeClr val="tx2"/>
                </a:solidFill>
              </a:rPr>
              <a:t>Проблема</a:t>
            </a:r>
            <a:endParaRPr lang="en-US" sz="2800" dirty="0"/>
          </a:p>
        </p:txBody>
      </p:sp>
      <p:sp>
        <p:nvSpPr>
          <p:cNvPr id="3" name="Text 1"/>
          <p:cNvSpPr txBox="1"/>
          <p:nvPr/>
        </p:nvSpPr>
        <p:spPr>
          <a:xfrm>
            <a:off x="812800" y="1757859"/>
            <a:ext cx="3012718" cy="838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ru-RU" altLang="en-US" sz="5200" spc="-150" kern="0" dirty="0">
                <a:solidFill>
                  <a:schemeClr val="accent2"/>
                </a:solidFill>
                <a:latin typeface="+mj-lt" pitchFamily="34" charset="0"/>
                <a:ea typeface="+mj-lt" pitchFamily="34" charset="-122"/>
                <a:cs typeface="+mj-lt" pitchFamily="34" charset="-120"/>
              </a:rPr>
              <a:t>63–71 ₽</a:t>
            </a:r>
            <a:endParaRPr lang="en-US" sz="5200" dirty="0"/>
          </a:p>
        </p:txBody>
      </p:sp>
      <p:sp>
        <p:nvSpPr>
          <p:cNvPr id="4" name="Text 2"/>
          <p:cNvSpPr txBox="1"/>
          <p:nvPr/>
        </p:nvSpPr>
        <p:spPr>
          <a:xfrm>
            <a:off x="812800" y="2634159"/>
            <a:ext cx="4807268" cy="543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080"/>
              </a:lnSpc>
              <a:buNone/>
            </a:pPr>
            <a:r>
              <a:rPr lang="ru-RU" altLang="en-US" sz="1600" b="1" dirty="0">
                <a:solidFill>
                  <a:schemeClr val="tx2"/>
                </a:solidFill>
                <a:latin typeface="+mn-lt" pitchFamily="34" charset="0"/>
                <a:ea typeface="+mn-lt" pitchFamily="34" charset="-122"/>
                <a:cs typeface="+mn-lt" pitchFamily="34" charset="-120"/>
              </a:rPr>
              <a:t>за час аренды RTX 3090 в облаке </a:t>
            </a:r>
            <a:br/>
            <a:pPr algn="l" indent="0" marL="0">
              <a:lnSpc>
                <a:spcPts val="2080"/>
              </a:lnSpc>
              <a:buNone/>
            </a:pPr>
            <a:r>
              <a:rPr lang="ru-RU" altLang="en-US" sz="1600" b="1" dirty="0">
                <a:solidFill>
                  <a:schemeClr val="tx2"/>
                </a:solidFill>
                <a:latin typeface="+mn-lt" pitchFamily="34" charset="0"/>
                <a:ea typeface="+mn-lt" pitchFamily="34" charset="-122"/>
                <a:cs typeface="+mn-lt" pitchFamily="34" charset="-120"/>
              </a:rPr>
              <a:t>Immers.cloud</a:t>
            </a:r>
            <a:endParaRPr lang="en-US" sz="1600" dirty="0"/>
          </a:p>
        </p:txBody>
      </p:sp>
      <p:sp>
        <p:nvSpPr>
          <p:cNvPr id="5" name="Text 3"/>
          <p:cNvSpPr txBox="1"/>
          <p:nvPr/>
        </p:nvSpPr>
        <p:spPr>
          <a:xfrm>
            <a:off x="812800" y="3289399"/>
            <a:ext cx="4807268" cy="995363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960"/>
              </a:lnSpc>
              <a:buNone/>
            </a:pPr>
            <a:r>
              <a:rPr lang="ru-RU" altLang="en-US" sz="1400" dirty="0">
                <a:solidFill>
                  <a:schemeClr val="accent6"/>
                </a:solidFill>
                <a:latin typeface="+mn-lt" pitchFamily="34" charset="0"/>
                <a:ea typeface="+mn-lt" pitchFamily="34" charset="-122"/>
                <a:cs typeface="+mn-lt" pitchFamily="34" charset="-120"/>
              </a:rPr>
              <a:t>Круглосуточно — около 45–50 тыс. ₽ в месяц. </a:t>
            </a:r>
            <a:br/>
            <a:pPr algn="l" indent="0" marL="0">
              <a:lnSpc>
                <a:spcPts val="1960"/>
              </a:lnSpc>
              <a:buNone/>
            </a:pPr>
            <a:r>
              <a:rPr lang="ru-RU" altLang="en-US" sz="1400" dirty="0">
                <a:solidFill>
                  <a:schemeClr val="accent6"/>
                </a:solidFill>
                <a:latin typeface="+mn-lt" pitchFamily="34" charset="0"/>
                <a:ea typeface="+mn-lt" pitchFamily="34" charset="-122"/>
                <a:cs typeface="+mn-lt" pitchFamily="34" charset="-120"/>
              </a:rPr>
              <a:t>Небольшим командам важна не только цена, </a:t>
            </a:r>
            <a:br/>
            <a:pPr algn="l" indent="0" marL="0">
              <a:lnSpc>
                <a:spcPts val="1960"/>
              </a:lnSpc>
              <a:buNone/>
            </a:pPr>
            <a:r>
              <a:rPr lang="ru-RU" altLang="en-US" sz="1400" dirty="0">
                <a:solidFill>
                  <a:schemeClr val="accent6"/>
                </a:solidFill>
                <a:latin typeface="+mn-lt" pitchFamily="34" charset="0"/>
                <a:ea typeface="+mn-lt" pitchFamily="34" charset="-122"/>
                <a:cs typeface="+mn-lt" pitchFamily="34" charset="-120"/>
              </a:rPr>
              <a:t>но и доступность нужной карты, простая аренда </a:t>
            </a:r>
            <a:br/>
            <a:pPr algn="l" indent="0" marL="0">
              <a:lnSpc>
                <a:spcPts val="1960"/>
              </a:lnSpc>
              <a:buNone/>
            </a:pPr>
            <a:r>
              <a:rPr lang="ru-RU" altLang="en-US" sz="1400" dirty="0">
                <a:solidFill>
                  <a:schemeClr val="accent6"/>
                </a:solidFill>
                <a:latin typeface="+mn-lt" pitchFamily="34" charset="0"/>
                <a:ea typeface="+mn-lt" pitchFamily="34" charset="-122"/>
                <a:cs typeface="+mn-lt" pitchFamily="34" charset="-120"/>
              </a:rPr>
              <a:t>и предсказуемые условия.</a:t>
            </a:r>
            <a:endParaRPr lang="en-US" sz="1400" dirty="0"/>
          </a:p>
        </p:txBody>
      </p:sp>
      <p:sp>
        <p:nvSpPr>
          <p:cNvPr id="6" name="Shape 4"/>
          <p:cNvSpPr/>
          <p:nvPr/>
        </p:nvSpPr>
        <p:spPr>
          <a:xfrm>
            <a:off x="6089650" y="1846759"/>
            <a:ext cx="12700" cy="2438003"/>
          </a:xfrm>
          <a:prstGeom prst="rect">
            <a:avLst/>
          </a:prstGeom>
          <a:solidFill>
            <a:srgbClr val="E2D7C5"/>
          </a:solidFill>
          <a:ln/>
        </p:spPr>
      </p:sp>
      <p:sp>
        <p:nvSpPr>
          <p:cNvPr id="7" name="Text 5"/>
          <p:cNvSpPr txBox="1"/>
          <p:nvPr/>
        </p:nvSpPr>
        <p:spPr>
          <a:xfrm>
            <a:off x="6711950" y="1891209"/>
            <a:ext cx="1781877" cy="6921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ru-RU" altLang="en-US" sz="4200" spc="-150" kern="0" dirty="0">
                <a:solidFill>
                  <a:schemeClr val="accent6"/>
                </a:solidFill>
                <a:latin typeface="+mj-lt" pitchFamily="34" charset="0"/>
                <a:ea typeface="+mj-lt" pitchFamily="34" charset="-122"/>
                <a:cs typeface="+mj-lt" pitchFamily="34" charset="-120"/>
              </a:rPr>
              <a:t>2022</a:t>
            </a:r>
            <a:endParaRPr lang="en-US" sz="4200" dirty="0"/>
          </a:p>
        </p:txBody>
      </p:sp>
      <p:sp>
        <p:nvSpPr>
          <p:cNvPr id="8" name="Text 6"/>
          <p:cNvSpPr txBox="1"/>
          <p:nvPr/>
        </p:nvSpPr>
        <p:spPr>
          <a:xfrm>
            <a:off x="6711950" y="2634159"/>
            <a:ext cx="4807268" cy="543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080"/>
              </a:lnSpc>
              <a:buNone/>
            </a:pPr>
            <a:r>
              <a:rPr lang="ru-RU" altLang="en-US" sz="1600" b="1" dirty="0">
                <a:solidFill>
                  <a:schemeClr val="tx2"/>
                </a:solidFill>
                <a:latin typeface="+mn-lt" pitchFamily="34" charset="0"/>
                <a:ea typeface="+mn-lt" pitchFamily="34" charset="-122"/>
                <a:cs typeface="+mn-lt" pitchFamily="34" charset="-120"/>
              </a:rPr>
              <a:t>Ethereum отказался от майнинга </a:t>
            </a:r>
            <a:br/>
            <a:pPr algn="l" indent="0" marL="0">
              <a:lnSpc>
                <a:spcPts val="2080"/>
              </a:lnSpc>
              <a:buNone/>
            </a:pPr>
            <a:r>
              <a:rPr lang="ru-RU" altLang="en-US" sz="1600" b="1" dirty="0">
                <a:solidFill>
                  <a:schemeClr val="tx2"/>
                </a:solidFill>
                <a:latin typeface="+mn-lt" pitchFamily="34" charset="0"/>
                <a:ea typeface="+mn-lt" pitchFamily="34" charset="-122"/>
                <a:cs typeface="+mn-lt" pitchFamily="34" charset="-120"/>
              </a:rPr>
              <a:t>на видеокартах</a:t>
            </a:r>
            <a:endParaRPr lang="en-US" sz="1600" dirty="0"/>
          </a:p>
        </p:txBody>
      </p:sp>
      <p:sp>
        <p:nvSpPr>
          <p:cNvPr id="9" name="Text 7"/>
          <p:cNvSpPr txBox="1"/>
          <p:nvPr/>
        </p:nvSpPr>
        <p:spPr>
          <a:xfrm>
            <a:off x="6711950" y="3289399"/>
            <a:ext cx="4807268" cy="995363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960"/>
              </a:lnSpc>
              <a:buNone/>
            </a:pPr>
            <a:r>
              <a:rPr lang="ru-RU" altLang="en-US" sz="1400" dirty="0">
                <a:solidFill>
                  <a:schemeClr val="accent6"/>
                </a:solidFill>
                <a:latin typeface="+mn-lt" pitchFamily="34" charset="0"/>
                <a:ea typeface="+mn-lt" pitchFamily="34" charset="-122"/>
                <a:cs typeface="+mn-lt" pitchFamily="34" charset="-120"/>
              </a:rPr>
              <a:t>Часть ферм и владельцев мощных ПК загружена </a:t>
            </a:r>
            <a:br/>
            <a:pPr algn="l" indent="0" marL="0">
              <a:lnSpc>
                <a:spcPts val="1960"/>
              </a:lnSpc>
              <a:buNone/>
            </a:pPr>
            <a:r>
              <a:rPr lang="ru-RU" altLang="en-US" sz="1400" dirty="0">
                <a:solidFill>
                  <a:schemeClr val="accent6"/>
                </a:solidFill>
                <a:latin typeface="+mn-lt" pitchFamily="34" charset="0"/>
                <a:ea typeface="+mn-lt" pitchFamily="34" charset="-122"/>
                <a:cs typeface="+mn-lt" pitchFamily="34" charset="-120"/>
              </a:rPr>
              <a:t>не полностью. Для них дополнительные заказы — </a:t>
            </a:r>
            <a:br/>
            <a:pPr algn="l" indent="0" marL="0">
              <a:lnSpc>
                <a:spcPts val="1960"/>
              </a:lnSpc>
              <a:buNone/>
            </a:pPr>
            <a:r>
              <a:rPr lang="ru-RU" altLang="en-US" sz="1400" dirty="0">
                <a:solidFill>
                  <a:schemeClr val="accent6"/>
                </a:solidFill>
                <a:latin typeface="+mn-lt" pitchFamily="34" charset="0"/>
                <a:ea typeface="+mn-lt" pitchFamily="34" charset="-122"/>
                <a:cs typeface="+mn-lt" pitchFamily="34" charset="-120"/>
              </a:rPr>
              <a:t>способ лучше использовать уже купленное </a:t>
            </a:r>
            <a:br/>
            <a:pPr algn="l" indent="0" marL="0">
              <a:lnSpc>
                <a:spcPts val="1960"/>
              </a:lnSpc>
              <a:buNone/>
            </a:pPr>
            <a:r>
              <a:rPr lang="ru-RU" altLang="en-US" sz="1400" dirty="0">
                <a:solidFill>
                  <a:schemeClr val="accent6"/>
                </a:solidFill>
                <a:latin typeface="+mn-lt" pitchFamily="34" charset="0"/>
                <a:ea typeface="+mn-lt" pitchFamily="34" charset="-122"/>
                <a:cs typeface="+mn-lt" pitchFamily="34" charset="-120"/>
              </a:rPr>
              <a:t>оборудование.</a:t>
            </a:r>
            <a:endParaRPr lang="en-US" sz="1400" dirty="0"/>
          </a:p>
        </p:txBody>
      </p:sp>
      <p:sp>
        <p:nvSpPr>
          <p:cNvPr id="10" name="Text 8"/>
          <p:cNvSpPr txBox="1"/>
          <p:nvPr/>
        </p:nvSpPr>
        <p:spPr>
          <a:xfrm>
            <a:off x="812800" y="4927600"/>
            <a:ext cx="10718800" cy="9271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400"/>
              </a:lnSpc>
              <a:buNone/>
            </a:pPr>
            <a:r>
              <a:rPr lang="ru-RU" altLang="en-US" sz="2000" spc="-50" kern="0" dirty="0">
                <a:solidFill>
                  <a:schemeClr val="tx2"/>
                </a:solidFill>
                <a:latin typeface="+mj-lt" pitchFamily="34" charset="0"/>
                <a:ea typeface="+mj-lt" pitchFamily="34" charset="-122"/>
                <a:cs typeface="+mj-lt" pitchFamily="34" charset="-120"/>
              </a:rPr>
              <a:t>Командам нужны доступные и понятные GPU-мощности, а часть </a:t>
            </a:r>
            <a:br/>
            <a:pPr algn="l" indent="0" marL="0">
              <a:lnSpc>
                <a:spcPts val="2400"/>
              </a:lnSpc>
              <a:buNone/>
            </a:pPr>
            <a:r>
              <a:rPr lang="ru-RU" altLang="en-US" sz="2000" spc="-50" kern="0" dirty="0">
                <a:solidFill>
                  <a:schemeClr val="tx2"/>
                </a:solidFill>
                <a:latin typeface="+mj-lt" pitchFamily="34" charset="0"/>
                <a:ea typeface="+mj-lt" pitchFamily="34" charset="-122"/>
                <a:cs typeface="+mj-lt" pitchFamily="34" charset="-120"/>
              </a:rPr>
              <a:t>уже купленного оборудования можно использовать </a:t>
            </a:r>
            <a:br/>
            <a:pPr algn="l" indent="0" marL="0">
              <a:lnSpc>
                <a:spcPts val="2400"/>
              </a:lnSpc>
              <a:buNone/>
            </a:pPr>
            <a:r>
              <a:rPr lang="ru-RU" altLang="en-US" sz="2000" spc="-50" kern="0" dirty="0">
                <a:solidFill>
                  <a:schemeClr val="tx2"/>
                </a:solidFill>
                <a:latin typeface="+mj-lt" pitchFamily="34" charset="0"/>
                <a:ea typeface="+mj-lt" pitchFamily="34" charset="-122"/>
                <a:cs typeface="+mj-lt" pitchFamily="34" charset="-120"/>
              </a:rPr>
              <a:t>эффективнее.</a:t>
            </a:r>
            <a:endParaRPr lang="en-US" sz="2000" dirty="0"/>
          </a:p>
        </p:txBody>
      </p:sp>
      <p:sp>
        <p:nvSpPr>
          <p:cNvPr id="11" name="Text 9"/>
          <p:cNvSpPr txBox="1"/>
          <p:nvPr/>
        </p:nvSpPr>
        <p:spPr>
          <a:xfrm>
            <a:off x="812800" y="6234509"/>
            <a:ext cx="10718800" cy="2349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ru-RU" altLang="en-US" sz="1200" dirty="0">
                <a:solidFill>
                  <a:srgbClr val="6A5E4F"/>
                </a:solidFill>
                <a:latin typeface="+mn-lt" pitchFamily="34" charset="0"/>
                <a:ea typeface="+mn-lt" pitchFamily="34" charset="-122"/>
                <a:cs typeface="+mn-lt" pitchFamily="34" charset="-120"/>
              </a:rPr>
              <a:t>Цены: immers.cloud, октябрь 2026. Ethereum: переход на proof-of-stake, сентябрь 2022</a:t>
            </a:r>
            <a:endParaRPr lang="en-US" sz="12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812800" y="768350"/>
            <a:ext cx="10820400" cy="4699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ru-RU" altLang="en-US" sz="2800" spc="-50" kern="0" dirty="0">
                <a:solidFill>
                  <a:schemeClr val="bg1"/>
                </a:solidFill>
              </a:rPr>
              <a:t>Решение</a:t>
            </a:r>
            <a:endParaRPr lang="en-US" sz="2800" dirty="0"/>
          </a:p>
        </p:txBody>
      </p:sp>
      <p:sp>
        <p:nvSpPr>
          <p:cNvPr id="3" name="Text 1"/>
          <p:cNvSpPr txBox="1"/>
          <p:nvPr/>
        </p:nvSpPr>
        <p:spPr>
          <a:xfrm>
            <a:off x="812800" y="1381720"/>
            <a:ext cx="9550400" cy="48131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890"/>
              </a:lnSpc>
              <a:buNone/>
            </a:pPr>
            <a:r>
              <a:rPr lang="ru-RU" altLang="en-US" sz="1400" dirty="0">
                <a:solidFill>
                  <a:schemeClr val="bg1"/>
                </a:solidFill>
                <a:latin typeface="+mn-lt" pitchFamily="34" charset="0"/>
                <a:ea typeface="+mn-lt" pitchFamily="34" charset="-122"/>
                <a:cs typeface="+mn-lt" pitchFamily="34" charset="-120"/>
              </a:rPr>
              <a:t>Улей соединяет небольшие технологические команды с владельцами GPU-мощностей. На первом этапе </a:t>
            </a:r>
            <a:br/>
            <a:pPr algn="l" indent="0" marL="0">
              <a:lnSpc>
                <a:spcPts val="1890"/>
              </a:lnSpc>
              <a:buNone/>
            </a:pPr>
            <a:r>
              <a:rPr lang="ru-RU" altLang="en-US" sz="1400" dirty="0">
                <a:solidFill>
                  <a:schemeClr val="bg1"/>
                </a:solidFill>
                <a:latin typeface="+mn-lt" pitchFamily="34" charset="0"/>
                <a:ea typeface="+mn-lt" pitchFamily="34" charset="-122"/>
                <a:cs typeface="+mn-lt" pitchFamily="34" charset="-120"/>
              </a:rPr>
              <a:t>проверяем </a:t>
            </a:r>
            <a:pPr algn="l" indent="0" marL="0">
              <a:lnSpc>
                <a:spcPts val="1890"/>
              </a:lnSpc>
              <a:buNone/>
            </a:pPr>
            <a:r>
              <a:rPr lang="ru-RU" altLang="en-US" sz="1400" dirty="0">
                <a:solidFill>
                  <a:schemeClr val="bg1"/>
                </a:solidFill>
                <a:latin typeface="+mn-lt" pitchFamily="34" charset="0"/>
                <a:ea typeface="+mn-lt" pitchFamily="34" charset="-122"/>
                <a:cs typeface="+mn-lt" pitchFamily="34" charset="-120"/>
              </a:rPr>
              <a:t>B2B-аренду</a:t>
            </a:r>
            <a:pPr algn="l" indent="0" marL="0">
              <a:lnSpc>
                <a:spcPts val="1890"/>
              </a:lnSpc>
              <a:buNone/>
            </a:pPr>
            <a:r>
              <a:rPr lang="ru-RU" altLang="en-US" sz="1400" dirty="0">
                <a:solidFill>
                  <a:schemeClr val="bg1"/>
                </a:solidFill>
                <a:latin typeface="+mn-lt" pitchFamily="34" charset="0"/>
                <a:ea typeface="+mn-lt" pitchFamily="34" charset="-122"/>
                <a:cs typeface="+mn-lt" pitchFamily="34" charset="-120"/>
              </a:rPr>
              <a:t> через партнёрские фермы без создания собственной распределённой платформы.</a:t>
            </a:r>
            <a:endParaRPr lang="en-US" sz="1400" dirty="0"/>
          </a:p>
        </p:txBody>
      </p:sp>
      <p:sp>
        <p:nvSpPr>
          <p:cNvPr id="4" name="Shape 2"/>
          <p:cNvSpPr/>
          <p:nvPr/>
        </p:nvSpPr>
        <p:spPr>
          <a:xfrm>
            <a:off x="815975" y="2042716"/>
            <a:ext cx="2571750" cy="3267869"/>
          </a:xfrm>
          <a:prstGeom prst="roundRect">
            <a:avLst>
              <a:gd name="adj" fmla="val 5926"/>
            </a:avLst>
          </a:prstGeom>
          <a:solidFill>
            <a:schemeClr val="accent3"/>
          </a:solidFill>
          <a:ln w="6350">
            <a:solidFill>
              <a:schemeClr val="accent4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1073150" y="2274491"/>
            <a:ext cx="2119122" cy="4876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840"/>
              </a:lnSpc>
              <a:buNone/>
            </a:pPr>
            <a:r>
              <a:rPr lang="ru-RU" altLang="en-US" sz="1600" dirty="0">
                <a:solidFill>
                  <a:schemeClr val="bg1"/>
                </a:solidFill>
                <a:latin typeface="+mj-lt" pitchFamily="34" charset="0"/>
                <a:ea typeface="+mj-lt" pitchFamily="34" charset="-122"/>
                <a:cs typeface="+mj-lt" pitchFamily="34" charset="-120"/>
              </a:rPr>
              <a:t>Партнёрские </a:t>
            </a:r>
            <a:br/>
            <a:pPr algn="l" indent="0" marL="0">
              <a:lnSpc>
                <a:spcPts val="1840"/>
              </a:lnSpc>
              <a:buNone/>
            </a:pPr>
            <a:r>
              <a:rPr lang="ru-RU" altLang="en-US" sz="1600" dirty="0">
                <a:solidFill>
                  <a:schemeClr val="bg1"/>
                </a:solidFill>
                <a:latin typeface="+mj-lt" pitchFamily="34" charset="0"/>
                <a:ea typeface="+mj-lt" pitchFamily="34" charset="-122"/>
                <a:cs typeface="+mj-lt" pitchFamily="34" charset="-120"/>
              </a:rPr>
              <a:t>GPU-фермы</a:t>
            </a:r>
            <a:endParaRPr lang="en-US" sz="1600" dirty="0"/>
          </a:p>
        </p:txBody>
      </p:sp>
      <p:sp>
        <p:nvSpPr>
          <p:cNvPr id="6" name="Text 4"/>
          <p:cNvSpPr txBox="1"/>
          <p:nvPr/>
        </p:nvSpPr>
        <p:spPr>
          <a:xfrm>
            <a:off x="1073150" y="2830711"/>
            <a:ext cx="2119122" cy="92432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820"/>
              </a:lnSpc>
              <a:buNone/>
            </a:pPr>
            <a:r>
              <a:rPr lang="ru-RU" altLang="en-US" sz="1300" dirty="0">
                <a:solidFill>
                  <a:schemeClr val="accent5"/>
                </a:solidFill>
                <a:latin typeface="+mn-lt" pitchFamily="34" charset="0"/>
                <a:ea typeface="+mn-lt" pitchFamily="34" charset="-122"/>
                <a:cs typeface="+mn-lt" pitchFamily="34" charset="-120"/>
              </a:rPr>
              <a:t>Дают оборудование </a:t>
            </a:r>
            <a:br/>
            <a:pPr algn="l" indent="0" marL="0">
              <a:lnSpc>
                <a:spcPts val="1820"/>
              </a:lnSpc>
              <a:buNone/>
            </a:pPr>
            <a:r>
              <a:rPr lang="ru-RU" altLang="en-US" sz="1300" dirty="0">
                <a:solidFill>
                  <a:schemeClr val="accent5"/>
                </a:solidFill>
                <a:latin typeface="+mn-lt" pitchFamily="34" charset="0"/>
                <a:ea typeface="+mn-lt" pitchFamily="34" charset="-122"/>
                <a:cs typeface="+mn-lt" pitchFamily="34" charset="-120"/>
              </a:rPr>
              <a:t>и вычислительные </a:t>
            </a:r>
            <a:br/>
            <a:pPr algn="l" indent="0" marL="0">
              <a:lnSpc>
                <a:spcPts val="1820"/>
              </a:lnSpc>
              <a:buNone/>
            </a:pPr>
            <a:r>
              <a:rPr lang="ru-RU" altLang="en-US" sz="1300" dirty="0">
                <a:solidFill>
                  <a:schemeClr val="accent5"/>
                </a:solidFill>
                <a:latin typeface="+mn-lt" pitchFamily="34" charset="0"/>
                <a:ea typeface="+mn-lt" pitchFamily="34" charset="-122"/>
                <a:cs typeface="+mn-lt" pitchFamily="34" charset="-120"/>
              </a:rPr>
              <a:t>ресурсы. На старте — </a:t>
            </a:r>
            <a:br/>
            <a:pPr algn="l" indent="0" marL="0">
              <a:lnSpc>
                <a:spcPts val="1820"/>
              </a:lnSpc>
              <a:buNone/>
            </a:pPr>
            <a:r>
              <a:rPr lang="ru-RU" altLang="en-US" sz="1300" dirty="0">
                <a:solidFill>
                  <a:schemeClr val="accent5"/>
                </a:solidFill>
                <a:latin typeface="+mn-lt" pitchFamily="34" charset="0"/>
                <a:ea typeface="+mn-lt" pitchFamily="34" charset="-122"/>
                <a:cs typeface="+mn-lt" pitchFamily="34" charset="-120"/>
              </a:rPr>
              <a:t>несколько партнёров</a:t>
            </a:r>
            <a:endParaRPr lang="en-US" sz="1300" dirty="0"/>
          </a:p>
        </p:txBody>
      </p:sp>
      <p:sp>
        <p:nvSpPr>
          <p:cNvPr id="7" name="Shape 5"/>
          <p:cNvSpPr/>
          <p:nvPr/>
        </p:nvSpPr>
        <p:spPr>
          <a:xfrm>
            <a:off x="1073150" y="4515644"/>
            <a:ext cx="2057400" cy="0"/>
          </a:xfrm>
          <a:prstGeom prst="line">
            <a:avLst/>
          </a:prstGeom>
          <a:noFill/>
          <a:ln w="6350">
            <a:solidFill>
              <a:schemeClr val="accent4"/>
            </a:solidFill>
            <a:prstDash val="solid"/>
          </a:ln>
        </p:spPr>
      </p:sp>
      <p:sp>
        <p:nvSpPr>
          <p:cNvPr id="8" name="Text 6"/>
          <p:cNvSpPr txBox="1"/>
          <p:nvPr/>
        </p:nvSpPr>
        <p:spPr>
          <a:xfrm>
            <a:off x="1073150" y="4633119"/>
            <a:ext cx="2119122" cy="45144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755"/>
              </a:lnSpc>
              <a:buNone/>
            </a:pPr>
            <a:r>
              <a:rPr lang="ru-RU" altLang="en-US" sz="1300" b="1" dirty="0">
                <a:solidFill>
                  <a:schemeClr val="accent1"/>
                </a:solidFill>
                <a:latin typeface="+mn-lt" pitchFamily="34" charset="0"/>
                <a:ea typeface="+mn-lt" pitchFamily="34" charset="-122"/>
                <a:cs typeface="+mn-lt" pitchFamily="34" charset="-120"/>
              </a:rPr>
              <a:t>Дополнительные заказы </a:t>
            </a:r>
            <a:br/>
            <a:pPr algn="l" indent="0" marL="0">
              <a:lnSpc>
                <a:spcPts val="1755"/>
              </a:lnSpc>
              <a:buNone/>
            </a:pPr>
            <a:r>
              <a:rPr lang="ru-RU" altLang="en-US" sz="1300" b="1" dirty="0">
                <a:solidFill>
                  <a:schemeClr val="accent1"/>
                </a:solidFill>
                <a:latin typeface="+mn-lt" pitchFamily="34" charset="0"/>
                <a:ea typeface="+mn-lt" pitchFamily="34" charset="-122"/>
                <a:cs typeface="+mn-lt" pitchFamily="34" charset="-120"/>
              </a:rPr>
              <a:t>на свободные мощности</a:t>
            </a:r>
            <a:endParaRPr lang="en-US" sz="1300" dirty="0"/>
          </a:p>
        </p:txBody>
      </p:sp>
      <p:sp>
        <p:nvSpPr>
          <p:cNvPr id="9" name="Text 7"/>
          <p:cNvSpPr txBox="1"/>
          <p:nvPr/>
        </p:nvSpPr>
        <p:spPr>
          <a:xfrm>
            <a:off x="3441700" y="3065859"/>
            <a:ext cx="1320800" cy="2349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ru-RU" altLang="en-US" sz="1200" b="1" dirty="0">
                <a:solidFill>
                  <a:schemeClr val="accent1"/>
                </a:solidFill>
                <a:latin typeface="+mn-lt" pitchFamily="34" charset="0"/>
                <a:ea typeface="+mn-lt" pitchFamily="34" charset="-122"/>
                <a:cs typeface="+mn-lt" pitchFamily="34" charset="-120"/>
              </a:rPr>
              <a:t>мощность</a:t>
            </a:r>
            <a:endParaRPr lang="en-US" sz="1200" dirty="0"/>
          </a:p>
        </p:txBody>
      </p:sp>
      <p:pic>
        <p:nvPicPr>
          <p:cNvPr id="10" name="Image 0" descr="Стрелка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3467100" y="3359150"/>
            <a:ext cx="1270000" cy="152400"/>
          </a:xfrm>
          <a:prstGeom prst="rect">
            <a:avLst/>
          </a:prstGeom>
        </p:spPr>
      </p:pic>
      <p:pic>
        <p:nvPicPr>
          <p:cNvPr id="11" name="Image 1" descr="Стрелка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467100" y="3841750"/>
            <a:ext cx="1270000" cy="152400"/>
          </a:xfrm>
          <a:prstGeom prst="rect">
            <a:avLst/>
          </a:prstGeom>
        </p:spPr>
      </p:pic>
      <p:sp>
        <p:nvSpPr>
          <p:cNvPr id="12" name="Text 8"/>
          <p:cNvSpPr txBox="1"/>
          <p:nvPr/>
        </p:nvSpPr>
        <p:spPr>
          <a:xfrm>
            <a:off x="3441700" y="4051300"/>
            <a:ext cx="1320800" cy="2349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ru-RU" altLang="en-US" sz="1200" b="1" dirty="0">
                <a:solidFill>
                  <a:schemeClr val="bg1"/>
                </a:solidFill>
                <a:latin typeface="+mn-lt" pitchFamily="34" charset="0"/>
                <a:ea typeface="+mn-lt" pitchFamily="34" charset="-122"/>
                <a:cs typeface="+mn-lt" pitchFamily="34" charset="-120"/>
              </a:rPr>
              <a:t>≈15 ₽ за час</a:t>
            </a:r>
            <a:endParaRPr lang="en-US" sz="1200" dirty="0"/>
          </a:p>
        </p:txBody>
      </p:sp>
      <p:sp>
        <p:nvSpPr>
          <p:cNvPr id="13" name="Shape 9"/>
          <p:cNvSpPr/>
          <p:nvPr/>
        </p:nvSpPr>
        <p:spPr>
          <a:xfrm>
            <a:off x="4813300" y="2039541"/>
            <a:ext cx="2565400" cy="3274219"/>
          </a:xfrm>
          <a:prstGeom prst="roundRect">
            <a:avLst>
              <a:gd name="adj" fmla="val 5941"/>
            </a:avLst>
          </a:prstGeom>
          <a:solidFill>
            <a:schemeClr val="accent1"/>
          </a:solidFill>
          <a:ln/>
        </p:spPr>
      </p:sp>
      <p:sp>
        <p:nvSpPr>
          <p:cNvPr id="14" name="Text 10"/>
          <p:cNvSpPr txBox="1"/>
          <p:nvPr/>
        </p:nvSpPr>
        <p:spPr>
          <a:xfrm>
            <a:off x="5067300" y="2242741"/>
            <a:ext cx="2119122" cy="279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ru-RU" altLang="en-US" sz="1600" dirty="0">
                <a:solidFill>
                  <a:schemeClr val="tx2"/>
                </a:solidFill>
                <a:latin typeface="+mj-lt" pitchFamily="34" charset="0"/>
                <a:ea typeface="+mj-lt" pitchFamily="34" charset="-122"/>
                <a:cs typeface="+mj-lt" pitchFamily="34" charset="-120"/>
              </a:rPr>
              <a:t>Улей</a:t>
            </a:r>
            <a:endParaRPr lang="en-US" sz="1600" dirty="0"/>
          </a:p>
        </p:txBody>
      </p:sp>
      <p:sp>
        <p:nvSpPr>
          <p:cNvPr id="15" name="Text 11"/>
          <p:cNvSpPr txBox="1"/>
          <p:nvPr/>
        </p:nvSpPr>
        <p:spPr>
          <a:xfrm>
            <a:off x="5067300" y="2590701"/>
            <a:ext cx="2119122" cy="92432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820"/>
              </a:lnSpc>
              <a:buNone/>
            </a:pPr>
            <a:r>
              <a:rPr lang="ru-RU" altLang="en-US" sz="1300" dirty="0">
                <a:solidFill>
                  <a:srgbClr val="3B2A0E"/>
                </a:solidFill>
                <a:latin typeface="+mn-lt" pitchFamily="34" charset="0"/>
                <a:ea typeface="+mn-lt" pitchFamily="34" charset="-122"/>
                <a:cs typeface="+mn-lt" pitchFamily="34" charset="-120"/>
              </a:rPr>
              <a:t>Находит B2B-клиентов, </a:t>
            </a:r>
            <a:br/>
            <a:pPr algn="l" indent="0" marL="0">
              <a:lnSpc>
                <a:spcPts val="1820"/>
              </a:lnSpc>
              <a:buNone/>
            </a:pPr>
            <a:r>
              <a:rPr lang="ru-RU" altLang="en-US" sz="1300" dirty="0">
                <a:solidFill>
                  <a:srgbClr val="3B2A0E"/>
                </a:solidFill>
                <a:latin typeface="+mn-lt" pitchFamily="34" charset="0"/>
                <a:ea typeface="+mn-lt" pitchFamily="34" charset="-122"/>
                <a:cs typeface="+mn-lt" pitchFamily="34" charset="-120"/>
              </a:rPr>
              <a:t>подбирает мощности, </a:t>
            </a:r>
            <a:br/>
            <a:pPr algn="l" indent="0" marL="0">
              <a:lnSpc>
                <a:spcPts val="1820"/>
              </a:lnSpc>
              <a:buNone/>
            </a:pPr>
            <a:r>
              <a:rPr lang="ru-RU" altLang="en-US" sz="1300" dirty="0">
                <a:solidFill>
                  <a:srgbClr val="3B2A0E"/>
                </a:solidFill>
                <a:latin typeface="+mn-lt" pitchFamily="34" charset="0"/>
                <a:ea typeface="+mn-lt" pitchFamily="34" charset="-122"/>
                <a:cs typeface="+mn-lt" pitchFamily="34" charset="-120"/>
              </a:rPr>
              <a:t>организует аренду, </a:t>
            </a:r>
            <a:br/>
            <a:pPr algn="l" indent="0" marL="0">
              <a:lnSpc>
                <a:spcPts val="1820"/>
              </a:lnSpc>
              <a:buNone/>
            </a:pPr>
            <a:r>
              <a:rPr lang="ru-RU" altLang="en-US" sz="1300" dirty="0">
                <a:solidFill>
                  <a:srgbClr val="3B2A0E"/>
                </a:solidFill>
                <a:latin typeface="+mn-lt" pitchFamily="34" charset="0"/>
                <a:ea typeface="+mn-lt" pitchFamily="34" charset="-122"/>
                <a:cs typeface="+mn-lt" pitchFamily="34" charset="-120"/>
              </a:rPr>
              <a:t>сопровождает заказ</a:t>
            </a:r>
            <a:endParaRPr lang="en-US" sz="1300" dirty="0"/>
          </a:p>
        </p:txBody>
      </p:sp>
      <p:sp>
        <p:nvSpPr>
          <p:cNvPr id="16" name="Shape 12"/>
          <p:cNvSpPr/>
          <p:nvPr/>
        </p:nvSpPr>
        <p:spPr>
          <a:xfrm>
            <a:off x="5067300" y="4521994"/>
            <a:ext cx="2057400" cy="0"/>
          </a:xfrm>
          <a:prstGeom prst="line">
            <a:avLst/>
          </a:prstGeom>
          <a:noFill/>
          <a:ln w="6350">
            <a:solidFill>
              <a:srgbClr val="C9861E"/>
            </a:solidFill>
            <a:prstDash val="solid"/>
          </a:ln>
        </p:spPr>
      </p:sp>
      <p:sp>
        <p:nvSpPr>
          <p:cNvPr id="17" name="Text 13"/>
          <p:cNvSpPr txBox="1"/>
          <p:nvPr/>
        </p:nvSpPr>
        <p:spPr>
          <a:xfrm>
            <a:off x="5067300" y="4639469"/>
            <a:ext cx="2119122" cy="45144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755"/>
              </a:lnSpc>
              <a:buNone/>
            </a:pPr>
            <a:r>
              <a:rPr lang="ru-RU" altLang="en-US" sz="1300" b="1" dirty="0">
                <a:solidFill>
                  <a:schemeClr val="tx2"/>
                </a:solidFill>
                <a:latin typeface="+mn-lt" pitchFamily="34" charset="0"/>
                <a:ea typeface="+mn-lt" pitchFamily="34" charset="-122"/>
                <a:cs typeface="+mn-lt" pitchFamily="34" charset="-120"/>
              </a:rPr>
              <a:t>Доля с каждого </a:t>
            </a:r>
            <a:br/>
            <a:pPr algn="l" indent="0" marL="0">
              <a:lnSpc>
                <a:spcPts val="1755"/>
              </a:lnSpc>
              <a:buNone/>
            </a:pPr>
            <a:r>
              <a:rPr lang="ru-RU" altLang="en-US" sz="1300" b="1" dirty="0">
                <a:solidFill>
                  <a:schemeClr val="tx2"/>
                </a:solidFill>
                <a:latin typeface="+mn-lt" pitchFamily="34" charset="0"/>
                <a:ea typeface="+mn-lt" pitchFamily="34" charset="-122"/>
                <a:cs typeface="+mn-lt" pitchFamily="34" charset="-120"/>
              </a:rPr>
              <a:t>оплаченного часа</a:t>
            </a:r>
            <a:endParaRPr lang="en-US" sz="1300" dirty="0"/>
          </a:p>
        </p:txBody>
      </p:sp>
      <p:sp>
        <p:nvSpPr>
          <p:cNvPr id="18" name="Text 14"/>
          <p:cNvSpPr txBox="1"/>
          <p:nvPr/>
        </p:nvSpPr>
        <p:spPr>
          <a:xfrm>
            <a:off x="7429500" y="3065859"/>
            <a:ext cx="1320800" cy="2349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ru-RU" altLang="en-US" sz="1200" b="1" dirty="0">
                <a:solidFill>
                  <a:schemeClr val="accent1"/>
                </a:solidFill>
                <a:latin typeface="+mn-lt" pitchFamily="34" charset="0"/>
                <a:ea typeface="+mn-lt" pitchFamily="34" charset="-122"/>
                <a:cs typeface="+mn-lt" pitchFamily="34" charset="-120"/>
              </a:rPr>
              <a:t>мощность</a:t>
            </a:r>
            <a:endParaRPr lang="en-US" sz="1200" dirty="0"/>
          </a:p>
        </p:txBody>
      </p:sp>
      <p:pic>
        <p:nvPicPr>
          <p:cNvPr id="19" name="Image 2" descr="Стрелка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454900" y="3359150"/>
            <a:ext cx="1270000" cy="152400"/>
          </a:xfrm>
          <a:prstGeom prst="rect">
            <a:avLst/>
          </a:prstGeom>
        </p:spPr>
      </p:pic>
      <p:pic>
        <p:nvPicPr>
          <p:cNvPr id="20" name="Image 3" descr="Стрелка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454900" y="3841750"/>
            <a:ext cx="1270000" cy="152400"/>
          </a:xfrm>
          <a:prstGeom prst="rect">
            <a:avLst/>
          </a:prstGeom>
        </p:spPr>
      </p:pic>
      <p:sp>
        <p:nvSpPr>
          <p:cNvPr id="21" name="Text 15"/>
          <p:cNvSpPr txBox="1"/>
          <p:nvPr/>
        </p:nvSpPr>
        <p:spPr>
          <a:xfrm>
            <a:off x="7429500" y="4051300"/>
            <a:ext cx="1320800" cy="2349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ru-RU" altLang="en-US" sz="1200" b="1" dirty="0">
                <a:solidFill>
                  <a:schemeClr val="bg1"/>
                </a:solidFill>
                <a:latin typeface="+mn-lt" pitchFamily="34" charset="0"/>
                <a:ea typeface="+mn-lt" pitchFamily="34" charset="-122"/>
                <a:cs typeface="+mn-lt" pitchFamily="34" charset="-120"/>
              </a:rPr>
              <a:t>≈35 ₽ за час</a:t>
            </a:r>
            <a:endParaRPr lang="en-US" sz="1200" dirty="0"/>
          </a:p>
        </p:txBody>
      </p:sp>
      <p:sp>
        <p:nvSpPr>
          <p:cNvPr id="22" name="Shape 16"/>
          <p:cNvSpPr/>
          <p:nvPr/>
        </p:nvSpPr>
        <p:spPr>
          <a:xfrm>
            <a:off x="8804275" y="2042716"/>
            <a:ext cx="2571750" cy="3267869"/>
          </a:xfrm>
          <a:prstGeom prst="roundRect">
            <a:avLst>
              <a:gd name="adj" fmla="val 5926"/>
            </a:avLst>
          </a:prstGeom>
          <a:solidFill>
            <a:schemeClr val="accent3"/>
          </a:solidFill>
          <a:ln w="6350">
            <a:solidFill>
              <a:schemeClr val="accent4"/>
            </a:solidFill>
            <a:prstDash val="solid"/>
          </a:ln>
        </p:spPr>
      </p:sp>
      <p:sp>
        <p:nvSpPr>
          <p:cNvPr id="23" name="Text 17"/>
          <p:cNvSpPr txBox="1"/>
          <p:nvPr/>
        </p:nvSpPr>
        <p:spPr>
          <a:xfrm>
            <a:off x="9061450" y="2249091"/>
            <a:ext cx="2119122" cy="279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ru-RU" altLang="en-US" sz="1600" dirty="0">
                <a:solidFill>
                  <a:schemeClr val="bg1"/>
                </a:solidFill>
                <a:latin typeface="+mj-lt" pitchFamily="34" charset="0"/>
                <a:ea typeface="+mj-lt" pitchFamily="34" charset="-122"/>
                <a:cs typeface="+mj-lt" pitchFamily="34" charset="-120"/>
              </a:rPr>
              <a:t>Клиенты</a:t>
            </a:r>
            <a:endParaRPr lang="en-US" sz="1600" dirty="0"/>
          </a:p>
        </p:txBody>
      </p:sp>
      <p:sp>
        <p:nvSpPr>
          <p:cNvPr id="24" name="Text 18"/>
          <p:cNvSpPr txBox="1"/>
          <p:nvPr/>
        </p:nvSpPr>
        <p:spPr>
          <a:xfrm>
            <a:off x="9061450" y="2597051"/>
            <a:ext cx="2119122" cy="92432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820"/>
              </a:lnSpc>
              <a:buNone/>
            </a:pPr>
            <a:r>
              <a:rPr lang="ru-RU" altLang="en-US" sz="1300" dirty="0">
                <a:solidFill>
                  <a:schemeClr val="accent5"/>
                </a:solidFill>
                <a:latin typeface="+mn-lt" pitchFamily="34" charset="0"/>
                <a:ea typeface="+mn-lt" pitchFamily="34" charset="-122"/>
                <a:cs typeface="+mn-lt" pitchFamily="34" charset="-120"/>
              </a:rPr>
              <a:t>ML-команды, </a:t>
            </a:r>
            <a:br/>
            <a:pPr algn="l" indent="0" marL="0">
              <a:lnSpc>
                <a:spcPts val="1820"/>
              </a:lnSpc>
              <a:buNone/>
            </a:pPr>
            <a:r>
              <a:rPr lang="ru-RU" altLang="en-US" sz="1300" dirty="0">
                <a:solidFill>
                  <a:schemeClr val="accent5"/>
                </a:solidFill>
                <a:latin typeface="+mn-lt" pitchFamily="34" charset="0"/>
                <a:ea typeface="+mn-lt" pitchFamily="34" charset="-122"/>
                <a:cs typeface="+mn-lt" pitchFamily="34" charset="-120"/>
              </a:rPr>
              <a:t>лаборатории, </a:t>
            </a:r>
            <a:br/>
            <a:pPr algn="l" indent="0" marL="0">
              <a:lnSpc>
                <a:spcPts val="1820"/>
              </a:lnSpc>
              <a:buNone/>
            </a:pPr>
            <a:r>
              <a:rPr lang="ru-RU" altLang="en-US" sz="1300" dirty="0">
                <a:solidFill>
                  <a:schemeClr val="accent5"/>
                </a:solidFill>
                <a:latin typeface="+mn-lt" pitchFamily="34" charset="0"/>
                <a:ea typeface="+mn-lt" pitchFamily="34" charset="-122"/>
                <a:cs typeface="+mn-lt" pitchFamily="34" charset="-120"/>
              </a:rPr>
              <a:t>AI-стартапы</a:t>
            </a:r>
            <a:pPr algn="l" indent="0" marL="0">
              <a:lnSpc>
                <a:spcPts val="1820"/>
              </a:lnSpc>
              <a:buNone/>
            </a:pPr>
            <a:r>
              <a:rPr lang="ru-RU" altLang="en-US" sz="1300" dirty="0">
                <a:solidFill>
                  <a:schemeClr val="accent5"/>
                </a:solidFill>
                <a:latin typeface="+mn-lt" pitchFamily="34" charset="0"/>
                <a:ea typeface="+mn-lt" pitchFamily="34" charset="-122"/>
                <a:cs typeface="+mn-lt" pitchFamily="34" charset="-120"/>
              </a:rPr>
              <a:t> и небольшие </a:t>
            </a:r>
            <a:br/>
            <a:pPr algn="l" indent="0" marL="0">
              <a:lnSpc>
                <a:spcPts val="1820"/>
              </a:lnSpc>
              <a:buNone/>
            </a:pPr>
            <a:r>
              <a:rPr lang="ru-RU" altLang="en-US" sz="1300" dirty="0">
                <a:solidFill>
                  <a:schemeClr val="accent5"/>
                </a:solidFill>
                <a:latin typeface="+mn-lt" pitchFamily="34" charset="0"/>
                <a:ea typeface="+mn-lt" pitchFamily="34" charset="-122"/>
                <a:cs typeface="+mn-lt" pitchFamily="34" charset="-120"/>
              </a:rPr>
              <a:t>IT-компании</a:t>
            </a:r>
            <a:endParaRPr lang="en-US" sz="1300" dirty="0"/>
          </a:p>
        </p:txBody>
      </p:sp>
      <p:sp>
        <p:nvSpPr>
          <p:cNvPr id="25" name="Shape 19"/>
          <p:cNvSpPr/>
          <p:nvPr/>
        </p:nvSpPr>
        <p:spPr>
          <a:xfrm>
            <a:off x="9061450" y="4292798"/>
            <a:ext cx="2057400" cy="0"/>
          </a:xfrm>
          <a:prstGeom prst="line">
            <a:avLst/>
          </a:prstGeom>
          <a:noFill/>
          <a:ln w="6350">
            <a:solidFill>
              <a:schemeClr val="accent4"/>
            </a:solidFill>
            <a:prstDash val="solid"/>
          </a:ln>
        </p:spPr>
      </p:sp>
      <p:sp>
        <p:nvSpPr>
          <p:cNvPr id="26" name="Text 20"/>
          <p:cNvSpPr txBox="1"/>
          <p:nvPr/>
        </p:nvSpPr>
        <p:spPr>
          <a:xfrm>
            <a:off x="9061450" y="4410273"/>
            <a:ext cx="2119122" cy="67429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755"/>
              </a:lnSpc>
              <a:buNone/>
            </a:pPr>
            <a:r>
              <a:rPr lang="ru-RU" altLang="en-US" sz="1300" b="1" dirty="0">
                <a:solidFill>
                  <a:schemeClr val="accent1"/>
                </a:solidFill>
                <a:latin typeface="+mn-lt" pitchFamily="34" charset="0"/>
                <a:ea typeface="+mn-lt" pitchFamily="34" charset="-122"/>
                <a:cs typeface="+mn-lt" pitchFamily="34" charset="-120"/>
              </a:rPr>
              <a:t>Подходящие GPU и </a:t>
            </a:r>
            <a:br/>
            <a:pPr algn="l" indent="0" marL="0">
              <a:lnSpc>
                <a:spcPts val="1755"/>
              </a:lnSpc>
              <a:buNone/>
            </a:pPr>
            <a:r>
              <a:rPr lang="ru-RU" altLang="en-US" sz="1300" b="1" dirty="0">
                <a:solidFill>
                  <a:schemeClr val="accent1"/>
                </a:solidFill>
                <a:latin typeface="+mn-lt" pitchFamily="34" charset="0"/>
                <a:ea typeface="+mn-lt" pitchFamily="34" charset="-122"/>
                <a:cs typeface="+mn-lt" pitchFamily="34" charset="-120"/>
              </a:rPr>
              <a:t>понятные условия </a:t>
            </a:r>
            <a:br/>
            <a:pPr algn="l" indent="0" marL="0">
              <a:lnSpc>
                <a:spcPts val="1755"/>
              </a:lnSpc>
              <a:buNone/>
            </a:pPr>
            <a:r>
              <a:rPr lang="ru-RU" altLang="en-US" sz="1300" b="1" dirty="0">
                <a:solidFill>
                  <a:schemeClr val="accent1"/>
                </a:solidFill>
                <a:latin typeface="+mn-lt" pitchFamily="34" charset="0"/>
                <a:ea typeface="+mn-lt" pitchFamily="34" charset="-122"/>
                <a:cs typeface="+mn-lt" pitchFamily="34" charset="-120"/>
              </a:rPr>
              <a:t>аренды</a:t>
            </a:r>
            <a:endParaRPr lang="en-US" sz="1300" dirty="0"/>
          </a:p>
        </p:txBody>
      </p:sp>
      <p:sp>
        <p:nvSpPr>
          <p:cNvPr id="27" name="Shape 21"/>
          <p:cNvSpPr/>
          <p:nvPr/>
        </p:nvSpPr>
        <p:spPr>
          <a:xfrm>
            <a:off x="812800" y="5497909"/>
            <a:ext cx="5130800" cy="0"/>
          </a:xfrm>
          <a:prstGeom prst="line">
            <a:avLst/>
          </a:prstGeom>
          <a:noFill/>
          <a:ln w="12700">
            <a:solidFill>
              <a:schemeClr val="accent4"/>
            </a:solidFill>
            <a:prstDash val="solid"/>
          </a:ln>
        </p:spPr>
      </p:sp>
      <p:sp>
        <p:nvSpPr>
          <p:cNvPr id="28" name="Text 22"/>
          <p:cNvSpPr txBox="1"/>
          <p:nvPr/>
        </p:nvSpPr>
        <p:spPr>
          <a:xfrm>
            <a:off x="812800" y="5618559"/>
            <a:ext cx="5283200" cy="42664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buNone/>
            </a:pPr>
            <a:r>
              <a:rPr lang="ru-RU" altLang="en-US" sz="1200" b="1" dirty="0">
                <a:solidFill>
                  <a:schemeClr val="accent5"/>
                </a:solidFill>
                <a:latin typeface="+mn-lt" pitchFamily="34" charset="0"/>
                <a:ea typeface="+mn-lt" pitchFamily="34" charset="-122"/>
                <a:cs typeface="+mn-lt" pitchFamily="34" charset="-120"/>
              </a:rPr>
              <a:t>35 и 15 ₽ — предварительные ориентиры:</a:t>
            </a:r>
            <a:pPr algn="l" indent="0" marL="0">
              <a:lnSpc>
                <a:spcPts val="1680"/>
              </a:lnSpc>
              <a:buNone/>
            </a:pPr>
            <a:r>
              <a:rPr lang="ru-RU" altLang="en-US" sz="1200" dirty="0">
                <a:solidFill>
                  <a:schemeClr val="accent5"/>
                </a:solidFill>
                <a:latin typeface="+mn-lt" pitchFamily="34" charset="0"/>
                <a:ea typeface="+mn-lt" pitchFamily="34" charset="-122"/>
                <a:cs typeface="+mn-lt" pitchFamily="34" charset="-120"/>
              </a:rPr>
              <a:t> не подтверждено, что </a:t>
            </a:r>
            <a:br/>
            <a:pPr algn="l" indent="0" marL="0">
              <a:lnSpc>
                <a:spcPts val="1680"/>
              </a:lnSpc>
              <a:buNone/>
            </a:pPr>
            <a:r>
              <a:rPr lang="ru-RU" altLang="en-US" sz="1200" dirty="0">
                <a:solidFill>
                  <a:schemeClr val="accent5"/>
                </a:solidFill>
                <a:latin typeface="+mn-lt" pitchFamily="34" charset="0"/>
                <a:ea typeface="+mn-lt" pitchFamily="34" charset="-122"/>
                <a:cs typeface="+mn-lt" pitchFamily="34" charset="-120"/>
              </a:rPr>
              <a:t>фермы дадут за 15 ₽ полноценную рабочую конфигурацию.</a:t>
            </a:r>
            <a:endParaRPr lang="en-US" sz="1200" dirty="0"/>
          </a:p>
        </p:txBody>
      </p:sp>
      <p:sp>
        <p:nvSpPr>
          <p:cNvPr id="29" name="Shape 23"/>
          <p:cNvSpPr/>
          <p:nvPr/>
        </p:nvSpPr>
        <p:spPr>
          <a:xfrm>
            <a:off x="6248400" y="5497909"/>
            <a:ext cx="5130800" cy="0"/>
          </a:xfrm>
          <a:prstGeom prst="line">
            <a:avLst/>
          </a:prstGeom>
          <a:noFill/>
          <a:ln w="12700">
            <a:solidFill>
              <a:schemeClr val="accent4"/>
            </a:solidFill>
            <a:prstDash val="solid"/>
          </a:ln>
        </p:spPr>
      </p:sp>
      <p:sp>
        <p:nvSpPr>
          <p:cNvPr id="30" name="Text 24"/>
          <p:cNvSpPr txBox="1"/>
          <p:nvPr/>
        </p:nvSpPr>
        <p:spPr>
          <a:xfrm>
            <a:off x="6248400" y="5618559"/>
            <a:ext cx="5283200" cy="42664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buNone/>
            </a:pPr>
            <a:r>
              <a:rPr lang="ru-RU" altLang="en-US" sz="1200" b="1" dirty="0">
                <a:solidFill>
                  <a:schemeClr val="accent5"/>
                </a:solidFill>
                <a:latin typeface="+mn-lt" pitchFamily="34" charset="0"/>
                <a:ea typeface="+mn-lt" pitchFamily="34" charset="-122"/>
                <a:cs typeface="+mn-lt" pitchFamily="34" charset="-120"/>
              </a:rPr>
              <a:t>Кто отвечает</a:t>
            </a:r>
            <a:pPr algn="l" indent="0" marL="0">
              <a:lnSpc>
                <a:spcPts val="1680"/>
              </a:lnSpc>
              <a:buNone/>
            </a:pPr>
            <a:r>
              <a:rPr lang="ru-RU" altLang="en-US" sz="1200" dirty="0">
                <a:solidFill>
                  <a:schemeClr val="accent5"/>
                </a:solidFill>
                <a:latin typeface="+mn-lt" pitchFamily="34" charset="0"/>
                <a:ea typeface="+mn-lt" pitchFamily="34" charset="-122"/>
                <a:cs typeface="+mn-lt" pitchFamily="34" charset="-120"/>
              </a:rPr>
              <a:t> за CPU, RAM, накопители, сеть, доступность </a:t>
            </a:r>
            <a:br/>
            <a:pPr algn="l" indent="0" marL="0">
              <a:lnSpc>
                <a:spcPts val="1680"/>
              </a:lnSpc>
              <a:buNone/>
            </a:pPr>
            <a:r>
              <a:rPr lang="ru-RU" altLang="en-US" sz="1200" dirty="0">
                <a:solidFill>
                  <a:schemeClr val="accent5"/>
                </a:solidFill>
                <a:latin typeface="+mn-lt" pitchFamily="34" charset="0"/>
                <a:ea typeface="+mn-lt" pitchFamily="34" charset="-122"/>
                <a:cs typeface="+mn-lt" pitchFamily="34" charset="-120"/>
              </a:rPr>
              <a:t>и обслуживание, определим в условиях партнёрства.</a:t>
            </a:r>
            <a:endParaRPr lang="en-US" sz="12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812800" y="768350"/>
            <a:ext cx="10820400" cy="4699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ru-RU" altLang="en-US" sz="2800" spc="-50" kern="0" dirty="0">
                <a:solidFill>
                  <a:schemeClr val="tx2"/>
                </a:solidFill>
              </a:rPr>
              <a:t>Как это работает</a:t>
            </a:r>
            <a:endParaRPr lang="en-US" sz="2800" dirty="0"/>
          </a:p>
        </p:txBody>
      </p:sp>
      <p:sp>
        <p:nvSpPr>
          <p:cNvPr id="3" name="Shape 1"/>
          <p:cNvSpPr/>
          <p:nvPr/>
        </p:nvSpPr>
        <p:spPr>
          <a:xfrm>
            <a:off x="815975" y="1494036"/>
            <a:ext cx="2520950" cy="1596231"/>
          </a:xfrm>
          <a:prstGeom prst="roundRect">
            <a:avLst>
              <a:gd name="adj" fmla="val 9547"/>
            </a:avLst>
          </a:prstGeom>
          <a:solidFill>
            <a:schemeClr val="bg2"/>
          </a:solidFill>
          <a:ln w="6350">
            <a:solidFill>
              <a:srgbClr val="E2D7C5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996950" y="1649611"/>
            <a:ext cx="330200" cy="330200"/>
          </a:xfrm>
          <a:prstGeom prst="ellipse">
            <a:avLst/>
          </a:prstGeom>
          <a:solidFill>
            <a:schemeClr val="accent1"/>
          </a:solidFill>
          <a:ln/>
        </p:spPr>
      </p:sp>
      <p:sp>
        <p:nvSpPr>
          <p:cNvPr id="5" name="Text 3"/>
          <p:cNvSpPr txBox="1"/>
          <p:nvPr/>
        </p:nvSpPr>
        <p:spPr>
          <a:xfrm>
            <a:off x="1120180" y="1700411"/>
            <a:ext cx="134541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ru-RU" altLang="en-US" sz="1300" dirty="0">
                <a:solidFill>
                  <a:schemeClr val="tx2"/>
                </a:solidFill>
                <a:latin typeface="+mj-lt" pitchFamily="34" charset="0"/>
                <a:ea typeface="+mj-lt" pitchFamily="34" charset="-122"/>
                <a:cs typeface="+mj-lt" pitchFamily="34" charset="-120"/>
              </a:rPr>
              <a:t>1</a:t>
            </a:r>
            <a:endParaRPr lang="en-US" sz="1300" dirty="0"/>
          </a:p>
        </p:txBody>
      </p:sp>
      <p:sp>
        <p:nvSpPr>
          <p:cNvPr id="6" name="Text 4"/>
          <p:cNvSpPr txBox="1"/>
          <p:nvPr/>
        </p:nvSpPr>
        <p:spPr>
          <a:xfrm>
            <a:off x="996950" y="2081411"/>
            <a:ext cx="2223770" cy="85328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buNone/>
            </a:pPr>
            <a:r>
              <a:rPr lang="ru-RU" altLang="en-US" sz="1200" dirty="0">
                <a:solidFill>
                  <a:schemeClr val="tx2"/>
                </a:solidFill>
                <a:latin typeface="+mn-lt" pitchFamily="34" charset="0"/>
                <a:ea typeface="+mn-lt" pitchFamily="34" charset="-122"/>
                <a:cs typeface="+mn-lt" pitchFamily="34" charset="-120"/>
              </a:rPr>
              <a:t>Компания обращается </a:t>
            </a:r>
            <a:br/>
            <a:pPr algn="l" indent="0" marL="0">
              <a:lnSpc>
                <a:spcPts val="1680"/>
              </a:lnSpc>
              <a:buNone/>
            </a:pPr>
            <a:r>
              <a:rPr lang="ru-RU" altLang="en-US" sz="1200" dirty="0">
                <a:solidFill>
                  <a:schemeClr val="tx2"/>
                </a:solidFill>
                <a:latin typeface="+mn-lt" pitchFamily="34" charset="0"/>
                <a:ea typeface="+mn-lt" pitchFamily="34" charset="-122"/>
                <a:cs typeface="+mn-lt" pitchFamily="34" charset="-120"/>
              </a:rPr>
              <a:t>с запросом </a:t>
            </a:r>
            <a:br/>
            <a:pPr algn="l" indent="0" marL="0">
              <a:lnSpc>
                <a:spcPts val="1680"/>
              </a:lnSpc>
              <a:buNone/>
            </a:pPr>
            <a:r>
              <a:rPr lang="ru-RU" altLang="en-US" sz="1200" dirty="0">
                <a:solidFill>
                  <a:schemeClr val="tx2"/>
                </a:solidFill>
                <a:latin typeface="+mn-lt" pitchFamily="34" charset="0"/>
                <a:ea typeface="+mn-lt" pitchFamily="34" charset="-122"/>
                <a:cs typeface="+mn-lt" pitchFamily="34" charset="-120"/>
              </a:rPr>
              <a:t>на вычислительные </a:t>
            </a:r>
            <a:br/>
            <a:pPr algn="l" indent="0" marL="0">
              <a:lnSpc>
                <a:spcPts val="1680"/>
              </a:lnSpc>
              <a:buNone/>
            </a:pPr>
            <a:r>
              <a:rPr lang="ru-RU" altLang="en-US" sz="1200" dirty="0">
                <a:solidFill>
                  <a:schemeClr val="tx2"/>
                </a:solidFill>
                <a:latin typeface="+mn-lt" pitchFamily="34" charset="0"/>
                <a:ea typeface="+mn-lt" pitchFamily="34" charset="-122"/>
                <a:cs typeface="+mn-lt" pitchFamily="34" charset="-120"/>
              </a:rPr>
              <a:t>мощности</a:t>
            </a:r>
            <a:endParaRPr lang="en-US" sz="1200" dirty="0"/>
          </a:p>
        </p:txBody>
      </p:sp>
      <p:sp>
        <p:nvSpPr>
          <p:cNvPr id="7" name="Shape 5"/>
          <p:cNvSpPr/>
          <p:nvPr/>
        </p:nvSpPr>
        <p:spPr>
          <a:xfrm>
            <a:off x="3495675" y="1494036"/>
            <a:ext cx="2520950" cy="1596231"/>
          </a:xfrm>
          <a:prstGeom prst="roundRect">
            <a:avLst>
              <a:gd name="adj" fmla="val 9547"/>
            </a:avLst>
          </a:prstGeom>
          <a:solidFill>
            <a:schemeClr val="bg2"/>
          </a:solidFill>
          <a:ln w="6350">
            <a:solidFill>
              <a:srgbClr val="E2D7C5"/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3676650" y="1649611"/>
            <a:ext cx="330200" cy="330200"/>
          </a:xfrm>
          <a:prstGeom prst="ellipse">
            <a:avLst/>
          </a:prstGeom>
          <a:solidFill>
            <a:schemeClr val="accent1"/>
          </a:solidFill>
          <a:ln/>
        </p:spPr>
      </p:sp>
      <p:sp>
        <p:nvSpPr>
          <p:cNvPr id="9" name="Text 7"/>
          <p:cNvSpPr txBox="1"/>
          <p:nvPr/>
        </p:nvSpPr>
        <p:spPr>
          <a:xfrm>
            <a:off x="3773785" y="1700411"/>
            <a:ext cx="18673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ru-RU" altLang="en-US" sz="1300" dirty="0">
                <a:solidFill>
                  <a:schemeClr val="tx2"/>
                </a:solidFill>
                <a:latin typeface="+mj-lt" pitchFamily="34" charset="0"/>
                <a:ea typeface="+mj-lt" pitchFamily="34" charset="-122"/>
                <a:cs typeface="+mj-lt" pitchFamily="34" charset="-120"/>
              </a:rPr>
              <a:t>2</a:t>
            </a:r>
            <a:endParaRPr lang="en-US" sz="1300" dirty="0"/>
          </a:p>
        </p:txBody>
      </p:sp>
      <p:sp>
        <p:nvSpPr>
          <p:cNvPr id="10" name="Text 8"/>
          <p:cNvSpPr txBox="1"/>
          <p:nvPr/>
        </p:nvSpPr>
        <p:spPr>
          <a:xfrm>
            <a:off x="3676650" y="2081411"/>
            <a:ext cx="2223770" cy="63996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buNone/>
            </a:pPr>
            <a:r>
              <a:rPr lang="ru-RU" altLang="en-US" sz="1200" dirty="0">
                <a:solidFill>
                  <a:schemeClr val="tx2"/>
                </a:solidFill>
                <a:latin typeface="+mn-lt" pitchFamily="34" charset="0"/>
                <a:ea typeface="+mn-lt" pitchFamily="34" charset="-122"/>
                <a:cs typeface="+mn-lt" pitchFamily="34" charset="-120"/>
              </a:rPr>
              <a:t>Улей подбирает подходящую </a:t>
            </a:r>
            <a:br/>
            <a:pPr algn="l" indent="0" marL="0">
              <a:lnSpc>
                <a:spcPts val="1680"/>
              </a:lnSpc>
              <a:buNone/>
            </a:pPr>
            <a:r>
              <a:rPr lang="ru-RU" altLang="en-US" sz="1200" dirty="0">
                <a:solidFill>
                  <a:schemeClr val="tx2"/>
                </a:solidFill>
                <a:latin typeface="+mn-lt" pitchFamily="34" charset="0"/>
                <a:ea typeface="+mn-lt" pitchFamily="34" charset="-122"/>
                <a:cs typeface="+mn-lt" pitchFamily="34" charset="-120"/>
              </a:rPr>
              <a:t>конфигурацию </a:t>
            </a:r>
            <a:br/>
            <a:pPr algn="l" indent="0" marL="0">
              <a:lnSpc>
                <a:spcPts val="1680"/>
              </a:lnSpc>
              <a:buNone/>
            </a:pPr>
            <a:r>
              <a:rPr lang="ru-RU" altLang="en-US" sz="1200" dirty="0">
                <a:solidFill>
                  <a:schemeClr val="tx2"/>
                </a:solidFill>
                <a:latin typeface="+mn-lt" pitchFamily="34" charset="0"/>
                <a:ea typeface="+mn-lt" pitchFamily="34" charset="-122"/>
                <a:cs typeface="+mn-lt" pitchFamily="34" charset="-120"/>
              </a:rPr>
              <a:t>у партнёрской фермы</a:t>
            </a:r>
            <a:endParaRPr lang="en-US" sz="1200" dirty="0"/>
          </a:p>
        </p:txBody>
      </p:sp>
      <p:sp>
        <p:nvSpPr>
          <p:cNvPr id="11" name="Shape 9"/>
          <p:cNvSpPr/>
          <p:nvPr/>
        </p:nvSpPr>
        <p:spPr>
          <a:xfrm>
            <a:off x="6175375" y="1494036"/>
            <a:ext cx="2520950" cy="1596231"/>
          </a:xfrm>
          <a:prstGeom prst="roundRect">
            <a:avLst>
              <a:gd name="adj" fmla="val 9547"/>
            </a:avLst>
          </a:prstGeom>
          <a:solidFill>
            <a:schemeClr val="bg2"/>
          </a:solidFill>
          <a:ln w="6350">
            <a:solidFill>
              <a:srgbClr val="E2D7C5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6356350" y="1649611"/>
            <a:ext cx="330200" cy="330200"/>
          </a:xfrm>
          <a:prstGeom prst="ellipse">
            <a:avLst/>
          </a:prstGeom>
          <a:solidFill>
            <a:schemeClr val="accent1"/>
          </a:solidFill>
          <a:ln/>
        </p:spPr>
      </p:sp>
      <p:sp>
        <p:nvSpPr>
          <p:cNvPr id="13" name="Text 11"/>
          <p:cNvSpPr txBox="1"/>
          <p:nvPr/>
        </p:nvSpPr>
        <p:spPr>
          <a:xfrm>
            <a:off x="6452890" y="1700411"/>
            <a:ext cx="18792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ru-RU" altLang="en-US" sz="1300" dirty="0">
                <a:solidFill>
                  <a:schemeClr val="tx2"/>
                </a:solidFill>
                <a:latin typeface="+mj-lt" pitchFamily="34" charset="0"/>
                <a:ea typeface="+mj-lt" pitchFamily="34" charset="-122"/>
                <a:cs typeface="+mj-lt" pitchFamily="34" charset="-120"/>
              </a:rPr>
              <a:t>3</a:t>
            </a:r>
            <a:endParaRPr lang="en-US" sz="1300" dirty="0"/>
          </a:p>
        </p:txBody>
      </p:sp>
      <p:sp>
        <p:nvSpPr>
          <p:cNvPr id="14" name="Text 12"/>
          <p:cNvSpPr txBox="1"/>
          <p:nvPr/>
        </p:nvSpPr>
        <p:spPr>
          <a:xfrm>
            <a:off x="6356350" y="2081411"/>
            <a:ext cx="2223770" cy="85328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buNone/>
            </a:pPr>
            <a:r>
              <a:rPr lang="ru-RU" altLang="en-US" sz="1200" dirty="0">
                <a:solidFill>
                  <a:schemeClr val="tx2"/>
                </a:solidFill>
                <a:latin typeface="+mn-lt" pitchFamily="34" charset="0"/>
                <a:ea typeface="+mn-lt" pitchFamily="34" charset="-122"/>
                <a:cs typeface="+mn-lt" pitchFamily="34" charset="-120"/>
              </a:rPr>
              <a:t>Ферма предоставляет </a:t>
            </a:r>
            <a:br/>
            <a:pPr algn="l" indent="0" marL="0">
              <a:lnSpc>
                <a:spcPts val="1680"/>
              </a:lnSpc>
              <a:buNone/>
            </a:pPr>
            <a:r>
              <a:rPr lang="ru-RU" altLang="en-US" sz="1200" dirty="0">
                <a:solidFill>
                  <a:schemeClr val="tx2"/>
                </a:solidFill>
                <a:latin typeface="+mn-lt" pitchFamily="34" charset="0"/>
                <a:ea typeface="+mn-lt" pitchFamily="34" charset="-122"/>
                <a:cs typeface="+mn-lt" pitchFamily="34" charset="-120"/>
              </a:rPr>
              <a:t>вычислительную среду, Улей </a:t>
            </a:r>
            <a:br/>
            <a:pPr algn="l" indent="0" marL="0">
              <a:lnSpc>
                <a:spcPts val="1680"/>
              </a:lnSpc>
              <a:buNone/>
            </a:pPr>
            <a:r>
              <a:rPr lang="ru-RU" altLang="en-US" sz="1200" dirty="0">
                <a:solidFill>
                  <a:schemeClr val="tx2"/>
                </a:solidFill>
                <a:latin typeface="+mn-lt" pitchFamily="34" charset="0"/>
                <a:ea typeface="+mn-lt" pitchFamily="34" charset="-122"/>
                <a:cs typeface="+mn-lt" pitchFamily="34" charset="-120"/>
              </a:rPr>
              <a:t>сопровождает заказ </a:t>
            </a:r>
            <a:br/>
            <a:pPr algn="l" indent="0" marL="0">
              <a:lnSpc>
                <a:spcPts val="1680"/>
              </a:lnSpc>
              <a:buNone/>
            </a:pPr>
            <a:r>
              <a:rPr lang="ru-RU" altLang="en-US" sz="1200" dirty="0">
                <a:solidFill>
                  <a:schemeClr val="tx2"/>
                </a:solidFill>
                <a:latin typeface="+mn-lt" pitchFamily="34" charset="0"/>
                <a:ea typeface="+mn-lt" pitchFamily="34" charset="-122"/>
                <a:cs typeface="+mn-lt" pitchFamily="34" charset="-120"/>
              </a:rPr>
              <a:t>в согласованных пределах</a:t>
            </a:r>
            <a:endParaRPr lang="en-US" sz="1200" dirty="0"/>
          </a:p>
        </p:txBody>
      </p:sp>
      <p:sp>
        <p:nvSpPr>
          <p:cNvPr id="15" name="Shape 13"/>
          <p:cNvSpPr/>
          <p:nvPr/>
        </p:nvSpPr>
        <p:spPr>
          <a:xfrm>
            <a:off x="8855075" y="1494036"/>
            <a:ext cx="2520950" cy="1596231"/>
          </a:xfrm>
          <a:prstGeom prst="roundRect">
            <a:avLst>
              <a:gd name="adj" fmla="val 9547"/>
            </a:avLst>
          </a:prstGeom>
          <a:solidFill>
            <a:schemeClr val="bg2"/>
          </a:solidFill>
          <a:ln w="6350">
            <a:solidFill>
              <a:srgbClr val="E2D7C5"/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9036050" y="1649611"/>
            <a:ext cx="330200" cy="330200"/>
          </a:xfrm>
          <a:prstGeom prst="ellipse">
            <a:avLst/>
          </a:prstGeom>
          <a:solidFill>
            <a:schemeClr val="accent1"/>
          </a:solidFill>
          <a:ln/>
        </p:spPr>
      </p:sp>
      <p:sp>
        <p:nvSpPr>
          <p:cNvPr id="17" name="Text 15"/>
          <p:cNvSpPr txBox="1"/>
          <p:nvPr/>
        </p:nvSpPr>
        <p:spPr>
          <a:xfrm>
            <a:off x="9131300" y="1700411"/>
            <a:ext cx="1905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ru-RU" altLang="en-US" sz="1300" dirty="0">
                <a:solidFill>
                  <a:schemeClr val="tx2"/>
                </a:solidFill>
                <a:latin typeface="+mj-lt" pitchFamily="34" charset="0"/>
                <a:ea typeface="+mj-lt" pitchFamily="34" charset="-122"/>
                <a:cs typeface="+mj-lt" pitchFamily="34" charset="-120"/>
              </a:rPr>
              <a:t>4</a:t>
            </a:r>
            <a:endParaRPr lang="en-US" sz="1300" dirty="0"/>
          </a:p>
        </p:txBody>
      </p:sp>
      <p:sp>
        <p:nvSpPr>
          <p:cNvPr id="18" name="Text 16"/>
          <p:cNvSpPr txBox="1"/>
          <p:nvPr/>
        </p:nvSpPr>
        <p:spPr>
          <a:xfrm>
            <a:off x="9036050" y="2081411"/>
            <a:ext cx="2223770" cy="85328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buNone/>
            </a:pPr>
            <a:r>
              <a:rPr lang="ru-RU" altLang="en-US" sz="1200" dirty="0">
                <a:solidFill>
                  <a:schemeClr val="tx2"/>
                </a:solidFill>
                <a:latin typeface="+mn-lt" pitchFamily="34" charset="0"/>
                <a:ea typeface="+mn-lt" pitchFamily="34" charset="-122"/>
                <a:cs typeface="+mn-lt" pitchFamily="34" charset="-120"/>
              </a:rPr>
              <a:t>Клиент оплачивает услугу, </a:t>
            </a:r>
            <a:br/>
            <a:pPr algn="l" indent="0" marL="0">
              <a:lnSpc>
                <a:spcPts val="1680"/>
              </a:lnSpc>
              <a:buNone/>
            </a:pPr>
            <a:r>
              <a:rPr lang="ru-RU" altLang="en-US" sz="1200" dirty="0">
                <a:solidFill>
                  <a:schemeClr val="tx2"/>
                </a:solidFill>
                <a:latin typeface="+mn-lt" pitchFamily="34" charset="0"/>
                <a:ea typeface="+mn-lt" pitchFamily="34" charset="-122"/>
                <a:cs typeface="+mn-lt" pitchFamily="34" charset="-120"/>
              </a:rPr>
              <a:t>ферма получает </a:t>
            </a:r>
            <a:br/>
            <a:pPr algn="l" indent="0" marL="0">
              <a:lnSpc>
                <a:spcPts val="1680"/>
              </a:lnSpc>
              <a:buNone/>
            </a:pPr>
            <a:r>
              <a:rPr lang="ru-RU" altLang="en-US" sz="1200" dirty="0">
                <a:solidFill>
                  <a:schemeClr val="tx2"/>
                </a:solidFill>
                <a:latin typeface="+mn-lt" pitchFamily="34" charset="0"/>
                <a:ea typeface="+mn-lt" pitchFamily="34" charset="-122"/>
                <a:cs typeface="+mn-lt" pitchFamily="34" charset="-120"/>
              </a:rPr>
              <a:t>вознаграждение, Улей — </a:t>
            </a:r>
            <a:br/>
            <a:pPr algn="l" indent="0" marL="0">
              <a:lnSpc>
                <a:spcPts val="1680"/>
              </a:lnSpc>
              <a:buNone/>
            </a:pPr>
            <a:r>
              <a:rPr lang="ru-RU" altLang="en-US" sz="1200" dirty="0">
                <a:solidFill>
                  <a:schemeClr val="tx2"/>
                </a:solidFill>
                <a:latin typeface="+mn-lt" pitchFamily="34" charset="0"/>
                <a:ea typeface="+mn-lt" pitchFamily="34" charset="-122"/>
                <a:cs typeface="+mn-lt" pitchFamily="34" charset="-120"/>
              </a:rPr>
              <a:t>свою долю</a:t>
            </a:r>
            <a:endParaRPr lang="en-US" sz="1200" dirty="0"/>
          </a:p>
        </p:txBody>
      </p:sp>
      <p:sp>
        <p:nvSpPr>
          <p:cNvPr id="19" name="Shape 17"/>
          <p:cNvSpPr/>
          <p:nvPr/>
        </p:nvSpPr>
        <p:spPr>
          <a:xfrm>
            <a:off x="812800" y="3380383"/>
            <a:ext cx="5812730" cy="2664718"/>
          </a:xfrm>
          <a:prstGeom prst="roundRect">
            <a:avLst>
              <a:gd name="adj" fmla="val 5719"/>
            </a:avLst>
          </a:prstGeom>
          <a:solidFill>
            <a:schemeClr val="tx1"/>
          </a:solidFill>
          <a:ln/>
        </p:spPr>
      </p:sp>
      <p:sp>
        <p:nvSpPr>
          <p:cNvPr id="20" name="Text 18"/>
          <p:cNvSpPr txBox="1"/>
          <p:nvPr/>
        </p:nvSpPr>
        <p:spPr>
          <a:xfrm>
            <a:off x="1066800" y="3545483"/>
            <a:ext cx="5457130" cy="2603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ru-RU" altLang="en-US" sz="1500" dirty="0">
                <a:solidFill>
                  <a:schemeClr val="accent1"/>
                </a:solidFill>
                <a:latin typeface="+mj-lt" pitchFamily="34" charset="0"/>
                <a:ea typeface="+mj-lt" pitchFamily="34" charset="-122"/>
                <a:cs typeface="+mj-lt" pitchFamily="34" charset="-120"/>
              </a:rPr>
              <a:t>Расчётный сценарий</a:t>
            </a:r>
            <a:endParaRPr lang="en-US" sz="1500" dirty="0"/>
          </a:p>
        </p:txBody>
      </p:sp>
      <p:sp>
        <p:nvSpPr>
          <p:cNvPr id="21" name="Text 19"/>
          <p:cNvSpPr txBox="1"/>
          <p:nvPr/>
        </p:nvSpPr>
        <p:spPr>
          <a:xfrm>
            <a:off x="1066800" y="3866158"/>
            <a:ext cx="5457130" cy="42664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buNone/>
            </a:pPr>
            <a:r>
              <a:rPr lang="ru-RU" altLang="en-US" sz="1200" dirty="0">
                <a:solidFill>
                  <a:schemeClr val="bg1"/>
                </a:solidFill>
                <a:latin typeface="+mn-lt" pitchFamily="34" charset="0"/>
                <a:ea typeface="+mn-lt" pitchFamily="34" charset="-122"/>
                <a:cs typeface="+mn-lt" pitchFamily="34" charset="-120"/>
              </a:rPr>
              <a:t>Лаборатории нужно около 100 часов работы RTX 3090 с 24 ГБ памяти, </a:t>
            </a:r>
            <a:br/>
            <a:pPr algn="l" indent="0" marL="0">
              <a:lnSpc>
                <a:spcPts val="1680"/>
              </a:lnSpc>
              <a:buNone/>
            </a:pPr>
            <a:r>
              <a:rPr lang="ru-RU" altLang="en-US" sz="1200" dirty="0">
                <a:solidFill>
                  <a:schemeClr val="bg1"/>
                </a:solidFill>
                <a:latin typeface="+mn-lt" pitchFamily="34" charset="0"/>
                <a:ea typeface="+mn-lt" pitchFamily="34" charset="-122"/>
                <a:cs typeface="+mn-lt" pitchFamily="34" charset="-120"/>
              </a:rPr>
              <a:t>чтобы обработать набор изображений готовой моделью.</a:t>
            </a:r>
            <a:endParaRPr lang="en-US" sz="1200" dirty="0"/>
          </a:p>
        </p:txBody>
      </p:sp>
      <p:sp>
        <p:nvSpPr>
          <p:cNvPr id="22" name="Text 20"/>
          <p:cNvSpPr txBox="1"/>
          <p:nvPr/>
        </p:nvSpPr>
        <p:spPr>
          <a:xfrm>
            <a:off x="1066800" y="4324548"/>
            <a:ext cx="2027555" cy="406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ru-RU" altLang="en-US" sz="2400" spc="-50" kern="0" dirty="0">
                <a:solidFill>
                  <a:schemeClr val="accent1"/>
                </a:solidFill>
                <a:latin typeface="+mj-lt" pitchFamily="34" charset="0"/>
                <a:ea typeface="+mj-lt" pitchFamily="34" charset="-122"/>
                <a:cs typeface="+mj-lt" pitchFamily="34" charset="-120"/>
              </a:rPr>
              <a:t>3 500 ₽</a:t>
            </a:r>
            <a:endParaRPr lang="en-US" sz="2400" dirty="0"/>
          </a:p>
        </p:txBody>
      </p:sp>
      <p:sp>
        <p:nvSpPr>
          <p:cNvPr id="23" name="Text 21"/>
          <p:cNvSpPr txBox="1"/>
          <p:nvPr/>
        </p:nvSpPr>
        <p:spPr>
          <a:xfrm>
            <a:off x="1066800" y="4727079"/>
            <a:ext cx="2027555" cy="41523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20"/>
              </a:lnSpc>
              <a:buNone/>
            </a:pPr>
            <a:r>
              <a:rPr lang="ru-RU" altLang="en-US" sz="1200" dirty="0">
                <a:solidFill>
                  <a:schemeClr val="accent5"/>
                </a:solidFill>
                <a:latin typeface="+mn-lt" pitchFamily="34" charset="0"/>
                <a:ea typeface="+mn-lt" pitchFamily="34" charset="-122"/>
                <a:cs typeface="+mn-lt" pitchFamily="34" charset="-120"/>
              </a:rPr>
              <a:t>цель Улья: 100 ч × 35 ₽, </a:t>
            </a:r>
            <a:br/>
            <a:pPr algn="l" indent="0" marL="0">
              <a:lnSpc>
                <a:spcPts val="1620"/>
              </a:lnSpc>
              <a:buNone/>
            </a:pPr>
            <a:r>
              <a:rPr lang="ru-RU" altLang="en-US" sz="1200" dirty="0">
                <a:solidFill>
                  <a:schemeClr val="accent5"/>
                </a:solidFill>
                <a:latin typeface="+mn-lt" pitchFamily="34" charset="0"/>
                <a:ea typeface="+mn-lt" pitchFamily="34" charset="-122"/>
                <a:cs typeface="+mn-lt" pitchFamily="34" charset="-120"/>
              </a:rPr>
              <a:t>пилотом не подтверждена</a:t>
            </a:r>
            <a:endParaRPr lang="en-US" sz="1200" dirty="0"/>
          </a:p>
        </p:txBody>
      </p:sp>
      <p:sp>
        <p:nvSpPr>
          <p:cNvPr id="24" name="Shape 22"/>
          <p:cNvSpPr/>
          <p:nvPr/>
        </p:nvSpPr>
        <p:spPr>
          <a:xfrm>
            <a:off x="3292475" y="4368998"/>
            <a:ext cx="0" cy="769441"/>
          </a:xfrm>
          <a:prstGeom prst="line">
            <a:avLst/>
          </a:prstGeom>
          <a:noFill/>
          <a:ln w="6350">
            <a:solidFill>
              <a:schemeClr val="accent4"/>
            </a:solidFill>
            <a:prstDash val="solid"/>
          </a:ln>
        </p:spPr>
      </p:sp>
      <p:sp>
        <p:nvSpPr>
          <p:cNvPr id="25" name="Text 23"/>
          <p:cNvSpPr txBox="1"/>
          <p:nvPr/>
        </p:nvSpPr>
        <p:spPr>
          <a:xfrm>
            <a:off x="3549650" y="4324548"/>
            <a:ext cx="2906537" cy="406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ru-RU" altLang="en-US" sz="2400" spc="-50" kern="0" dirty="0">
                <a:solidFill>
                  <a:schemeClr val="bg1"/>
                </a:solidFill>
                <a:latin typeface="+mj-lt" pitchFamily="34" charset="0"/>
                <a:ea typeface="+mj-lt" pitchFamily="34" charset="-122"/>
                <a:cs typeface="+mj-lt" pitchFamily="34" charset="-120"/>
              </a:rPr>
              <a:t>6 300–7 100 ₽</a:t>
            </a:r>
            <a:endParaRPr lang="en-US" sz="2400" dirty="0"/>
          </a:p>
        </p:txBody>
      </p:sp>
      <p:sp>
        <p:nvSpPr>
          <p:cNvPr id="26" name="Text 24"/>
          <p:cNvSpPr txBox="1"/>
          <p:nvPr/>
        </p:nvSpPr>
        <p:spPr>
          <a:xfrm>
            <a:off x="3549650" y="4727079"/>
            <a:ext cx="2906537" cy="41523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20"/>
              </a:lnSpc>
              <a:buNone/>
            </a:pPr>
            <a:r>
              <a:rPr lang="ru-RU" altLang="en-US" sz="1200" dirty="0">
                <a:solidFill>
                  <a:schemeClr val="accent5"/>
                </a:solidFill>
                <a:latin typeface="+mn-lt" pitchFamily="34" charset="0"/>
                <a:ea typeface="+mn-lt" pitchFamily="34" charset="-122"/>
                <a:cs typeface="+mn-lt" pitchFamily="34" charset="-120"/>
              </a:rPr>
              <a:t>GPU-облако Immers.cloud: 63–71 ₽ </a:t>
            </a:r>
            <a:br/>
            <a:pPr algn="l" indent="0" marL="0">
              <a:lnSpc>
                <a:spcPts val="1620"/>
              </a:lnSpc>
              <a:buNone/>
            </a:pPr>
            <a:r>
              <a:rPr lang="ru-RU" altLang="en-US" sz="1200" dirty="0">
                <a:solidFill>
                  <a:schemeClr val="accent5"/>
                </a:solidFill>
                <a:latin typeface="+mn-lt" pitchFamily="34" charset="0"/>
                <a:ea typeface="+mn-lt" pitchFamily="34" charset="-122"/>
                <a:cs typeface="+mn-lt" pitchFamily="34" charset="-120"/>
              </a:rPr>
              <a:t>за час, в цену входят vCPU, RAM и диск</a:t>
            </a:r>
            <a:endParaRPr lang="en-US" sz="1200" dirty="0"/>
          </a:p>
        </p:txBody>
      </p:sp>
      <p:sp>
        <p:nvSpPr>
          <p:cNvPr id="27" name="Text 25"/>
          <p:cNvSpPr txBox="1"/>
          <p:nvPr/>
        </p:nvSpPr>
        <p:spPr>
          <a:xfrm>
            <a:off x="1066800" y="5214640"/>
            <a:ext cx="5457130" cy="63996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buNone/>
            </a:pPr>
            <a:r>
              <a:rPr lang="ru-RU" altLang="en-US" sz="1200" dirty="0">
                <a:solidFill>
                  <a:schemeClr val="bg1"/>
                </a:solidFill>
                <a:latin typeface="+mn-lt" pitchFamily="34" charset="0"/>
                <a:ea typeface="+mn-lt" pitchFamily="34" charset="-122"/>
                <a:cs typeface="+mn-lt" pitchFamily="34" charset="-120"/>
              </a:rPr>
              <a:t>На рынке есть более дешёвые GPU-площадки. Преимущество Улья </a:t>
            </a:r>
            <a:br/>
            <a:pPr algn="l" indent="0" marL="0">
              <a:lnSpc>
                <a:spcPts val="1680"/>
              </a:lnSpc>
              <a:buNone/>
            </a:pPr>
            <a:r>
              <a:rPr lang="ru-RU" altLang="en-US" sz="1200" dirty="0">
                <a:solidFill>
                  <a:schemeClr val="bg1"/>
                </a:solidFill>
                <a:latin typeface="+mn-lt" pitchFamily="34" charset="0"/>
                <a:ea typeface="+mn-lt" pitchFamily="34" charset="-122"/>
                <a:cs typeface="+mn-lt" pitchFamily="34" charset="-120"/>
              </a:rPr>
              <a:t>предполагается не только в цене, но и в организации аренды </a:t>
            </a:r>
            <a:br/>
            <a:pPr algn="l" indent="0" marL="0">
              <a:lnSpc>
                <a:spcPts val="1680"/>
              </a:lnSpc>
              <a:buNone/>
            </a:pPr>
            <a:r>
              <a:rPr lang="ru-RU" altLang="en-US" sz="1200" dirty="0">
                <a:solidFill>
                  <a:schemeClr val="bg1"/>
                </a:solidFill>
                <a:latin typeface="+mn-lt" pitchFamily="34" charset="0"/>
                <a:ea typeface="+mn-lt" pitchFamily="34" charset="-122"/>
                <a:cs typeface="+mn-lt" pitchFamily="34" charset="-120"/>
              </a:rPr>
              <a:t>для </a:t>
            </a:r>
            <a:pPr algn="l" indent="0" marL="0">
              <a:lnSpc>
                <a:spcPts val="1680"/>
              </a:lnSpc>
              <a:buNone/>
            </a:pPr>
            <a:r>
              <a:rPr lang="ru-RU" altLang="en-US" sz="1200" dirty="0">
                <a:solidFill>
                  <a:schemeClr val="bg1"/>
                </a:solidFill>
                <a:latin typeface="+mn-lt" pitchFamily="34" charset="0"/>
                <a:ea typeface="+mn-lt" pitchFamily="34" charset="-122"/>
                <a:cs typeface="+mn-lt" pitchFamily="34" charset="-120"/>
              </a:rPr>
              <a:t>B2B-клиентов.</a:t>
            </a:r>
            <a:pPr algn="l" indent="0" marL="0">
              <a:lnSpc>
                <a:spcPts val="1680"/>
              </a:lnSpc>
              <a:buNone/>
            </a:pPr>
            <a:r>
              <a:rPr lang="ru-RU" altLang="en-US" sz="1200" dirty="0">
                <a:solidFill>
                  <a:schemeClr val="bg1"/>
                </a:solidFill>
                <a:latin typeface="+mn-lt" pitchFamily="34" charset="0"/>
                <a:ea typeface="+mn-lt" pitchFamily="34" charset="-122"/>
                <a:cs typeface="+mn-lt" pitchFamily="34" charset="-120"/>
              </a:rPr>
              <a:t> </a:t>
            </a:r>
            <a:pPr algn="l" indent="0" marL="0">
              <a:lnSpc>
                <a:spcPts val="1680"/>
              </a:lnSpc>
              <a:buNone/>
            </a:pPr>
            <a:r>
              <a:rPr lang="ru-RU" altLang="en-US" sz="1200" b="1" dirty="0">
                <a:solidFill>
                  <a:schemeClr val="bg1"/>
                </a:solidFill>
                <a:latin typeface="+mn-lt" pitchFamily="34" charset="0"/>
                <a:ea typeface="+mn-lt" pitchFamily="34" charset="-122"/>
                <a:cs typeface="+mn-lt" pitchFamily="34" charset="-120"/>
              </a:rPr>
              <a:t>Экономия не гарантирована.</a:t>
            </a:r>
            <a:endParaRPr lang="en-US" sz="1200" dirty="0"/>
          </a:p>
        </p:txBody>
      </p:sp>
      <p:sp>
        <p:nvSpPr>
          <p:cNvPr id="28" name="Shape 26"/>
          <p:cNvSpPr/>
          <p:nvPr/>
        </p:nvSpPr>
        <p:spPr>
          <a:xfrm>
            <a:off x="6781105" y="3383558"/>
            <a:ext cx="4594920" cy="2658368"/>
          </a:xfrm>
          <a:prstGeom prst="roundRect">
            <a:avLst>
              <a:gd name="adj" fmla="val 5733"/>
            </a:avLst>
          </a:prstGeom>
          <a:solidFill>
            <a:schemeClr val="bg2"/>
          </a:solidFill>
          <a:ln w="6350">
            <a:solidFill>
              <a:srgbClr val="E2D7C5"/>
            </a:solidFill>
            <a:prstDash val="solid"/>
          </a:ln>
        </p:spPr>
      </p:sp>
      <p:sp>
        <p:nvSpPr>
          <p:cNvPr id="29" name="Text 27"/>
          <p:cNvSpPr txBox="1"/>
          <p:nvPr/>
        </p:nvSpPr>
        <p:spPr>
          <a:xfrm>
            <a:off x="7038280" y="3551833"/>
            <a:ext cx="4202987" cy="2603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ru-RU" altLang="en-US" sz="1500" dirty="0">
                <a:solidFill>
                  <a:schemeClr val="tx2"/>
                </a:solidFill>
                <a:latin typeface="+mj-lt" pitchFamily="34" charset="0"/>
                <a:ea typeface="+mj-lt" pitchFamily="34" charset="-122"/>
                <a:cs typeface="+mj-lt" pitchFamily="34" charset="-120"/>
              </a:rPr>
              <a:t>Кто за что отвечает</a:t>
            </a:r>
            <a:endParaRPr lang="en-US" sz="1500" dirty="0"/>
          </a:p>
        </p:txBody>
      </p:sp>
      <p:sp>
        <p:nvSpPr>
          <p:cNvPr id="30" name="Text 28"/>
          <p:cNvSpPr txBox="1"/>
          <p:nvPr/>
        </p:nvSpPr>
        <p:spPr>
          <a:xfrm>
            <a:off x="7038280" y="3885208"/>
            <a:ext cx="4202987" cy="42664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buNone/>
            </a:pPr>
            <a:r>
              <a:rPr lang="ru-RU" altLang="en-US" sz="1200" b="1" dirty="0">
                <a:solidFill>
                  <a:schemeClr val="accent6"/>
                </a:solidFill>
                <a:latin typeface="+mn-lt" pitchFamily="34" charset="0"/>
                <a:ea typeface="+mn-lt" pitchFamily="34" charset="-122"/>
                <a:cs typeface="+mn-lt" pitchFamily="34" charset="-120"/>
              </a:rPr>
              <a:t>Улей:</a:t>
            </a:r>
            <a:pPr algn="l" indent="0" marL="0">
              <a:lnSpc>
                <a:spcPts val="1680"/>
              </a:lnSpc>
              <a:buNone/>
            </a:pPr>
            <a:r>
              <a:rPr lang="ru-RU" altLang="en-US" sz="1200" dirty="0">
                <a:solidFill>
                  <a:schemeClr val="accent6"/>
                </a:solidFill>
                <a:latin typeface="+mn-lt" pitchFamily="34" charset="0"/>
                <a:ea typeface="+mn-lt" pitchFamily="34" charset="-122"/>
                <a:cs typeface="+mn-lt" pitchFamily="34" charset="-120"/>
              </a:rPr>
              <a:t> подбор конфигурации, организация аренды, </a:t>
            </a:r>
            <a:br/>
            <a:pPr algn="l" indent="0" marL="0">
              <a:lnSpc>
                <a:spcPts val="1680"/>
              </a:lnSpc>
              <a:buNone/>
            </a:pPr>
            <a:r>
              <a:rPr lang="ru-RU" altLang="en-US" sz="1200" dirty="0">
                <a:solidFill>
                  <a:schemeClr val="accent6"/>
                </a:solidFill>
                <a:latin typeface="+mn-lt" pitchFamily="34" charset="0"/>
                <a:ea typeface="+mn-lt" pitchFamily="34" charset="-122"/>
                <a:cs typeface="+mn-lt" pitchFamily="34" charset="-120"/>
              </a:rPr>
              <a:t>сопровождение заказа.</a:t>
            </a:r>
            <a:endParaRPr lang="en-US" sz="1200" dirty="0"/>
          </a:p>
        </p:txBody>
      </p:sp>
      <p:sp>
        <p:nvSpPr>
          <p:cNvPr id="31" name="Text 29"/>
          <p:cNvSpPr txBox="1"/>
          <p:nvPr/>
        </p:nvSpPr>
        <p:spPr>
          <a:xfrm>
            <a:off x="7038280" y="4400748"/>
            <a:ext cx="4202987" cy="42664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buNone/>
            </a:pPr>
            <a:r>
              <a:rPr lang="ru-RU" altLang="en-US" sz="1200" b="1" dirty="0">
                <a:solidFill>
                  <a:schemeClr val="accent6"/>
                </a:solidFill>
                <a:latin typeface="+mn-lt" pitchFamily="34" charset="0"/>
                <a:ea typeface="+mn-lt" pitchFamily="34" charset="-122"/>
                <a:cs typeface="+mn-lt" pitchFamily="34" charset="-120"/>
              </a:rPr>
              <a:t>Ферма:</a:t>
            </a:r>
            <a:pPr algn="l" indent="0" marL="0">
              <a:lnSpc>
                <a:spcPts val="1680"/>
              </a:lnSpc>
              <a:buNone/>
            </a:pPr>
            <a:r>
              <a:rPr lang="ru-RU" altLang="en-US" sz="1200" dirty="0">
                <a:solidFill>
                  <a:schemeClr val="accent6"/>
                </a:solidFill>
                <a:latin typeface="+mn-lt" pitchFamily="34" charset="0"/>
                <a:ea typeface="+mn-lt" pitchFamily="34" charset="-122"/>
                <a:cs typeface="+mn-lt" pitchFamily="34" charset="-120"/>
              </a:rPr>
              <a:t> оборудование и вычислительная среда — </a:t>
            </a:r>
            <a:br/>
            <a:pPr algn="l" indent="0" marL="0">
              <a:lnSpc>
                <a:spcPts val="1680"/>
              </a:lnSpc>
              <a:buNone/>
            </a:pPr>
            <a:r>
              <a:rPr lang="ru-RU" altLang="en-US" sz="1200" dirty="0">
                <a:solidFill>
                  <a:schemeClr val="accent6"/>
                </a:solidFill>
                <a:latin typeface="+mn-lt" pitchFamily="34" charset="0"/>
                <a:ea typeface="+mn-lt" pitchFamily="34" charset="-122"/>
                <a:cs typeface="+mn-lt" pitchFamily="34" charset="-120"/>
              </a:rPr>
              <a:t>по условиям партнёрства.</a:t>
            </a:r>
            <a:endParaRPr lang="en-US" sz="1200" dirty="0"/>
          </a:p>
        </p:txBody>
      </p:sp>
      <p:sp>
        <p:nvSpPr>
          <p:cNvPr id="32" name="Text 30"/>
          <p:cNvSpPr txBox="1"/>
          <p:nvPr/>
        </p:nvSpPr>
        <p:spPr>
          <a:xfrm>
            <a:off x="7038280" y="4916289"/>
            <a:ext cx="4202987" cy="42664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buNone/>
            </a:pPr>
            <a:r>
              <a:rPr lang="ru-RU" altLang="en-US" sz="1200" b="1" dirty="0">
                <a:solidFill>
                  <a:schemeClr val="accent6"/>
                </a:solidFill>
                <a:latin typeface="+mn-lt" pitchFamily="34" charset="0"/>
                <a:ea typeface="+mn-lt" pitchFamily="34" charset="-122"/>
                <a:cs typeface="+mn-lt" pitchFamily="34" charset="-120"/>
              </a:rPr>
              <a:t>Пока нет:</a:t>
            </a:r>
            <a:pPr algn="l" indent="0" marL="0">
              <a:lnSpc>
                <a:spcPts val="1680"/>
              </a:lnSpc>
              <a:buNone/>
            </a:pPr>
            <a:r>
              <a:rPr lang="ru-RU" altLang="en-US" sz="1200" dirty="0">
                <a:solidFill>
                  <a:schemeClr val="accent6"/>
                </a:solidFill>
                <a:latin typeface="+mn-lt" pitchFamily="34" charset="0"/>
                <a:ea typeface="+mn-lt" pitchFamily="34" charset="-122"/>
                <a:cs typeface="+mn-lt" pitchFamily="34" charset="-120"/>
              </a:rPr>
              <a:t> собственной платформы, круглосуточной </a:t>
            </a:r>
            <a:br/>
            <a:pPr algn="l" indent="0" marL="0">
              <a:lnSpc>
                <a:spcPts val="1680"/>
              </a:lnSpc>
              <a:buNone/>
            </a:pPr>
            <a:r>
              <a:rPr lang="ru-RU" altLang="en-US" sz="1200" dirty="0">
                <a:solidFill>
                  <a:schemeClr val="accent6"/>
                </a:solidFill>
                <a:latin typeface="+mn-lt" pitchFamily="34" charset="0"/>
                <a:ea typeface="+mn-lt" pitchFamily="34" charset="-122"/>
                <a:cs typeface="+mn-lt" pitchFamily="34" charset="-120"/>
              </a:rPr>
              <a:t>поддержки и гарантированного SLA.</a:t>
            </a:r>
            <a:endParaRPr lang="en-US" sz="12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812800" y="768350"/>
            <a:ext cx="10820400" cy="4699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ru-RU" altLang="en-US" sz="2800" spc="-50" kern="0" dirty="0">
                <a:solidFill>
                  <a:schemeClr val="bg1"/>
                </a:solidFill>
              </a:rPr>
              <a:t>Первые клиенты и направления</a:t>
            </a:r>
            <a:endParaRPr lang="en-US" sz="2800" dirty="0"/>
          </a:p>
        </p:txBody>
      </p:sp>
      <p:sp>
        <p:nvSpPr>
          <p:cNvPr id="3" name="Shape 1"/>
          <p:cNvSpPr/>
          <p:nvPr/>
        </p:nvSpPr>
        <p:spPr>
          <a:xfrm>
            <a:off x="819150" y="1515070"/>
            <a:ext cx="6218436" cy="4523780"/>
          </a:xfrm>
          <a:prstGeom prst="roundRect">
            <a:avLst>
              <a:gd name="adj" fmla="val 3369"/>
            </a:avLst>
          </a:prstGeom>
          <a:ln w="12700">
            <a:solidFill>
              <a:schemeClr val="accent1"/>
            </a:solidFill>
            <a:prstDash val="solid"/>
          </a:ln>
        </p:spPr>
      </p:sp>
      <p:sp>
        <p:nvSpPr>
          <p:cNvPr id="4" name="Text 2"/>
          <p:cNvSpPr txBox="1"/>
          <p:nvPr/>
        </p:nvSpPr>
        <p:spPr>
          <a:xfrm>
            <a:off x="1104900" y="1730970"/>
            <a:ext cx="5799336" cy="2349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ru-RU" altLang="en-US" sz="1200" b="1" dirty="0">
                <a:solidFill>
                  <a:schemeClr val="accent1"/>
                </a:solidFill>
                <a:latin typeface="+mn-lt" pitchFamily="34" charset="0"/>
                <a:ea typeface="+mn-lt" pitchFamily="34" charset="-122"/>
                <a:cs typeface="+mn-lt" pitchFamily="34" charset="-120"/>
              </a:rPr>
              <a:t>Основная гипотеза для пилота</a:t>
            </a:r>
            <a:endParaRPr lang="en-US" sz="1200" dirty="0"/>
          </a:p>
        </p:txBody>
      </p:sp>
      <p:sp>
        <p:nvSpPr>
          <p:cNvPr id="5" name="Text 3"/>
          <p:cNvSpPr txBox="1"/>
          <p:nvPr/>
        </p:nvSpPr>
        <p:spPr>
          <a:xfrm>
            <a:off x="1104900" y="2017911"/>
            <a:ext cx="5799336" cy="3238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ru-RU" altLang="en-US" sz="1900" dirty="0">
                <a:solidFill>
                  <a:schemeClr val="bg1"/>
                </a:solidFill>
                <a:latin typeface="+mj-lt" pitchFamily="34" charset="0"/>
                <a:ea typeface="+mj-lt" pitchFamily="34" charset="-122"/>
                <a:cs typeface="+mj-lt" pitchFamily="34" charset="-120"/>
              </a:rPr>
              <a:t>B2B-аренда GPU для </a:t>
            </a:r>
            <a:pPr algn="l" indent="0" marL="0">
              <a:buNone/>
            </a:pPr>
            <a:r>
              <a:rPr lang="ru-RU" altLang="en-US" sz="1900" dirty="0">
                <a:solidFill>
                  <a:schemeClr val="bg1"/>
                </a:solidFill>
                <a:latin typeface="+mj-lt" pitchFamily="34" charset="0"/>
                <a:ea typeface="+mj-lt" pitchFamily="34" charset="-122"/>
                <a:cs typeface="+mj-lt" pitchFamily="34" charset="-120"/>
              </a:rPr>
              <a:t>ML-команд</a:t>
            </a:r>
            <a:endParaRPr lang="en-US" sz="1900" dirty="0"/>
          </a:p>
        </p:txBody>
      </p:sp>
      <p:sp>
        <p:nvSpPr>
          <p:cNvPr id="6" name="Shape 4"/>
          <p:cNvSpPr/>
          <p:nvPr/>
        </p:nvSpPr>
        <p:spPr>
          <a:xfrm>
            <a:off x="1104900" y="2424609"/>
            <a:ext cx="5646936" cy="0"/>
          </a:xfrm>
          <a:prstGeom prst="line">
            <a:avLst/>
          </a:prstGeom>
          <a:noFill/>
          <a:ln w="6350">
            <a:solidFill>
              <a:schemeClr val="accent4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1104900" y="2497634"/>
            <a:ext cx="5799336" cy="2349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ru-RU" altLang="en-US" sz="1200" b="1" dirty="0">
                <a:solidFill>
                  <a:schemeClr val="accent1"/>
                </a:solidFill>
                <a:latin typeface="+mn-lt" pitchFamily="34" charset="0"/>
                <a:ea typeface="+mn-lt" pitchFamily="34" charset="-122"/>
                <a:cs typeface="+mn-lt" pitchFamily="34" charset="-120"/>
              </a:rPr>
              <a:t>Кто покупает</a:t>
            </a:r>
            <a:endParaRPr lang="en-US" sz="1200" dirty="0"/>
          </a:p>
        </p:txBody>
      </p:sp>
      <p:sp>
        <p:nvSpPr>
          <p:cNvPr id="8" name="Text 6"/>
          <p:cNvSpPr txBox="1"/>
          <p:nvPr/>
        </p:nvSpPr>
        <p:spPr>
          <a:xfrm>
            <a:off x="1104900" y="2733774"/>
            <a:ext cx="5799336" cy="254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ru-RU" altLang="en-US" sz="1300" dirty="0">
                <a:solidFill>
                  <a:schemeClr val="bg1"/>
                </a:solidFill>
                <a:latin typeface="+mn-lt" pitchFamily="34" charset="0"/>
                <a:ea typeface="+mn-lt" pitchFamily="34" charset="-122"/>
                <a:cs typeface="+mn-lt" pitchFamily="34" charset="-120"/>
              </a:rPr>
              <a:t>Небольшие ML-команды, лаборатории вузов, AI-стартапы, IT-компании</a:t>
            </a:r>
            <a:endParaRPr lang="en-US" sz="1300" dirty="0"/>
          </a:p>
        </p:txBody>
      </p:sp>
      <p:sp>
        <p:nvSpPr>
          <p:cNvPr id="9" name="Shape 7"/>
          <p:cNvSpPr/>
          <p:nvPr/>
        </p:nvSpPr>
        <p:spPr>
          <a:xfrm>
            <a:off x="1104900" y="3080445"/>
            <a:ext cx="5646936" cy="0"/>
          </a:xfrm>
          <a:prstGeom prst="line">
            <a:avLst/>
          </a:prstGeom>
          <a:noFill/>
          <a:ln w="6350">
            <a:solidFill>
              <a:schemeClr val="accent4"/>
            </a:solidFill>
            <a:prstDash val="solid"/>
          </a:ln>
        </p:spPr>
      </p:sp>
      <p:sp>
        <p:nvSpPr>
          <p:cNvPr id="10" name="Text 8"/>
          <p:cNvSpPr txBox="1"/>
          <p:nvPr/>
        </p:nvSpPr>
        <p:spPr>
          <a:xfrm>
            <a:off x="1104900" y="3153470"/>
            <a:ext cx="5799336" cy="2349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ru-RU" altLang="en-US" sz="1200" b="1" dirty="0">
                <a:solidFill>
                  <a:schemeClr val="accent1"/>
                </a:solidFill>
                <a:latin typeface="+mn-lt" pitchFamily="34" charset="0"/>
                <a:ea typeface="+mn-lt" pitchFamily="34" charset="-122"/>
                <a:cs typeface="+mn-lt" pitchFamily="34" charset="-120"/>
              </a:rPr>
              <a:t>Для чего</a:t>
            </a:r>
            <a:endParaRPr lang="en-US" sz="1200" dirty="0"/>
          </a:p>
        </p:txBody>
      </p:sp>
      <p:sp>
        <p:nvSpPr>
          <p:cNvPr id="11" name="Text 9"/>
          <p:cNvSpPr txBox="1"/>
          <p:nvPr/>
        </p:nvSpPr>
        <p:spPr>
          <a:xfrm>
            <a:off x="1104900" y="3389610"/>
            <a:ext cx="5799336" cy="254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ru-RU" altLang="en-US" sz="1300" dirty="0">
                <a:solidFill>
                  <a:schemeClr val="bg1"/>
                </a:solidFill>
                <a:latin typeface="+mn-lt" pitchFamily="34" charset="0"/>
                <a:ea typeface="+mn-lt" pitchFamily="34" charset="-122"/>
                <a:cs typeface="+mn-lt" pitchFamily="34" charset="-120"/>
              </a:rPr>
              <a:t>Эксперименты, обработка наборов данных, дообучение моделей</a:t>
            </a:r>
            <a:endParaRPr lang="en-US" sz="1300" dirty="0"/>
          </a:p>
        </p:txBody>
      </p:sp>
      <p:sp>
        <p:nvSpPr>
          <p:cNvPr id="12" name="Shape 10"/>
          <p:cNvSpPr/>
          <p:nvPr/>
        </p:nvSpPr>
        <p:spPr>
          <a:xfrm>
            <a:off x="1104900" y="3736280"/>
            <a:ext cx="5646936" cy="0"/>
          </a:xfrm>
          <a:prstGeom prst="line">
            <a:avLst/>
          </a:prstGeom>
          <a:noFill/>
          <a:ln w="6350">
            <a:solidFill>
              <a:schemeClr val="accent4"/>
            </a:solidFill>
            <a:prstDash val="solid"/>
          </a:ln>
        </p:spPr>
      </p:sp>
      <p:sp>
        <p:nvSpPr>
          <p:cNvPr id="13" name="Text 11"/>
          <p:cNvSpPr txBox="1"/>
          <p:nvPr/>
        </p:nvSpPr>
        <p:spPr>
          <a:xfrm>
            <a:off x="1104900" y="3809305"/>
            <a:ext cx="5799336" cy="2349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ru-RU" altLang="en-US" sz="1200" b="1" dirty="0">
                <a:solidFill>
                  <a:schemeClr val="accent1"/>
                </a:solidFill>
                <a:latin typeface="+mn-lt" pitchFamily="34" charset="0"/>
                <a:ea typeface="+mn-lt" pitchFamily="34" charset="-122"/>
                <a:cs typeface="+mn-lt" pitchFamily="34" charset="-120"/>
              </a:rPr>
              <a:t>Почему Улей</a:t>
            </a:r>
            <a:endParaRPr lang="en-US" sz="1200" dirty="0"/>
          </a:p>
        </p:txBody>
      </p:sp>
      <p:sp>
        <p:nvSpPr>
          <p:cNvPr id="14" name="Text 12"/>
          <p:cNvSpPr txBox="1"/>
          <p:nvPr/>
        </p:nvSpPr>
        <p:spPr>
          <a:xfrm>
            <a:off x="1104900" y="4064496"/>
            <a:ext cx="5799336" cy="67429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755"/>
              </a:lnSpc>
              <a:buNone/>
            </a:pPr>
            <a:r>
              <a:rPr lang="ru-RU" altLang="en-US" sz="1300" dirty="0">
                <a:solidFill>
                  <a:schemeClr val="bg1"/>
                </a:solidFill>
                <a:latin typeface="+mn-lt" pitchFamily="34" charset="0"/>
                <a:ea typeface="+mn-lt" pitchFamily="34" charset="-122"/>
                <a:cs typeface="+mn-lt" pitchFamily="34" charset="-120"/>
              </a:rPr>
              <a:t>Подбор GPU под задачу, помощь с организацией аренды, </a:t>
            </a:r>
            <a:br/>
            <a:pPr algn="l" indent="0" marL="0">
              <a:lnSpc>
                <a:spcPts val="1755"/>
              </a:lnSpc>
              <a:buNone/>
            </a:pPr>
            <a:r>
              <a:rPr lang="ru-RU" altLang="en-US" sz="1300" dirty="0">
                <a:solidFill>
                  <a:schemeClr val="bg1"/>
                </a:solidFill>
                <a:latin typeface="+mn-lt" pitchFamily="34" charset="0"/>
                <a:ea typeface="+mn-lt" pitchFamily="34" charset="-122"/>
                <a:cs typeface="+mn-lt" pitchFamily="34" charset="-120"/>
              </a:rPr>
              <a:t>сопровождение взаимодействия с поставщиком, потенциально </a:t>
            </a:r>
            <a:br/>
            <a:pPr algn="l" indent="0" marL="0">
              <a:lnSpc>
                <a:spcPts val="1755"/>
              </a:lnSpc>
              <a:buNone/>
            </a:pPr>
            <a:r>
              <a:rPr lang="ru-RU" altLang="en-US" sz="1300" dirty="0">
                <a:solidFill>
                  <a:schemeClr val="bg1"/>
                </a:solidFill>
                <a:latin typeface="+mn-lt" pitchFamily="34" charset="0"/>
                <a:ea typeface="+mn-lt" pitchFamily="34" charset="-122"/>
                <a:cs typeface="+mn-lt" pitchFamily="34" charset="-120"/>
              </a:rPr>
              <a:t>конкурентная цена</a:t>
            </a:r>
            <a:endParaRPr lang="en-US" sz="1300" dirty="0"/>
          </a:p>
        </p:txBody>
      </p:sp>
      <p:sp>
        <p:nvSpPr>
          <p:cNvPr id="15" name="Shape 13"/>
          <p:cNvSpPr/>
          <p:nvPr/>
        </p:nvSpPr>
        <p:spPr>
          <a:xfrm>
            <a:off x="1104900" y="4837807"/>
            <a:ext cx="5646936" cy="0"/>
          </a:xfrm>
          <a:prstGeom prst="line">
            <a:avLst/>
          </a:prstGeom>
          <a:noFill/>
          <a:ln w="6350">
            <a:solidFill>
              <a:schemeClr val="accent4"/>
            </a:solidFill>
            <a:prstDash val="solid"/>
          </a:ln>
        </p:spPr>
      </p:sp>
      <p:sp>
        <p:nvSpPr>
          <p:cNvPr id="16" name="Text 14"/>
          <p:cNvSpPr txBox="1"/>
          <p:nvPr/>
        </p:nvSpPr>
        <p:spPr>
          <a:xfrm>
            <a:off x="1104900" y="4910832"/>
            <a:ext cx="5799336" cy="2349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ru-RU" altLang="en-US" sz="1200" b="1" dirty="0">
                <a:solidFill>
                  <a:schemeClr val="accent1"/>
                </a:solidFill>
                <a:latin typeface="+mn-lt" pitchFamily="34" charset="0"/>
                <a:ea typeface="+mn-lt" pitchFamily="34" charset="-122"/>
                <a:cs typeface="+mn-lt" pitchFamily="34" charset="-120"/>
              </a:rPr>
              <a:t>Что проверяем</a:t>
            </a:r>
            <a:endParaRPr lang="en-US" sz="1200" dirty="0"/>
          </a:p>
        </p:txBody>
      </p:sp>
      <p:sp>
        <p:nvSpPr>
          <p:cNvPr id="17" name="Text 15"/>
          <p:cNvSpPr txBox="1"/>
          <p:nvPr/>
        </p:nvSpPr>
        <p:spPr>
          <a:xfrm>
            <a:off x="1104900" y="5166023"/>
            <a:ext cx="5799336" cy="45144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755"/>
              </a:lnSpc>
              <a:buNone/>
            </a:pPr>
            <a:r>
              <a:rPr lang="ru-RU" altLang="en-US" sz="1300" dirty="0">
                <a:solidFill>
                  <a:schemeClr val="bg1"/>
                </a:solidFill>
                <a:latin typeface="+mn-lt" pitchFamily="34" charset="0"/>
                <a:ea typeface="+mn-lt" pitchFamily="34" charset="-122"/>
                <a:cs typeface="+mn-lt" pitchFamily="34" charset="-120"/>
              </a:rPr>
              <a:t>Готовы ли команды платить за подбор и сопровождение, а не только </a:t>
            </a:r>
            <a:br/>
            <a:pPr algn="l" indent="0" marL="0">
              <a:lnSpc>
                <a:spcPts val="1755"/>
              </a:lnSpc>
              <a:buNone/>
            </a:pPr>
            <a:r>
              <a:rPr lang="ru-RU" altLang="en-US" sz="1300" dirty="0">
                <a:solidFill>
                  <a:schemeClr val="bg1"/>
                </a:solidFill>
                <a:latin typeface="+mn-lt" pitchFamily="34" charset="0"/>
                <a:ea typeface="+mn-lt" pitchFamily="34" charset="-122"/>
                <a:cs typeface="+mn-lt" pitchFamily="34" charset="-120"/>
              </a:rPr>
              <a:t>за цену часа</a:t>
            </a:r>
            <a:endParaRPr lang="en-US" sz="1300" dirty="0"/>
          </a:p>
        </p:txBody>
      </p:sp>
      <p:sp>
        <p:nvSpPr>
          <p:cNvPr id="18" name="Shape 16"/>
          <p:cNvSpPr/>
          <p:nvPr/>
        </p:nvSpPr>
        <p:spPr>
          <a:xfrm>
            <a:off x="7199511" y="1511895"/>
            <a:ext cx="4176514" cy="1484511"/>
          </a:xfrm>
          <a:prstGeom prst="roundRect">
            <a:avLst>
              <a:gd name="adj" fmla="val 10266"/>
            </a:avLst>
          </a:prstGeom>
          <a:solidFill>
            <a:schemeClr val="accent3"/>
          </a:solidFill>
          <a:ln w="6350">
            <a:solidFill>
              <a:schemeClr val="accent4"/>
            </a:solidFill>
            <a:prstDash val="solid"/>
          </a:ln>
        </p:spPr>
      </p:sp>
      <p:sp>
        <p:nvSpPr>
          <p:cNvPr id="19" name="Text 17"/>
          <p:cNvSpPr txBox="1"/>
          <p:nvPr/>
        </p:nvSpPr>
        <p:spPr>
          <a:xfrm>
            <a:off x="7431286" y="1724620"/>
            <a:ext cx="3824353" cy="2349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ru-RU" altLang="en-US" sz="1200" b="1" dirty="0">
                <a:solidFill>
                  <a:schemeClr val="accent1"/>
                </a:solidFill>
                <a:latin typeface="+mn-lt" pitchFamily="34" charset="0"/>
                <a:ea typeface="+mn-lt" pitchFamily="34" charset="-122"/>
                <a:cs typeface="+mn-lt" pitchFamily="34" charset="-120"/>
              </a:rPr>
              <a:t>Будущая гипотеза 1</a:t>
            </a:r>
            <a:endParaRPr lang="en-US" sz="1200" dirty="0"/>
          </a:p>
        </p:txBody>
      </p:sp>
      <p:sp>
        <p:nvSpPr>
          <p:cNvPr id="20" name="Text 18"/>
          <p:cNvSpPr txBox="1"/>
          <p:nvPr/>
        </p:nvSpPr>
        <p:spPr>
          <a:xfrm>
            <a:off x="7431286" y="2017911"/>
            <a:ext cx="3824353" cy="4635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800"/>
              </a:lnSpc>
              <a:buNone/>
            </a:pPr>
            <a:r>
              <a:rPr lang="ru-RU" altLang="en-US" sz="1500" dirty="0">
                <a:solidFill>
                  <a:schemeClr val="bg1"/>
                </a:solidFill>
                <a:latin typeface="+mj-lt" pitchFamily="34" charset="0"/>
                <a:ea typeface="+mj-lt" pitchFamily="34" charset="-122"/>
                <a:cs typeface="+mj-lt" pitchFamily="34" charset="-120"/>
              </a:rPr>
              <a:t>Пакетная обработка аудио </a:t>
            </a:r>
            <a:br/>
            <a:pPr algn="l" indent="0" marL="0">
              <a:lnSpc>
                <a:spcPts val="1800"/>
              </a:lnSpc>
              <a:buNone/>
            </a:pPr>
            <a:r>
              <a:rPr lang="ru-RU" altLang="en-US" sz="1500" dirty="0">
                <a:solidFill>
                  <a:schemeClr val="bg1"/>
                </a:solidFill>
                <a:latin typeface="+mj-lt" pitchFamily="34" charset="0"/>
                <a:ea typeface="+mj-lt" pitchFamily="34" charset="-122"/>
                <a:cs typeface="+mj-lt" pitchFamily="34" charset="-120"/>
              </a:rPr>
              <a:t>и видео</a:t>
            </a:r>
            <a:endParaRPr lang="en-US" sz="1500" dirty="0"/>
          </a:p>
        </p:txBody>
      </p:sp>
      <p:sp>
        <p:nvSpPr>
          <p:cNvPr id="21" name="Text 19"/>
          <p:cNvSpPr txBox="1"/>
          <p:nvPr/>
        </p:nvSpPr>
        <p:spPr>
          <a:xfrm>
            <a:off x="7431286" y="2536706"/>
            <a:ext cx="3824353" cy="238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ru-RU" altLang="en-US" sz="1200" dirty="0">
                <a:solidFill>
                  <a:schemeClr val="accent5"/>
                </a:solidFill>
                <a:latin typeface="+mn-lt" pitchFamily="34" charset="0"/>
                <a:ea typeface="+mn-lt" pitchFamily="34" charset="-122"/>
                <a:cs typeface="+mn-lt" pitchFamily="34" charset="-120"/>
              </a:rPr>
              <a:t>Расшифровка записей, субтитры</a:t>
            </a:r>
            <a:endParaRPr lang="en-US" sz="1200" dirty="0"/>
          </a:p>
        </p:txBody>
      </p:sp>
      <p:sp>
        <p:nvSpPr>
          <p:cNvPr id="22" name="Shape 20"/>
          <p:cNvSpPr/>
          <p:nvPr/>
        </p:nvSpPr>
        <p:spPr>
          <a:xfrm>
            <a:off x="7199511" y="3155156"/>
            <a:ext cx="4176514" cy="1484511"/>
          </a:xfrm>
          <a:prstGeom prst="roundRect">
            <a:avLst>
              <a:gd name="adj" fmla="val 10266"/>
            </a:avLst>
          </a:prstGeom>
          <a:solidFill>
            <a:schemeClr val="accent3"/>
          </a:solidFill>
          <a:ln w="6350">
            <a:solidFill>
              <a:schemeClr val="accent4"/>
            </a:solidFill>
            <a:prstDash val="solid"/>
          </a:ln>
        </p:spPr>
      </p:sp>
      <p:sp>
        <p:nvSpPr>
          <p:cNvPr id="23" name="Text 21"/>
          <p:cNvSpPr txBox="1"/>
          <p:nvPr/>
        </p:nvSpPr>
        <p:spPr>
          <a:xfrm>
            <a:off x="7431286" y="3367881"/>
            <a:ext cx="3824353" cy="2349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ru-RU" altLang="en-US" sz="1200" b="1" dirty="0">
                <a:solidFill>
                  <a:schemeClr val="accent1"/>
                </a:solidFill>
                <a:latin typeface="+mn-lt" pitchFamily="34" charset="0"/>
                <a:ea typeface="+mn-lt" pitchFamily="34" charset="-122"/>
                <a:cs typeface="+mn-lt" pitchFamily="34" charset="-120"/>
              </a:rPr>
              <a:t>Будущая гипотеза 2</a:t>
            </a:r>
            <a:endParaRPr lang="en-US" sz="1200" dirty="0"/>
          </a:p>
        </p:txBody>
      </p:sp>
      <p:sp>
        <p:nvSpPr>
          <p:cNvPr id="24" name="Text 22"/>
          <p:cNvSpPr txBox="1"/>
          <p:nvPr/>
        </p:nvSpPr>
        <p:spPr>
          <a:xfrm>
            <a:off x="7431286" y="3661172"/>
            <a:ext cx="3824353" cy="4635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800"/>
              </a:lnSpc>
              <a:buNone/>
            </a:pPr>
            <a:r>
              <a:rPr lang="ru-RU" altLang="en-US" sz="1500" dirty="0">
                <a:solidFill>
                  <a:schemeClr val="bg1"/>
                </a:solidFill>
                <a:latin typeface="+mj-lt" pitchFamily="34" charset="0"/>
                <a:ea typeface="+mj-lt" pitchFamily="34" charset="-122"/>
                <a:cs typeface="+mj-lt" pitchFamily="34" charset="-120"/>
              </a:rPr>
              <a:t>Обработка изображений </a:t>
            </a:r>
            <a:br/>
            <a:pPr algn="l" indent="0" marL="0">
              <a:lnSpc>
                <a:spcPts val="1800"/>
              </a:lnSpc>
              <a:buNone/>
            </a:pPr>
            <a:r>
              <a:rPr lang="ru-RU" altLang="en-US" sz="1500" dirty="0">
                <a:solidFill>
                  <a:schemeClr val="bg1"/>
                </a:solidFill>
                <a:latin typeface="+mj-lt" pitchFamily="34" charset="0"/>
                <a:ea typeface="+mj-lt" pitchFamily="34" charset="-122"/>
                <a:cs typeface="+mj-lt" pitchFamily="34" charset="-120"/>
              </a:rPr>
              <a:t>и документов</a:t>
            </a:r>
            <a:endParaRPr lang="en-US" sz="1500" dirty="0"/>
          </a:p>
        </p:txBody>
      </p:sp>
      <p:sp>
        <p:nvSpPr>
          <p:cNvPr id="25" name="Text 23"/>
          <p:cNvSpPr txBox="1"/>
          <p:nvPr/>
        </p:nvSpPr>
        <p:spPr>
          <a:xfrm>
            <a:off x="7431286" y="4179967"/>
            <a:ext cx="3824353" cy="238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ru-RU" altLang="en-US" sz="1200" dirty="0">
                <a:solidFill>
                  <a:schemeClr val="accent5"/>
                </a:solidFill>
                <a:latin typeface="+mn-lt" pitchFamily="34" charset="0"/>
                <a:ea typeface="+mn-lt" pitchFamily="34" charset="-122"/>
                <a:cs typeface="+mn-lt" pitchFamily="34" charset="-120"/>
              </a:rPr>
              <a:t>Фото товаров, распознавание сканов</a:t>
            </a:r>
            <a:endParaRPr lang="en-US" sz="1200" dirty="0"/>
          </a:p>
        </p:txBody>
      </p:sp>
      <p:sp>
        <p:nvSpPr>
          <p:cNvPr id="26" name="Text 24"/>
          <p:cNvSpPr txBox="1"/>
          <p:nvPr/>
        </p:nvSpPr>
        <p:spPr>
          <a:xfrm>
            <a:off x="7196336" y="4795242"/>
            <a:ext cx="4308350" cy="46216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820"/>
              </a:lnSpc>
              <a:buNone/>
            </a:pPr>
            <a:r>
              <a:rPr lang="ru-RU" altLang="en-US" sz="1300" dirty="0">
                <a:solidFill>
                  <a:schemeClr val="bg1"/>
                </a:solidFill>
                <a:latin typeface="+mn-lt" pitchFamily="34" charset="0"/>
                <a:ea typeface="+mn-lt" pitchFamily="34" charset="-122"/>
                <a:cs typeface="+mn-lt" pitchFamily="34" charset="-120"/>
              </a:rPr>
              <a:t>Эти направления оценим позже. Приоритет первого </a:t>
            </a:r>
            <a:br/>
            <a:pPr algn="l" indent="0" marL="0">
              <a:lnSpc>
                <a:spcPts val="1820"/>
              </a:lnSpc>
              <a:buNone/>
            </a:pPr>
            <a:r>
              <a:rPr lang="ru-RU" altLang="en-US" sz="1300" dirty="0">
                <a:solidFill>
                  <a:schemeClr val="bg1"/>
                </a:solidFill>
                <a:latin typeface="+mn-lt" pitchFamily="34" charset="0"/>
                <a:ea typeface="+mn-lt" pitchFamily="34" charset="-122"/>
                <a:cs typeface="+mn-lt" pitchFamily="34" charset="-120"/>
              </a:rPr>
              <a:t>пилота — B2B-аренда вычислительной мощности.</a:t>
            </a:r>
            <a:endParaRPr lang="en-US" sz="13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812800" y="768350"/>
            <a:ext cx="10820400" cy="4699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ru-RU" altLang="en-US" sz="2800" spc="-50" kern="0" dirty="0">
                <a:solidFill>
                  <a:schemeClr val="tx2"/>
                </a:solidFill>
              </a:rPr>
              <a:t>Рынок</a:t>
            </a:r>
            <a:endParaRPr lang="en-US" sz="2800" dirty="0"/>
          </a:p>
        </p:txBody>
      </p:sp>
      <p:sp>
        <p:nvSpPr>
          <p:cNvPr id="3" name="Text 1"/>
          <p:cNvSpPr txBox="1"/>
          <p:nvPr/>
        </p:nvSpPr>
        <p:spPr>
          <a:xfrm>
            <a:off x="812800" y="1928515"/>
            <a:ext cx="6248400" cy="10287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ru-RU" altLang="en-US" sz="6400" b="1" spc="-250" kern="0" dirty="0">
                <a:solidFill>
                  <a:schemeClr val="tx2"/>
                </a:solidFill>
                <a:latin typeface="Unbounded" pitchFamily="34" charset="0"/>
                <a:ea typeface="Unbounded" pitchFamily="34" charset="-122"/>
                <a:cs typeface="Unbounded" pitchFamily="34" charset="-120"/>
              </a:rPr>
              <a:t>8,2 млрд ₽</a:t>
            </a:r>
            <a:endParaRPr lang="en-US" sz="6400" dirty="0"/>
          </a:p>
        </p:txBody>
      </p:sp>
      <p:sp>
        <p:nvSpPr>
          <p:cNvPr id="4" name="Text 2"/>
          <p:cNvSpPr txBox="1"/>
          <p:nvPr/>
        </p:nvSpPr>
        <p:spPr>
          <a:xfrm>
            <a:off x="812800" y="2976265"/>
            <a:ext cx="6248400" cy="5175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025"/>
              </a:lnSpc>
              <a:buNone/>
            </a:pPr>
            <a:r>
              <a:rPr lang="ru-RU" altLang="en-US" sz="1500" dirty="0">
                <a:solidFill>
                  <a:srgbClr val="3B2A0E"/>
                </a:solidFill>
                <a:latin typeface="+mn-lt" pitchFamily="34" charset="0"/>
                <a:ea typeface="+mn-lt" pitchFamily="34" charset="-122"/>
                <a:cs typeface="+mn-lt" pitchFamily="34" charset="-120"/>
              </a:rPr>
              <a:t>потратили компании в России на облачные серверы </a:t>
            </a:r>
            <a:br/>
            <a:pPr algn="l" indent="0" marL="0">
              <a:lnSpc>
                <a:spcPts val="2025"/>
              </a:lnSpc>
              <a:buNone/>
            </a:pPr>
            <a:r>
              <a:rPr lang="ru-RU" altLang="en-US" sz="1500" dirty="0">
                <a:solidFill>
                  <a:srgbClr val="3B2A0E"/>
                </a:solidFill>
                <a:latin typeface="+mn-lt" pitchFamily="34" charset="0"/>
                <a:ea typeface="+mn-lt" pitchFamily="34" charset="-122"/>
                <a:cs typeface="+mn-lt" pitchFamily="34" charset="-120"/>
              </a:rPr>
              <a:t>с видеокартами в 2025 году</a:t>
            </a:r>
            <a:endParaRPr lang="en-US" sz="1500" dirty="0"/>
          </a:p>
        </p:txBody>
      </p:sp>
      <p:sp>
        <p:nvSpPr>
          <p:cNvPr id="5" name="Shape 3"/>
          <p:cNvSpPr/>
          <p:nvPr/>
        </p:nvSpPr>
        <p:spPr>
          <a:xfrm>
            <a:off x="812800" y="3725565"/>
            <a:ext cx="1290836" cy="0"/>
          </a:xfrm>
          <a:prstGeom prst="line">
            <a:avLst/>
          </a:prstGeom>
          <a:noFill/>
          <a:ln w="12700">
            <a:solidFill>
              <a:srgbClr val="3B2A0E"/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812800" y="3795415"/>
            <a:ext cx="1341636" cy="4699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ru-RU" altLang="en-US" sz="2800" spc="-50" kern="0" dirty="0">
                <a:solidFill>
                  <a:schemeClr val="tx2"/>
                </a:solidFill>
                <a:latin typeface="+mj-lt" pitchFamily="34" charset="0"/>
                <a:ea typeface="+mj-lt" pitchFamily="34" charset="-122"/>
                <a:cs typeface="+mj-lt" pitchFamily="34" charset="-120"/>
              </a:rPr>
              <a:t>+69%</a:t>
            </a:r>
            <a:endParaRPr lang="en-US" sz="2800" dirty="0"/>
          </a:p>
        </p:txBody>
      </p:sp>
      <p:sp>
        <p:nvSpPr>
          <p:cNvPr id="7" name="Text 5"/>
          <p:cNvSpPr txBox="1"/>
          <p:nvPr/>
        </p:nvSpPr>
        <p:spPr>
          <a:xfrm>
            <a:off x="812800" y="4256405"/>
            <a:ext cx="1341636" cy="2565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ru-RU" altLang="en-US" sz="1300" dirty="0">
                <a:solidFill>
                  <a:srgbClr val="3B2A0E"/>
                </a:solidFill>
                <a:latin typeface="+mn-lt" pitchFamily="34" charset="0"/>
                <a:ea typeface="+mn-lt" pitchFamily="34" charset="-122"/>
                <a:cs typeface="+mn-lt" pitchFamily="34" charset="-120"/>
              </a:rPr>
              <a:t>рост к 2024 году</a:t>
            </a:r>
            <a:endParaRPr lang="en-US" sz="1300" dirty="0"/>
          </a:p>
        </p:txBody>
      </p:sp>
      <p:sp>
        <p:nvSpPr>
          <p:cNvPr id="8" name="Shape 6"/>
          <p:cNvSpPr/>
          <p:nvPr/>
        </p:nvSpPr>
        <p:spPr>
          <a:xfrm>
            <a:off x="2408436" y="3725565"/>
            <a:ext cx="2928640" cy="0"/>
          </a:xfrm>
          <a:prstGeom prst="line">
            <a:avLst/>
          </a:prstGeom>
          <a:noFill/>
          <a:ln w="12700">
            <a:solidFill>
              <a:srgbClr val="3B2A0E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2408436" y="3795415"/>
            <a:ext cx="3016499" cy="4699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ru-RU" altLang="en-US" sz="2800" spc="-50" kern="0" dirty="0">
                <a:solidFill>
                  <a:schemeClr val="tx2"/>
                </a:solidFill>
                <a:latin typeface="+mj-lt" pitchFamily="34" charset="0"/>
                <a:ea typeface="+mj-lt" pitchFamily="34" charset="-122"/>
                <a:cs typeface="+mj-lt" pitchFamily="34" charset="-120"/>
              </a:rPr>
              <a:t>36,5 млрд ₽</a:t>
            </a:r>
            <a:endParaRPr lang="en-US" sz="2800" dirty="0"/>
          </a:p>
        </p:txBody>
      </p:sp>
      <p:sp>
        <p:nvSpPr>
          <p:cNvPr id="10" name="Text 8"/>
          <p:cNvSpPr txBox="1"/>
          <p:nvPr/>
        </p:nvSpPr>
        <p:spPr>
          <a:xfrm>
            <a:off x="2408436" y="4256405"/>
            <a:ext cx="3016499" cy="2565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ru-RU" altLang="en-US" sz="1300" dirty="0">
                <a:solidFill>
                  <a:srgbClr val="3B2A0E"/>
                </a:solidFill>
                <a:latin typeface="+mn-lt" pitchFamily="34" charset="0"/>
                <a:ea typeface="+mn-lt" pitchFamily="34" charset="-122"/>
                <a:cs typeface="+mn-lt" pitchFamily="34" charset="-120"/>
              </a:rPr>
              <a:t>прогноз исследователей на 2030 год</a:t>
            </a:r>
            <a:endParaRPr lang="en-US" sz="1300" dirty="0"/>
          </a:p>
        </p:txBody>
      </p:sp>
      <p:sp>
        <p:nvSpPr>
          <p:cNvPr id="11" name="Shape 9"/>
          <p:cNvSpPr/>
          <p:nvPr/>
        </p:nvSpPr>
        <p:spPr>
          <a:xfrm>
            <a:off x="7324725" y="1650504"/>
            <a:ext cx="4044950" cy="3236913"/>
          </a:xfrm>
          <a:prstGeom prst="roundRect">
            <a:avLst>
              <a:gd name="adj" fmla="val 5493"/>
            </a:avLst>
          </a:prstGeom>
          <a:solidFill>
            <a:srgbClr val="FFF4DE">
              <a:alpha val="42000"/>
            </a:srgbClr>
          </a:solidFill>
          <a:ln w="19050">
            <a:solidFill>
              <a:srgbClr val="3B2A0E"/>
            </a:solidFill>
            <a:prstDash val="solid"/>
          </a:ln>
        </p:spPr>
      </p:sp>
      <p:sp>
        <p:nvSpPr>
          <p:cNvPr id="12" name="Text 10"/>
          <p:cNvSpPr txBox="1"/>
          <p:nvPr/>
        </p:nvSpPr>
        <p:spPr>
          <a:xfrm>
            <a:off x="7512050" y="1812429"/>
            <a:ext cx="3780409" cy="2667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ru-RU" altLang="en-US" sz="1400" b="1" dirty="0">
                <a:solidFill>
                  <a:schemeClr val="tx2"/>
                </a:solidFill>
                <a:latin typeface="+mn-lt" pitchFamily="34" charset="0"/>
                <a:ea typeface="+mn-lt" pitchFamily="34" charset="-122"/>
                <a:cs typeface="+mn-lt" pitchFamily="34" charset="-120"/>
              </a:rPr>
              <a:t>Весь рынок облачных GPU</a:t>
            </a:r>
            <a:endParaRPr lang="en-US" sz="1400" dirty="0"/>
          </a:p>
        </p:txBody>
      </p:sp>
      <p:sp>
        <p:nvSpPr>
          <p:cNvPr id="13" name="Text 11"/>
          <p:cNvSpPr txBox="1"/>
          <p:nvPr/>
        </p:nvSpPr>
        <p:spPr>
          <a:xfrm>
            <a:off x="7512050" y="2147074"/>
            <a:ext cx="3780409" cy="238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ru-RU" altLang="en-US" sz="1200" dirty="0">
                <a:solidFill>
                  <a:srgbClr val="3B2A0E"/>
                </a:solidFill>
                <a:latin typeface="+mn-lt" pitchFamily="34" charset="0"/>
                <a:ea typeface="+mn-lt" pitchFamily="34" charset="-122"/>
                <a:cs typeface="+mn-lt" pitchFamily="34" charset="-120"/>
              </a:rPr>
              <a:t>8,2 млрд ₽, включая серверные ускорители</a:t>
            </a:r>
            <a:endParaRPr lang="en-US" sz="1200" dirty="0"/>
          </a:p>
        </p:txBody>
      </p:sp>
      <p:sp>
        <p:nvSpPr>
          <p:cNvPr id="14" name="Shape 12"/>
          <p:cNvSpPr/>
          <p:nvPr/>
        </p:nvSpPr>
        <p:spPr>
          <a:xfrm>
            <a:off x="7512050" y="2476599"/>
            <a:ext cx="3670300" cy="2223492"/>
          </a:xfrm>
          <a:prstGeom prst="roundRect">
            <a:avLst>
              <a:gd name="adj" fmla="val 6283"/>
            </a:avLst>
          </a:prstGeom>
          <a:solidFill>
            <a:srgbClr val="3B2A0E">
              <a:alpha val="12000"/>
            </a:srgbClr>
          </a:solidFill>
          <a:ln/>
        </p:spPr>
      </p:sp>
      <p:sp>
        <p:nvSpPr>
          <p:cNvPr id="15" name="Text 13"/>
          <p:cNvSpPr txBox="1"/>
          <p:nvPr/>
        </p:nvSpPr>
        <p:spPr>
          <a:xfrm>
            <a:off x="7664450" y="2628999"/>
            <a:ext cx="3466465" cy="44321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90"/>
              </a:lnSpc>
              <a:buNone/>
            </a:pPr>
            <a:r>
              <a:rPr lang="ru-RU" altLang="en-US" sz="1300" b="1" dirty="0">
                <a:solidFill>
                  <a:schemeClr val="tx2"/>
                </a:solidFill>
                <a:latin typeface="+mn-lt" pitchFamily="34" charset="0"/>
                <a:ea typeface="+mn-lt" pitchFamily="34" charset="-122"/>
                <a:cs typeface="+mn-lt" pitchFamily="34" charset="-120"/>
              </a:rPr>
              <a:t>Потребительские видеокарты уровня </a:t>
            </a:r>
            <a:br/>
            <a:pPr algn="l" indent="0" marL="0">
              <a:lnSpc>
                <a:spcPts val="1690"/>
              </a:lnSpc>
              <a:buNone/>
            </a:pPr>
            <a:r>
              <a:rPr lang="ru-RU" altLang="en-US" sz="1300" b="1" dirty="0">
                <a:solidFill>
                  <a:schemeClr val="tx2"/>
                </a:solidFill>
                <a:latin typeface="+mn-lt" pitchFamily="34" charset="0"/>
                <a:ea typeface="+mn-lt" pitchFamily="34" charset="-122"/>
                <a:cs typeface="+mn-lt" pitchFamily="34" charset="-120"/>
              </a:rPr>
              <a:t>RTX 3090 и 4090</a:t>
            </a:r>
            <a:endParaRPr lang="en-US" sz="1300" dirty="0"/>
          </a:p>
        </p:txBody>
      </p:sp>
      <p:sp>
        <p:nvSpPr>
          <p:cNvPr id="16" name="Shape 14"/>
          <p:cNvSpPr/>
          <p:nvPr/>
        </p:nvSpPr>
        <p:spPr>
          <a:xfrm>
            <a:off x="7664450" y="3147120"/>
            <a:ext cx="3365500" cy="1400572"/>
          </a:xfrm>
          <a:prstGeom prst="roundRect">
            <a:avLst>
              <a:gd name="adj" fmla="val 8161"/>
            </a:avLst>
          </a:prstGeom>
          <a:solidFill>
            <a:schemeClr val="tx1"/>
          </a:solidFill>
          <a:ln/>
        </p:spPr>
      </p:sp>
      <p:sp>
        <p:nvSpPr>
          <p:cNvPr id="17" name="Text 15"/>
          <p:cNvSpPr txBox="1"/>
          <p:nvPr/>
        </p:nvSpPr>
        <p:spPr>
          <a:xfrm>
            <a:off x="7816850" y="3274120"/>
            <a:ext cx="3152521" cy="2667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ru-RU" altLang="en-US" sz="1400" b="1" dirty="0">
                <a:solidFill>
                  <a:schemeClr val="accent1"/>
                </a:solidFill>
                <a:latin typeface="+mn-lt" pitchFamily="34" charset="0"/>
                <a:ea typeface="+mn-lt" pitchFamily="34" charset="-122"/>
                <a:cs typeface="+mn-lt" pitchFamily="34" charset="-120"/>
              </a:rPr>
              <a:t>Потенциальный сегмент Улья</a:t>
            </a:r>
            <a:endParaRPr lang="en-US" sz="1400" dirty="0"/>
          </a:p>
        </p:txBody>
      </p:sp>
      <p:sp>
        <p:nvSpPr>
          <p:cNvPr id="18" name="Text 16"/>
          <p:cNvSpPr txBox="1"/>
          <p:nvPr/>
        </p:nvSpPr>
        <p:spPr>
          <a:xfrm>
            <a:off x="7816850" y="3572570"/>
            <a:ext cx="3152521" cy="82659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20"/>
              </a:lnSpc>
              <a:buNone/>
            </a:pPr>
            <a:r>
              <a:rPr lang="ru-RU" altLang="en-US" sz="1200" dirty="0">
                <a:solidFill>
                  <a:schemeClr val="bg1"/>
                </a:solidFill>
                <a:latin typeface="+mn-lt" pitchFamily="34" charset="0"/>
                <a:ea typeface="+mn-lt" pitchFamily="34" charset="-122"/>
                <a:cs typeface="+mn-lt" pitchFamily="34" charset="-120"/>
              </a:rPr>
              <a:t>Небольшие технологические команды, </a:t>
            </a:r>
            <a:br/>
            <a:pPr algn="l" indent="0" marL="0">
              <a:lnSpc>
                <a:spcPts val="1620"/>
              </a:lnSpc>
              <a:buNone/>
            </a:pPr>
            <a:r>
              <a:rPr lang="ru-RU" altLang="en-US" sz="1200" dirty="0">
                <a:solidFill>
                  <a:schemeClr val="bg1"/>
                </a:solidFill>
                <a:latin typeface="+mn-lt" pitchFamily="34" charset="0"/>
                <a:ea typeface="+mn-lt" pitchFamily="34" charset="-122"/>
                <a:cs typeface="+mn-lt" pitchFamily="34" charset="-120"/>
              </a:rPr>
              <a:t>которым нужны GPU-мощности </a:t>
            </a:r>
            <a:br/>
            <a:pPr algn="l" indent="0" marL="0">
              <a:lnSpc>
                <a:spcPts val="1620"/>
              </a:lnSpc>
              <a:buNone/>
            </a:pPr>
            <a:r>
              <a:rPr lang="ru-RU" altLang="en-US" sz="1200" dirty="0">
                <a:solidFill>
                  <a:schemeClr val="bg1"/>
                </a:solidFill>
                <a:latin typeface="+mn-lt" pitchFamily="34" charset="0"/>
                <a:ea typeface="+mn-lt" pitchFamily="34" charset="-122"/>
                <a:cs typeface="+mn-lt" pitchFamily="34" charset="-120"/>
              </a:rPr>
              <a:t>для несрочных задач и понятное </a:t>
            </a:r>
            <a:br/>
            <a:pPr algn="l" indent="0" marL="0">
              <a:lnSpc>
                <a:spcPts val="1620"/>
              </a:lnSpc>
              <a:buNone/>
            </a:pPr>
            <a:r>
              <a:rPr lang="ru-RU" altLang="en-US" sz="1200" dirty="0">
                <a:solidFill>
                  <a:schemeClr val="bg1"/>
                </a:solidFill>
                <a:latin typeface="+mn-lt" pitchFamily="34" charset="0"/>
                <a:ea typeface="+mn-lt" pitchFamily="34" charset="-122"/>
                <a:cs typeface="+mn-lt" pitchFamily="34" charset="-120"/>
              </a:rPr>
              <a:t>сопровождение аренды</a:t>
            </a:r>
            <a:endParaRPr lang="en-US" sz="1200" dirty="0"/>
          </a:p>
        </p:txBody>
      </p:sp>
      <p:sp>
        <p:nvSpPr>
          <p:cNvPr id="19" name="Text 17"/>
          <p:cNvSpPr txBox="1"/>
          <p:nvPr/>
        </p:nvSpPr>
        <p:spPr>
          <a:xfrm>
            <a:off x="812800" y="5334000"/>
            <a:ext cx="10718800" cy="508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000"/>
              </a:lnSpc>
              <a:buNone/>
            </a:pPr>
            <a:r>
              <a:rPr lang="ru-RU" altLang="en-US" sz="1600" dirty="0">
                <a:solidFill>
                  <a:schemeClr val="tx2"/>
                </a:solidFill>
                <a:latin typeface="+mj-lt" pitchFamily="34" charset="0"/>
                <a:ea typeface="+mj-lt" pitchFamily="34" charset="-122"/>
                <a:cs typeface="+mj-lt" pitchFamily="34" charset="-120"/>
              </a:rPr>
              <a:t>Размер доступного сегмента определим по результатам анализа предложений </a:t>
            </a:r>
            <a:br/>
            <a:pPr algn="l" indent="0" marL="0">
              <a:lnSpc>
                <a:spcPts val="2000"/>
              </a:lnSpc>
              <a:buNone/>
            </a:pPr>
            <a:r>
              <a:rPr lang="ru-RU" altLang="en-US" sz="1600" dirty="0">
                <a:solidFill>
                  <a:schemeClr val="tx2"/>
                </a:solidFill>
                <a:latin typeface="+mj-lt" pitchFamily="34" charset="0"/>
                <a:ea typeface="+mj-lt" pitchFamily="34" charset="-122"/>
                <a:cs typeface="+mj-lt" pitchFamily="34" charset="-120"/>
              </a:rPr>
              <a:t>конкурентов и интервью с потенциальными клиентами.</a:t>
            </a:r>
            <a:endParaRPr lang="en-US" sz="1600" dirty="0"/>
          </a:p>
        </p:txBody>
      </p:sp>
      <p:sp>
        <p:nvSpPr>
          <p:cNvPr id="20" name="Text 18"/>
          <p:cNvSpPr txBox="1"/>
          <p:nvPr/>
        </p:nvSpPr>
        <p:spPr>
          <a:xfrm>
            <a:off x="812800" y="6234509"/>
            <a:ext cx="10718800" cy="2349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ru-RU" altLang="en-US" sz="1200" dirty="0">
                <a:solidFill>
                  <a:srgbClr val="3B2A0E"/>
                </a:solidFill>
                <a:latin typeface="+mn-lt" pitchFamily="34" charset="0"/>
                <a:ea typeface="+mn-lt" pitchFamily="34" charset="-122"/>
                <a:cs typeface="+mn-lt" pitchFamily="34" charset="-120"/>
              </a:rPr>
              <a:t>Apple Hills Digital и Selectel, исследование «Облачные сервисы для ИИ», октябрь 2026; прогноз на 2030 год — по публикации RB.ru</a:t>
            </a:r>
            <a:endParaRPr lang="en-US" sz="12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812800" y="768350"/>
            <a:ext cx="10820400" cy="4699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ru-RU" altLang="en-US" sz="2800" spc="-50" kern="0" dirty="0">
                <a:solidFill>
                  <a:schemeClr val="bg1"/>
                </a:solidFill>
              </a:rPr>
              <a:t>Конкуренты</a:t>
            </a:r>
            <a:endParaRPr lang="en-US" sz="2800" dirty="0"/>
          </a:p>
        </p:txBody>
      </p:sp>
      <p:sp>
        <p:nvSpPr>
          <p:cNvPr id="3" name="Shape 1"/>
          <p:cNvSpPr/>
          <p:nvPr/>
        </p:nvSpPr>
        <p:spPr>
          <a:xfrm>
            <a:off x="812800" y="2150170"/>
            <a:ext cx="1447800" cy="0"/>
          </a:xfrm>
          <a:prstGeom prst="line">
            <a:avLst/>
          </a:prstGeom>
          <a:noFill/>
          <a:ln w="12700">
            <a:solidFill>
              <a:schemeClr val="accent4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2260600" y="2150170"/>
            <a:ext cx="2279650" cy="0"/>
          </a:xfrm>
          <a:prstGeom prst="line">
            <a:avLst/>
          </a:prstGeom>
          <a:noFill/>
          <a:ln w="12700">
            <a:solidFill>
              <a:schemeClr val="accent4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2349500" y="1475879"/>
            <a:ext cx="2164906" cy="365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380"/>
              </a:lnSpc>
              <a:buNone/>
            </a:pPr>
            <a:r>
              <a:rPr lang="ru-RU" altLang="en-US" sz="1200" dirty="0">
                <a:solidFill>
                  <a:schemeClr val="bg1"/>
                </a:solidFill>
                <a:latin typeface="+mj-lt" pitchFamily="34" charset="0"/>
                <a:ea typeface="+mj-lt" pitchFamily="34" charset="-122"/>
                <a:cs typeface="+mj-lt" pitchFamily="34" charset="-120"/>
              </a:rPr>
              <a:t>Российские </a:t>
            </a:r>
            <a:br/>
            <a:pPr algn="l" indent="0" marL="0">
              <a:lnSpc>
                <a:spcPts val="1380"/>
              </a:lnSpc>
              <a:buNone/>
            </a:pPr>
            <a:r>
              <a:rPr lang="ru-RU" altLang="en-US" sz="1200" dirty="0">
                <a:solidFill>
                  <a:schemeClr val="bg1"/>
                </a:solidFill>
                <a:latin typeface="+mj-lt" pitchFamily="34" charset="0"/>
                <a:ea typeface="+mj-lt" pitchFamily="34" charset="-122"/>
                <a:cs typeface="+mj-lt" pitchFamily="34" charset="-120"/>
              </a:rPr>
              <a:t>GPU-облака</a:t>
            </a:r>
            <a:endParaRPr lang="en-US" sz="1200" dirty="0"/>
          </a:p>
        </p:txBody>
      </p:sp>
      <p:sp>
        <p:nvSpPr>
          <p:cNvPr id="6" name="Text 4"/>
          <p:cNvSpPr txBox="1"/>
          <p:nvPr/>
        </p:nvSpPr>
        <p:spPr>
          <a:xfrm>
            <a:off x="2349500" y="1839020"/>
            <a:ext cx="2164906" cy="2349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ru-RU" altLang="en-US" sz="1200" dirty="0">
                <a:solidFill>
                  <a:schemeClr val="accent5"/>
                </a:solidFill>
                <a:latin typeface="+mn-lt" pitchFamily="34" charset="0"/>
                <a:ea typeface="+mn-lt" pitchFamily="34" charset="-122"/>
                <a:cs typeface="+mn-lt" pitchFamily="34" charset="-120"/>
              </a:rPr>
              <a:t>Immers.cloud и другие</a:t>
            </a:r>
            <a:endParaRPr lang="en-US" sz="1200" dirty="0"/>
          </a:p>
        </p:txBody>
      </p:sp>
      <p:sp>
        <p:nvSpPr>
          <p:cNvPr id="7" name="Shape 5"/>
          <p:cNvSpPr/>
          <p:nvPr/>
        </p:nvSpPr>
        <p:spPr>
          <a:xfrm>
            <a:off x="4540250" y="2150170"/>
            <a:ext cx="2279650" cy="0"/>
          </a:xfrm>
          <a:prstGeom prst="line">
            <a:avLst/>
          </a:prstGeom>
          <a:noFill/>
          <a:ln w="12700">
            <a:solidFill>
              <a:schemeClr val="accent4"/>
            </a:solidFill>
            <a:prstDash val="solid"/>
          </a:ln>
        </p:spPr>
      </p:sp>
      <p:sp>
        <p:nvSpPr>
          <p:cNvPr id="8" name="Text 6"/>
          <p:cNvSpPr txBox="1"/>
          <p:nvPr/>
        </p:nvSpPr>
        <p:spPr>
          <a:xfrm>
            <a:off x="4629150" y="1475879"/>
            <a:ext cx="2164906" cy="365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380"/>
              </a:lnSpc>
              <a:buNone/>
            </a:pPr>
            <a:r>
              <a:rPr lang="ru-RU" altLang="en-US" sz="1200" dirty="0">
                <a:solidFill>
                  <a:schemeClr val="bg1"/>
                </a:solidFill>
                <a:latin typeface="+mj-lt" pitchFamily="34" charset="0"/>
                <a:ea typeface="+mj-lt" pitchFamily="34" charset="-122"/>
                <a:cs typeface="+mj-lt" pitchFamily="34" charset="-120"/>
              </a:rPr>
              <a:t>Распределённые </a:t>
            </a:r>
            <a:br/>
            <a:pPr algn="l" indent="0" marL="0">
              <a:lnSpc>
                <a:spcPts val="1380"/>
              </a:lnSpc>
              <a:buNone/>
            </a:pPr>
            <a:r>
              <a:rPr lang="ru-RU" altLang="en-US" sz="1200" dirty="0">
                <a:solidFill>
                  <a:schemeClr val="bg1"/>
                </a:solidFill>
                <a:latin typeface="+mj-lt" pitchFamily="34" charset="0"/>
                <a:ea typeface="+mj-lt" pitchFamily="34" charset="-122"/>
                <a:cs typeface="+mj-lt" pitchFamily="34" charset="-120"/>
              </a:rPr>
              <a:t>площадки в России</a:t>
            </a:r>
            <a:endParaRPr lang="en-US" sz="1200" dirty="0"/>
          </a:p>
        </p:txBody>
      </p:sp>
      <p:sp>
        <p:nvSpPr>
          <p:cNvPr id="9" name="Text 7"/>
          <p:cNvSpPr txBox="1"/>
          <p:nvPr/>
        </p:nvSpPr>
        <p:spPr>
          <a:xfrm>
            <a:off x="4629150" y="1839020"/>
            <a:ext cx="2164906" cy="2349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ru-RU" altLang="en-US" sz="1200" dirty="0">
                <a:solidFill>
                  <a:schemeClr val="accent5"/>
                </a:solidFill>
                <a:latin typeface="+mn-lt" pitchFamily="34" charset="0"/>
                <a:ea typeface="+mn-lt" pitchFamily="34" charset="-122"/>
                <a:cs typeface="+mn-lt" pitchFamily="34" charset="-120"/>
              </a:rPr>
              <a:t>Тераферма</a:t>
            </a:r>
            <a:endParaRPr lang="en-US" sz="1200" dirty="0"/>
          </a:p>
        </p:txBody>
      </p:sp>
      <p:sp>
        <p:nvSpPr>
          <p:cNvPr id="10" name="Shape 8"/>
          <p:cNvSpPr/>
          <p:nvPr/>
        </p:nvSpPr>
        <p:spPr>
          <a:xfrm>
            <a:off x="6819900" y="2150170"/>
            <a:ext cx="2279650" cy="0"/>
          </a:xfrm>
          <a:prstGeom prst="line">
            <a:avLst/>
          </a:prstGeom>
          <a:noFill/>
          <a:ln w="12700">
            <a:solidFill>
              <a:schemeClr val="accent4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6908800" y="1475879"/>
            <a:ext cx="2164906" cy="365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380"/>
              </a:lnSpc>
              <a:buNone/>
            </a:pPr>
            <a:r>
              <a:rPr lang="ru-RU" altLang="en-US" sz="1200" dirty="0">
                <a:solidFill>
                  <a:schemeClr val="bg1"/>
                </a:solidFill>
                <a:latin typeface="+mj-lt" pitchFamily="34" charset="0"/>
                <a:ea typeface="+mj-lt" pitchFamily="34" charset="-122"/>
                <a:cs typeface="+mj-lt" pitchFamily="34" charset="-120"/>
              </a:rPr>
              <a:t>Зарубежные </a:t>
            </a:r>
            <a:br/>
            <a:pPr algn="l" indent="0" marL="0">
              <a:lnSpc>
                <a:spcPts val="1380"/>
              </a:lnSpc>
              <a:buNone/>
            </a:pPr>
            <a:r>
              <a:rPr lang="ru-RU" altLang="en-US" sz="1200" dirty="0">
                <a:solidFill>
                  <a:schemeClr val="bg1"/>
                </a:solidFill>
                <a:latin typeface="+mj-lt" pitchFamily="34" charset="0"/>
                <a:ea typeface="+mj-lt" pitchFamily="34" charset="-122"/>
                <a:cs typeface="+mj-lt" pitchFamily="34" charset="-120"/>
              </a:rPr>
              <a:t>GPU-площадки</a:t>
            </a:r>
            <a:endParaRPr lang="en-US" sz="1200" dirty="0"/>
          </a:p>
        </p:txBody>
      </p:sp>
      <p:sp>
        <p:nvSpPr>
          <p:cNvPr id="12" name="Text 10"/>
          <p:cNvSpPr txBox="1"/>
          <p:nvPr/>
        </p:nvSpPr>
        <p:spPr>
          <a:xfrm>
            <a:off x="6908800" y="1839020"/>
            <a:ext cx="2164906" cy="2349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ru-RU" altLang="en-US" sz="1200" dirty="0">
                <a:solidFill>
                  <a:schemeClr val="accent5"/>
                </a:solidFill>
                <a:latin typeface="+mn-lt" pitchFamily="34" charset="0"/>
                <a:ea typeface="+mn-lt" pitchFamily="34" charset="-122"/>
                <a:cs typeface="+mn-lt" pitchFamily="34" charset="-120"/>
              </a:rPr>
              <a:t>Vast.ai, RunPod, SaladCloud</a:t>
            </a:r>
            <a:endParaRPr lang="en-US" sz="1200" dirty="0"/>
          </a:p>
        </p:txBody>
      </p:sp>
      <p:sp>
        <p:nvSpPr>
          <p:cNvPr id="13" name="Shape 11"/>
          <p:cNvSpPr/>
          <p:nvPr/>
        </p:nvSpPr>
        <p:spPr>
          <a:xfrm>
            <a:off x="9099550" y="1369120"/>
            <a:ext cx="2279650" cy="787400"/>
          </a:xfrm>
          <a:prstGeom prst="round2SameRect">
            <a:avLst/>
          </a:prstGeom>
          <a:solidFill>
            <a:schemeClr val="accent3"/>
          </a:solidFill>
          <a:ln/>
        </p:spPr>
      </p:sp>
      <p:sp>
        <p:nvSpPr>
          <p:cNvPr id="14" name="Shape 12"/>
          <p:cNvSpPr/>
          <p:nvPr/>
        </p:nvSpPr>
        <p:spPr>
          <a:xfrm>
            <a:off x="9099550" y="2150170"/>
            <a:ext cx="2279650" cy="0"/>
          </a:xfrm>
          <a:prstGeom prst="line">
            <a:avLst/>
          </a:prstGeom>
          <a:noFill/>
          <a:ln w="12700">
            <a:solidFill>
              <a:schemeClr val="accent4"/>
            </a:solidFill>
            <a:prstDash val="solid"/>
          </a:ln>
        </p:spPr>
      </p:sp>
      <p:sp>
        <p:nvSpPr>
          <p:cNvPr id="15" name="Text 13"/>
          <p:cNvSpPr txBox="1"/>
          <p:nvPr/>
        </p:nvSpPr>
        <p:spPr>
          <a:xfrm>
            <a:off x="9188450" y="1625699"/>
            <a:ext cx="526058" cy="2159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ru-RU" altLang="en-US" sz="1200" dirty="0">
                <a:solidFill>
                  <a:schemeClr val="accent1"/>
                </a:solidFill>
                <a:latin typeface="+mj-lt" pitchFamily="34" charset="0"/>
                <a:ea typeface="+mj-lt" pitchFamily="34" charset="-122"/>
                <a:cs typeface="+mj-lt" pitchFamily="34" charset="-120"/>
              </a:rPr>
              <a:t>Улей</a:t>
            </a:r>
            <a:endParaRPr lang="en-US" sz="1200" dirty="0"/>
          </a:p>
        </p:txBody>
      </p:sp>
      <p:sp>
        <p:nvSpPr>
          <p:cNvPr id="16" name="Text 14"/>
          <p:cNvSpPr txBox="1"/>
          <p:nvPr/>
        </p:nvSpPr>
        <p:spPr>
          <a:xfrm>
            <a:off x="9188450" y="1839020"/>
            <a:ext cx="2164906" cy="2349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ru-RU" altLang="en-US" sz="1200" dirty="0">
                <a:solidFill>
                  <a:schemeClr val="accent5"/>
                </a:solidFill>
                <a:latin typeface="+mn-lt" pitchFamily="34" charset="0"/>
                <a:ea typeface="+mn-lt" pitchFamily="34" charset="-122"/>
                <a:cs typeface="+mn-lt" pitchFamily="34" charset="-120"/>
              </a:rPr>
              <a:t>для небольших ML-команд</a:t>
            </a:r>
            <a:endParaRPr lang="en-US" sz="1200" dirty="0"/>
          </a:p>
        </p:txBody>
      </p:sp>
      <p:sp>
        <p:nvSpPr>
          <p:cNvPr id="17" name="Text 15"/>
          <p:cNvSpPr txBox="1"/>
          <p:nvPr/>
        </p:nvSpPr>
        <p:spPr>
          <a:xfrm>
            <a:off x="812800" y="2226370"/>
            <a:ext cx="1409700" cy="4000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500"/>
              </a:lnSpc>
              <a:buNone/>
            </a:pPr>
            <a:r>
              <a:rPr lang="ru-RU" altLang="en-US" sz="1200" b="1" dirty="0">
                <a:solidFill>
                  <a:schemeClr val="accent5"/>
                </a:solidFill>
                <a:latin typeface="+mn-lt" pitchFamily="34" charset="0"/>
                <a:ea typeface="+mn-lt" pitchFamily="34" charset="-122"/>
                <a:cs typeface="+mn-lt" pitchFamily="34" charset="-120"/>
              </a:rPr>
              <a:t>Цена RTX 3090 </a:t>
            </a:r>
            <a:br/>
            <a:pPr algn="l" indent="0" marL="0">
              <a:lnSpc>
                <a:spcPts val="1500"/>
              </a:lnSpc>
              <a:buNone/>
            </a:pPr>
            <a:r>
              <a:rPr lang="ru-RU" altLang="en-US" sz="1200" b="1" dirty="0">
                <a:solidFill>
                  <a:schemeClr val="accent5"/>
                </a:solidFill>
                <a:latin typeface="+mn-lt" pitchFamily="34" charset="0"/>
                <a:ea typeface="+mn-lt" pitchFamily="34" charset="-122"/>
                <a:cs typeface="+mn-lt" pitchFamily="34" charset="-120"/>
              </a:rPr>
              <a:t>за час</a:t>
            </a:r>
            <a:endParaRPr lang="en-US" sz="1200" dirty="0"/>
          </a:p>
        </p:txBody>
      </p:sp>
      <p:sp>
        <p:nvSpPr>
          <p:cNvPr id="18" name="Text 16"/>
          <p:cNvSpPr txBox="1"/>
          <p:nvPr/>
        </p:nvSpPr>
        <p:spPr>
          <a:xfrm>
            <a:off x="2349500" y="2226370"/>
            <a:ext cx="2164906" cy="4000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500"/>
              </a:lnSpc>
              <a:buNone/>
            </a:pPr>
            <a:r>
              <a:rPr lang="ru-RU" altLang="en-US" sz="1200" dirty="0">
                <a:solidFill>
                  <a:schemeClr val="bg1"/>
                </a:solidFill>
                <a:latin typeface="+mn-lt" pitchFamily="34" charset="0"/>
                <a:ea typeface="+mn-lt" pitchFamily="34" charset="-122"/>
                <a:cs typeface="+mn-lt" pitchFamily="34" charset="-120"/>
              </a:rPr>
              <a:t>63–71 ₽ у Immers.cloud, </a:t>
            </a:r>
            <a:br/>
            <a:pPr algn="l" indent="0" marL="0">
              <a:lnSpc>
                <a:spcPts val="1500"/>
              </a:lnSpc>
              <a:buNone/>
            </a:pPr>
            <a:r>
              <a:rPr lang="ru-RU" altLang="en-US" sz="1200" dirty="0">
                <a:solidFill>
                  <a:schemeClr val="bg1"/>
                </a:solidFill>
                <a:latin typeface="+mn-lt" pitchFamily="34" charset="0"/>
                <a:ea typeface="+mn-lt" pitchFamily="34" charset="-122"/>
                <a:cs typeface="+mn-lt" pitchFamily="34" charset="-120"/>
              </a:rPr>
              <a:t>у других бывает дешевле</a:t>
            </a:r>
            <a:endParaRPr lang="en-US" sz="1200" dirty="0"/>
          </a:p>
        </p:txBody>
      </p:sp>
      <p:sp>
        <p:nvSpPr>
          <p:cNvPr id="19" name="Text 17"/>
          <p:cNvSpPr txBox="1"/>
          <p:nvPr/>
        </p:nvSpPr>
        <p:spPr>
          <a:xfrm>
            <a:off x="4629150" y="2226370"/>
            <a:ext cx="2164906" cy="4000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500"/>
              </a:lnSpc>
              <a:buNone/>
            </a:pPr>
            <a:r>
              <a:rPr lang="ru-RU" altLang="en-US" sz="1200" dirty="0">
                <a:solidFill>
                  <a:schemeClr val="bg1"/>
                </a:solidFill>
                <a:latin typeface="+mn-lt" pitchFamily="34" charset="0"/>
                <a:ea typeface="+mn-lt" pitchFamily="34" charset="-122"/>
                <a:cs typeface="+mn-lt" pitchFamily="34" charset="-120"/>
              </a:rPr>
              <a:t>≈22–31 ₽ в опубликованных </a:t>
            </a:r>
            <a:br/>
            <a:pPr algn="l" indent="0" marL="0">
              <a:lnSpc>
                <a:spcPts val="1500"/>
              </a:lnSpc>
              <a:buNone/>
            </a:pPr>
            <a:r>
              <a:rPr lang="ru-RU" altLang="en-US" sz="1200" dirty="0">
                <a:solidFill>
                  <a:schemeClr val="bg1"/>
                </a:solidFill>
                <a:latin typeface="+mn-lt" pitchFamily="34" charset="0"/>
                <a:ea typeface="+mn-lt" pitchFamily="34" charset="-122"/>
                <a:cs typeface="+mn-lt" pitchFamily="34" charset="-120"/>
              </a:rPr>
              <a:t>предложениях</a:t>
            </a:r>
            <a:endParaRPr lang="en-US" sz="1200" dirty="0"/>
          </a:p>
        </p:txBody>
      </p:sp>
      <p:sp>
        <p:nvSpPr>
          <p:cNvPr id="20" name="Text 18"/>
          <p:cNvSpPr txBox="1"/>
          <p:nvPr/>
        </p:nvSpPr>
        <p:spPr>
          <a:xfrm>
            <a:off x="6908800" y="2226370"/>
            <a:ext cx="2164906" cy="4000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500"/>
              </a:lnSpc>
              <a:buNone/>
            </a:pPr>
            <a:r>
              <a:rPr lang="ru-RU" altLang="en-US" sz="1200" dirty="0">
                <a:solidFill>
                  <a:schemeClr val="bg1"/>
                </a:solidFill>
                <a:latin typeface="+mn-lt" pitchFamily="34" charset="0"/>
                <a:ea typeface="+mn-lt" pitchFamily="34" charset="-122"/>
                <a:cs typeface="+mn-lt" pitchFamily="34" charset="-120"/>
              </a:rPr>
              <a:t>RunPod $0,22–0,50, Salad </a:t>
            </a:r>
            <a:br/>
            <a:pPr algn="l" indent="0" marL="0">
              <a:lnSpc>
                <a:spcPts val="1500"/>
              </a:lnSpc>
              <a:buNone/>
            </a:pPr>
            <a:r>
              <a:rPr lang="ru-RU" altLang="en-US" sz="1200" dirty="0">
                <a:solidFill>
                  <a:schemeClr val="bg1"/>
                </a:solidFill>
                <a:latin typeface="+mn-lt" pitchFamily="34" charset="0"/>
                <a:ea typeface="+mn-lt" pitchFamily="34" charset="-122"/>
                <a:cs typeface="+mn-lt" pitchFamily="34" charset="-120"/>
              </a:rPr>
              <a:t>$0,09–0,17, Vast.ai — по хосту</a:t>
            </a:r>
            <a:endParaRPr lang="en-US" sz="1200" dirty="0"/>
          </a:p>
        </p:txBody>
      </p:sp>
      <p:sp>
        <p:nvSpPr>
          <p:cNvPr id="21" name="Shape 19"/>
          <p:cNvSpPr/>
          <p:nvPr/>
        </p:nvSpPr>
        <p:spPr>
          <a:xfrm>
            <a:off x="9099550" y="2156520"/>
            <a:ext cx="2279650" cy="520700"/>
          </a:xfrm>
          <a:prstGeom prst="rect">
            <a:avLst/>
          </a:prstGeom>
          <a:solidFill>
            <a:schemeClr val="accent3"/>
          </a:solidFill>
          <a:ln/>
        </p:spPr>
      </p:sp>
      <p:sp>
        <p:nvSpPr>
          <p:cNvPr id="22" name="Text 20"/>
          <p:cNvSpPr txBox="1"/>
          <p:nvPr/>
        </p:nvSpPr>
        <p:spPr>
          <a:xfrm>
            <a:off x="9188450" y="2200970"/>
            <a:ext cx="2164906" cy="2349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ru-RU" altLang="en-US" sz="1200" b="1" dirty="0">
                <a:solidFill>
                  <a:schemeClr val="accent1"/>
                </a:solidFill>
                <a:latin typeface="+mn-lt" pitchFamily="34" charset="0"/>
                <a:ea typeface="+mn-lt" pitchFamily="34" charset="-122"/>
                <a:cs typeface="+mn-lt" pitchFamily="34" charset="-120"/>
              </a:rPr>
              <a:t>Цель — около 35 ₽</a:t>
            </a:r>
            <a:endParaRPr lang="en-US" sz="1200" dirty="0"/>
          </a:p>
        </p:txBody>
      </p:sp>
      <p:sp>
        <p:nvSpPr>
          <p:cNvPr id="23" name="Shape 21"/>
          <p:cNvSpPr/>
          <p:nvPr/>
        </p:nvSpPr>
        <p:spPr>
          <a:xfrm>
            <a:off x="812800" y="2680395"/>
            <a:ext cx="1447800" cy="0"/>
          </a:xfrm>
          <a:prstGeom prst="line">
            <a:avLst/>
          </a:prstGeom>
          <a:noFill/>
          <a:ln w="6350">
            <a:solidFill>
              <a:schemeClr val="accent4"/>
            </a:solidFill>
            <a:prstDash val="solid"/>
          </a:ln>
        </p:spPr>
      </p:sp>
      <p:sp>
        <p:nvSpPr>
          <p:cNvPr id="24" name="Text 22"/>
          <p:cNvSpPr txBox="1"/>
          <p:nvPr/>
        </p:nvSpPr>
        <p:spPr>
          <a:xfrm>
            <a:off x="812800" y="2728020"/>
            <a:ext cx="1409700" cy="2349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ru-RU" altLang="en-US" sz="1200" b="1" dirty="0">
                <a:solidFill>
                  <a:schemeClr val="accent5"/>
                </a:solidFill>
                <a:latin typeface="+mn-lt" pitchFamily="34" charset="0"/>
                <a:ea typeface="+mn-lt" pitchFamily="34" charset="-122"/>
                <a:cs typeface="+mn-lt" pitchFamily="34" charset="-120"/>
              </a:rPr>
              <a:t>Формат</a:t>
            </a:r>
            <a:endParaRPr lang="en-US" sz="1200" dirty="0"/>
          </a:p>
        </p:txBody>
      </p:sp>
      <p:sp>
        <p:nvSpPr>
          <p:cNvPr id="25" name="Shape 23"/>
          <p:cNvSpPr/>
          <p:nvPr/>
        </p:nvSpPr>
        <p:spPr>
          <a:xfrm>
            <a:off x="2260600" y="2680395"/>
            <a:ext cx="2279650" cy="0"/>
          </a:xfrm>
          <a:prstGeom prst="line">
            <a:avLst/>
          </a:prstGeom>
          <a:noFill/>
          <a:ln w="6350">
            <a:solidFill>
              <a:schemeClr val="accent4"/>
            </a:solidFill>
            <a:prstDash val="solid"/>
          </a:ln>
        </p:spPr>
      </p:sp>
      <p:sp>
        <p:nvSpPr>
          <p:cNvPr id="26" name="Text 24"/>
          <p:cNvSpPr txBox="1"/>
          <p:nvPr/>
        </p:nvSpPr>
        <p:spPr>
          <a:xfrm>
            <a:off x="2349500" y="2753420"/>
            <a:ext cx="2164906" cy="4000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500"/>
              </a:lnSpc>
              <a:buNone/>
            </a:pPr>
            <a:r>
              <a:rPr lang="ru-RU" altLang="en-US" sz="1200" dirty="0">
                <a:solidFill>
                  <a:schemeClr val="bg1"/>
                </a:solidFill>
                <a:latin typeface="+mn-lt" pitchFamily="34" charset="0"/>
                <a:ea typeface="+mn-lt" pitchFamily="34" charset="-122"/>
                <a:cs typeface="+mn-lt" pitchFamily="34" charset="-120"/>
              </a:rPr>
              <a:t>Облачные серверы с vCPU, </a:t>
            </a:r>
            <a:br/>
            <a:pPr algn="l" indent="0" marL="0">
              <a:lnSpc>
                <a:spcPts val="1500"/>
              </a:lnSpc>
              <a:buNone/>
            </a:pPr>
            <a:r>
              <a:rPr lang="ru-RU" altLang="en-US" sz="1200" dirty="0">
                <a:solidFill>
                  <a:schemeClr val="bg1"/>
                </a:solidFill>
                <a:latin typeface="+mn-lt" pitchFamily="34" charset="0"/>
                <a:ea typeface="+mn-lt" pitchFamily="34" charset="-122"/>
                <a:cs typeface="+mn-lt" pitchFamily="34" charset="-120"/>
              </a:rPr>
              <a:t>RAM и диском</a:t>
            </a:r>
            <a:endParaRPr lang="en-US" sz="1200" dirty="0"/>
          </a:p>
        </p:txBody>
      </p:sp>
      <p:sp>
        <p:nvSpPr>
          <p:cNvPr id="27" name="Shape 25"/>
          <p:cNvSpPr/>
          <p:nvPr/>
        </p:nvSpPr>
        <p:spPr>
          <a:xfrm>
            <a:off x="4540250" y="2680395"/>
            <a:ext cx="2279650" cy="0"/>
          </a:xfrm>
          <a:prstGeom prst="line">
            <a:avLst/>
          </a:prstGeom>
          <a:noFill/>
          <a:ln w="6350">
            <a:solidFill>
              <a:schemeClr val="accent4"/>
            </a:solidFill>
            <a:prstDash val="solid"/>
          </a:ln>
        </p:spPr>
      </p:sp>
      <p:sp>
        <p:nvSpPr>
          <p:cNvPr id="28" name="Text 26"/>
          <p:cNvSpPr txBox="1"/>
          <p:nvPr/>
        </p:nvSpPr>
        <p:spPr>
          <a:xfrm>
            <a:off x="4629150" y="2753420"/>
            <a:ext cx="2164906" cy="4000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500"/>
              </a:lnSpc>
              <a:buNone/>
            </a:pPr>
            <a:r>
              <a:rPr lang="ru-RU" altLang="en-US" sz="1200" dirty="0">
                <a:solidFill>
                  <a:schemeClr val="bg1"/>
                </a:solidFill>
                <a:latin typeface="+mn-lt" pitchFamily="34" charset="0"/>
                <a:ea typeface="+mn-lt" pitchFamily="34" charset="-122"/>
                <a:cs typeface="+mn-lt" pitchFamily="34" charset="-120"/>
              </a:rPr>
              <a:t>Площадка с картами </a:t>
            </a:r>
            <a:br/>
            <a:pPr algn="l" indent="0" marL="0">
              <a:lnSpc>
                <a:spcPts val="1500"/>
              </a:lnSpc>
              <a:buNone/>
            </a:pPr>
            <a:r>
              <a:rPr lang="ru-RU" altLang="en-US" sz="1200" dirty="0">
                <a:solidFill>
                  <a:schemeClr val="bg1"/>
                </a:solidFill>
                <a:latin typeface="+mn-lt" pitchFamily="34" charset="0"/>
                <a:ea typeface="+mn-lt" pitchFamily="34" charset="-122"/>
                <a:cs typeface="+mn-lt" pitchFamily="34" charset="-120"/>
              </a:rPr>
              <a:t>частных владельцев</a:t>
            </a:r>
            <a:endParaRPr lang="en-US" sz="1200" dirty="0"/>
          </a:p>
        </p:txBody>
      </p:sp>
      <p:sp>
        <p:nvSpPr>
          <p:cNvPr id="29" name="Shape 27"/>
          <p:cNvSpPr/>
          <p:nvPr/>
        </p:nvSpPr>
        <p:spPr>
          <a:xfrm>
            <a:off x="6819900" y="2680395"/>
            <a:ext cx="2279650" cy="0"/>
          </a:xfrm>
          <a:prstGeom prst="line">
            <a:avLst/>
          </a:prstGeom>
          <a:noFill/>
          <a:ln w="6350">
            <a:solidFill>
              <a:schemeClr val="accent4"/>
            </a:solidFill>
            <a:prstDash val="solid"/>
          </a:ln>
        </p:spPr>
      </p:sp>
      <p:sp>
        <p:nvSpPr>
          <p:cNvPr id="30" name="Text 28"/>
          <p:cNvSpPr txBox="1"/>
          <p:nvPr/>
        </p:nvSpPr>
        <p:spPr>
          <a:xfrm>
            <a:off x="6908800" y="2753420"/>
            <a:ext cx="2164906" cy="4000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500"/>
              </a:lnSpc>
              <a:buNone/>
            </a:pPr>
            <a:r>
              <a:rPr lang="ru-RU" altLang="en-US" sz="1200" dirty="0">
                <a:solidFill>
                  <a:schemeClr val="bg1"/>
                </a:solidFill>
                <a:latin typeface="+mn-lt" pitchFamily="34" charset="0"/>
                <a:ea typeface="+mn-lt" pitchFamily="34" charset="-122"/>
                <a:cs typeface="+mn-lt" pitchFamily="34" charset="-120"/>
              </a:rPr>
              <a:t>Маркетплейсы: инстансы </a:t>
            </a:r>
            <a:br/>
            <a:pPr algn="l" indent="0" marL="0">
              <a:lnSpc>
                <a:spcPts val="1500"/>
              </a:lnSpc>
              <a:buNone/>
            </a:pPr>
            <a:r>
              <a:rPr lang="ru-RU" altLang="en-US" sz="1200" dirty="0">
                <a:solidFill>
                  <a:schemeClr val="bg1"/>
                </a:solidFill>
                <a:latin typeface="+mn-lt" pitchFamily="34" charset="0"/>
                <a:ea typeface="+mn-lt" pitchFamily="34" charset="-122"/>
                <a:cs typeface="+mn-lt" pitchFamily="34" charset="-120"/>
              </a:rPr>
              <a:t>и контейнеры</a:t>
            </a:r>
            <a:endParaRPr lang="en-US" sz="1200" dirty="0"/>
          </a:p>
        </p:txBody>
      </p:sp>
      <p:sp>
        <p:nvSpPr>
          <p:cNvPr id="31" name="Shape 29"/>
          <p:cNvSpPr/>
          <p:nvPr/>
        </p:nvSpPr>
        <p:spPr>
          <a:xfrm>
            <a:off x="9099550" y="2677220"/>
            <a:ext cx="2279650" cy="527050"/>
          </a:xfrm>
          <a:prstGeom prst="rect">
            <a:avLst/>
          </a:prstGeom>
          <a:solidFill>
            <a:schemeClr val="accent3"/>
          </a:solidFill>
          <a:ln/>
        </p:spPr>
      </p:sp>
      <p:sp>
        <p:nvSpPr>
          <p:cNvPr id="32" name="Shape 30"/>
          <p:cNvSpPr/>
          <p:nvPr/>
        </p:nvSpPr>
        <p:spPr>
          <a:xfrm>
            <a:off x="9099550" y="2680395"/>
            <a:ext cx="2279650" cy="0"/>
          </a:xfrm>
          <a:prstGeom prst="line">
            <a:avLst/>
          </a:prstGeom>
          <a:noFill/>
          <a:ln w="6350">
            <a:solidFill>
              <a:schemeClr val="accent4"/>
            </a:solidFill>
            <a:prstDash val="solid"/>
          </a:ln>
        </p:spPr>
      </p:sp>
      <p:sp>
        <p:nvSpPr>
          <p:cNvPr id="33" name="Text 31"/>
          <p:cNvSpPr txBox="1"/>
          <p:nvPr/>
        </p:nvSpPr>
        <p:spPr>
          <a:xfrm>
            <a:off x="9188450" y="2753420"/>
            <a:ext cx="2164906" cy="4000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500"/>
              </a:lnSpc>
              <a:buNone/>
            </a:pPr>
            <a:r>
              <a:rPr lang="ru-RU" altLang="en-US" sz="1200" b="1" dirty="0">
                <a:solidFill>
                  <a:schemeClr val="accent1"/>
                </a:solidFill>
                <a:latin typeface="+mn-lt" pitchFamily="34" charset="0"/>
                <a:ea typeface="+mn-lt" pitchFamily="34" charset="-122"/>
                <a:cs typeface="+mn-lt" pitchFamily="34" charset="-120"/>
              </a:rPr>
              <a:t>B2B-сервис через </a:t>
            </a:r>
            <a:br/>
            <a:pPr algn="l" indent="0" marL="0">
              <a:lnSpc>
                <a:spcPts val="1500"/>
              </a:lnSpc>
              <a:buNone/>
            </a:pPr>
            <a:r>
              <a:rPr lang="ru-RU" altLang="en-US" sz="1200" b="1" dirty="0">
                <a:solidFill>
                  <a:schemeClr val="accent1"/>
                </a:solidFill>
                <a:latin typeface="+mn-lt" pitchFamily="34" charset="0"/>
                <a:ea typeface="+mn-lt" pitchFamily="34" charset="-122"/>
                <a:cs typeface="+mn-lt" pitchFamily="34" charset="-120"/>
              </a:rPr>
              <a:t>партнёрские фермы</a:t>
            </a:r>
            <a:endParaRPr lang="en-US" sz="1200" dirty="0"/>
          </a:p>
        </p:txBody>
      </p:sp>
      <p:sp>
        <p:nvSpPr>
          <p:cNvPr id="34" name="Shape 32"/>
          <p:cNvSpPr/>
          <p:nvPr/>
        </p:nvSpPr>
        <p:spPr>
          <a:xfrm>
            <a:off x="812800" y="3207445"/>
            <a:ext cx="1447800" cy="0"/>
          </a:xfrm>
          <a:prstGeom prst="line">
            <a:avLst/>
          </a:prstGeom>
          <a:noFill/>
          <a:ln w="6350">
            <a:solidFill>
              <a:schemeClr val="accent4"/>
            </a:solidFill>
            <a:prstDash val="solid"/>
          </a:ln>
        </p:spPr>
      </p:sp>
      <p:sp>
        <p:nvSpPr>
          <p:cNvPr id="35" name="Text 33"/>
          <p:cNvSpPr txBox="1"/>
          <p:nvPr/>
        </p:nvSpPr>
        <p:spPr>
          <a:xfrm>
            <a:off x="812800" y="3280470"/>
            <a:ext cx="1409700" cy="4000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500"/>
              </a:lnSpc>
              <a:buNone/>
            </a:pPr>
            <a:r>
              <a:rPr lang="ru-RU" altLang="en-US" sz="1200" b="1" dirty="0">
                <a:solidFill>
                  <a:schemeClr val="accent5"/>
                </a:solidFill>
                <a:latin typeface="+mn-lt" pitchFamily="34" charset="0"/>
                <a:ea typeface="+mn-lt" pitchFamily="34" charset="-122"/>
                <a:cs typeface="+mn-lt" pitchFamily="34" charset="-120"/>
              </a:rPr>
              <a:t>Подбор </a:t>
            </a:r>
            <a:br/>
            <a:pPr algn="l" indent="0" marL="0">
              <a:lnSpc>
                <a:spcPts val="1500"/>
              </a:lnSpc>
              <a:buNone/>
            </a:pPr>
            <a:r>
              <a:rPr lang="ru-RU" altLang="en-US" sz="1200" b="1" dirty="0">
                <a:solidFill>
                  <a:schemeClr val="accent5"/>
                </a:solidFill>
                <a:latin typeface="+mn-lt" pitchFamily="34" charset="0"/>
                <a:ea typeface="+mn-lt" pitchFamily="34" charset="-122"/>
                <a:cs typeface="+mn-lt" pitchFamily="34" charset="-120"/>
              </a:rPr>
              <a:t>и сопровождение</a:t>
            </a:r>
            <a:endParaRPr lang="en-US" sz="1200" dirty="0"/>
          </a:p>
        </p:txBody>
      </p:sp>
      <p:sp>
        <p:nvSpPr>
          <p:cNvPr id="36" name="Shape 34"/>
          <p:cNvSpPr/>
          <p:nvPr/>
        </p:nvSpPr>
        <p:spPr>
          <a:xfrm>
            <a:off x="2260600" y="3207445"/>
            <a:ext cx="2279650" cy="0"/>
          </a:xfrm>
          <a:prstGeom prst="line">
            <a:avLst/>
          </a:prstGeom>
          <a:noFill/>
          <a:ln w="6350">
            <a:solidFill>
              <a:schemeClr val="accent4"/>
            </a:solidFill>
            <a:prstDash val="solid"/>
          </a:ln>
        </p:spPr>
      </p:sp>
      <p:sp>
        <p:nvSpPr>
          <p:cNvPr id="37" name="Text 35"/>
          <p:cNvSpPr txBox="1"/>
          <p:nvPr/>
        </p:nvSpPr>
        <p:spPr>
          <a:xfrm>
            <a:off x="2349500" y="3255070"/>
            <a:ext cx="2164906" cy="2349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ru-RU" altLang="en-US" sz="1200" dirty="0">
                <a:solidFill>
                  <a:schemeClr val="bg1"/>
                </a:solidFill>
                <a:latin typeface="+mn-lt" pitchFamily="34" charset="0"/>
                <a:ea typeface="+mn-lt" pitchFamily="34" charset="-122"/>
                <a:cs typeface="+mn-lt" pitchFamily="34" charset="-120"/>
              </a:rPr>
              <a:t>Поддержка провайдера</a:t>
            </a:r>
            <a:endParaRPr lang="en-US" sz="1200" dirty="0"/>
          </a:p>
        </p:txBody>
      </p:sp>
      <p:sp>
        <p:nvSpPr>
          <p:cNvPr id="38" name="Shape 36"/>
          <p:cNvSpPr/>
          <p:nvPr/>
        </p:nvSpPr>
        <p:spPr>
          <a:xfrm>
            <a:off x="4540250" y="3207445"/>
            <a:ext cx="2279650" cy="0"/>
          </a:xfrm>
          <a:prstGeom prst="line">
            <a:avLst/>
          </a:prstGeom>
          <a:noFill/>
          <a:ln w="6350">
            <a:solidFill>
              <a:schemeClr val="accent4"/>
            </a:solidFill>
            <a:prstDash val="solid"/>
          </a:ln>
        </p:spPr>
      </p:sp>
      <p:sp>
        <p:nvSpPr>
          <p:cNvPr id="39" name="Text 37"/>
          <p:cNvSpPr txBox="1"/>
          <p:nvPr/>
        </p:nvSpPr>
        <p:spPr>
          <a:xfrm>
            <a:off x="4629150" y="3255070"/>
            <a:ext cx="2164906" cy="2349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ru-RU" altLang="en-US" sz="1200" dirty="0">
                <a:solidFill>
                  <a:schemeClr val="bg1"/>
                </a:solidFill>
                <a:latin typeface="+mn-lt" pitchFamily="34" charset="0"/>
                <a:ea typeface="+mn-lt" pitchFamily="34" charset="-122"/>
                <a:cs typeface="+mn-lt" pitchFamily="34" charset="-120"/>
              </a:rPr>
              <a:t>Нужно уточнить</a:t>
            </a:r>
            <a:endParaRPr lang="en-US" sz="1200" dirty="0"/>
          </a:p>
        </p:txBody>
      </p:sp>
      <p:sp>
        <p:nvSpPr>
          <p:cNvPr id="40" name="Shape 38"/>
          <p:cNvSpPr/>
          <p:nvPr/>
        </p:nvSpPr>
        <p:spPr>
          <a:xfrm>
            <a:off x="6819900" y="3207445"/>
            <a:ext cx="2279650" cy="0"/>
          </a:xfrm>
          <a:prstGeom prst="line">
            <a:avLst/>
          </a:prstGeom>
          <a:noFill/>
          <a:ln w="6350">
            <a:solidFill>
              <a:schemeClr val="accent4"/>
            </a:solidFill>
            <a:prstDash val="solid"/>
          </a:ln>
        </p:spPr>
      </p:sp>
      <p:sp>
        <p:nvSpPr>
          <p:cNvPr id="41" name="Text 39"/>
          <p:cNvSpPr txBox="1"/>
          <p:nvPr/>
        </p:nvSpPr>
        <p:spPr>
          <a:xfrm>
            <a:off x="6908800" y="3280470"/>
            <a:ext cx="2164906" cy="4000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500"/>
              </a:lnSpc>
              <a:buNone/>
            </a:pPr>
            <a:r>
              <a:rPr lang="ru-RU" altLang="en-US" sz="1200" dirty="0">
                <a:solidFill>
                  <a:schemeClr val="bg1"/>
                </a:solidFill>
                <a:latin typeface="+mn-lt" pitchFamily="34" charset="0"/>
                <a:ea typeface="+mn-lt" pitchFamily="34" charset="-122"/>
                <a:cs typeface="+mn-lt" pitchFamily="34" charset="-120"/>
              </a:rPr>
              <a:t>В основном </a:t>
            </a:r>
            <a:br/>
            <a:pPr algn="l" indent="0" marL="0">
              <a:lnSpc>
                <a:spcPts val="1500"/>
              </a:lnSpc>
              <a:buNone/>
            </a:pPr>
            <a:r>
              <a:rPr lang="ru-RU" altLang="en-US" sz="1200" dirty="0">
                <a:solidFill>
                  <a:schemeClr val="bg1"/>
                </a:solidFill>
                <a:latin typeface="+mn-lt" pitchFamily="34" charset="0"/>
                <a:ea typeface="+mn-lt" pitchFamily="34" charset="-122"/>
                <a:cs typeface="+mn-lt" pitchFamily="34" charset="-120"/>
              </a:rPr>
              <a:t>самообслуживание</a:t>
            </a:r>
            <a:endParaRPr lang="en-US" sz="1200" dirty="0"/>
          </a:p>
        </p:txBody>
      </p:sp>
      <p:sp>
        <p:nvSpPr>
          <p:cNvPr id="42" name="Shape 40"/>
          <p:cNvSpPr/>
          <p:nvPr/>
        </p:nvSpPr>
        <p:spPr>
          <a:xfrm>
            <a:off x="9099550" y="3204270"/>
            <a:ext cx="2279650" cy="527050"/>
          </a:xfrm>
          <a:prstGeom prst="rect">
            <a:avLst/>
          </a:prstGeom>
          <a:solidFill>
            <a:schemeClr val="accent3"/>
          </a:solidFill>
          <a:ln/>
        </p:spPr>
      </p:sp>
      <p:sp>
        <p:nvSpPr>
          <p:cNvPr id="43" name="Shape 41"/>
          <p:cNvSpPr/>
          <p:nvPr/>
        </p:nvSpPr>
        <p:spPr>
          <a:xfrm>
            <a:off x="9099550" y="3207445"/>
            <a:ext cx="2279650" cy="0"/>
          </a:xfrm>
          <a:prstGeom prst="line">
            <a:avLst/>
          </a:prstGeom>
          <a:noFill/>
          <a:ln w="6350">
            <a:solidFill>
              <a:schemeClr val="accent4"/>
            </a:solidFill>
            <a:prstDash val="solid"/>
          </a:ln>
        </p:spPr>
      </p:sp>
      <p:sp>
        <p:nvSpPr>
          <p:cNvPr id="44" name="Text 42"/>
          <p:cNvSpPr txBox="1"/>
          <p:nvPr/>
        </p:nvSpPr>
        <p:spPr>
          <a:xfrm>
            <a:off x="9188450" y="3255070"/>
            <a:ext cx="2164906" cy="2349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ru-RU" altLang="en-US" sz="1200" dirty="0">
                <a:solidFill>
                  <a:schemeClr val="bg1"/>
                </a:solidFill>
                <a:latin typeface="+mn-lt" pitchFamily="34" charset="0"/>
                <a:ea typeface="+mn-lt" pitchFamily="34" charset="-122"/>
                <a:cs typeface="+mn-lt" pitchFamily="34" charset="-120"/>
              </a:rPr>
              <a:t>Проверяемая гипотеза</a:t>
            </a:r>
            <a:endParaRPr lang="en-US" sz="1200" dirty="0"/>
          </a:p>
        </p:txBody>
      </p:sp>
      <p:sp>
        <p:nvSpPr>
          <p:cNvPr id="45" name="Shape 43"/>
          <p:cNvSpPr/>
          <p:nvPr/>
        </p:nvSpPr>
        <p:spPr>
          <a:xfrm>
            <a:off x="812800" y="3734495"/>
            <a:ext cx="1447800" cy="0"/>
          </a:xfrm>
          <a:prstGeom prst="line">
            <a:avLst/>
          </a:prstGeom>
          <a:noFill/>
          <a:ln w="6350">
            <a:solidFill>
              <a:schemeClr val="accent4"/>
            </a:solidFill>
            <a:prstDash val="solid"/>
          </a:ln>
        </p:spPr>
      </p:sp>
      <p:sp>
        <p:nvSpPr>
          <p:cNvPr id="46" name="Text 44"/>
          <p:cNvSpPr txBox="1"/>
          <p:nvPr/>
        </p:nvSpPr>
        <p:spPr>
          <a:xfrm>
            <a:off x="812800" y="3782120"/>
            <a:ext cx="1409700" cy="2349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ru-RU" altLang="en-US" sz="1200" b="1" dirty="0">
                <a:solidFill>
                  <a:schemeClr val="accent5"/>
                </a:solidFill>
                <a:latin typeface="+mn-lt" pitchFamily="34" charset="0"/>
                <a:ea typeface="+mn-lt" pitchFamily="34" charset="-122"/>
                <a:cs typeface="+mn-lt" pitchFamily="34" charset="-120"/>
              </a:rPr>
              <a:t>Надёжность</a:t>
            </a:r>
            <a:endParaRPr lang="en-US" sz="1200" dirty="0"/>
          </a:p>
        </p:txBody>
      </p:sp>
      <p:sp>
        <p:nvSpPr>
          <p:cNvPr id="47" name="Shape 45"/>
          <p:cNvSpPr/>
          <p:nvPr/>
        </p:nvSpPr>
        <p:spPr>
          <a:xfrm>
            <a:off x="2260600" y="3734495"/>
            <a:ext cx="2279650" cy="0"/>
          </a:xfrm>
          <a:prstGeom prst="line">
            <a:avLst/>
          </a:prstGeom>
          <a:noFill/>
          <a:ln w="6350">
            <a:solidFill>
              <a:schemeClr val="accent4"/>
            </a:solidFill>
            <a:prstDash val="solid"/>
          </a:ln>
        </p:spPr>
      </p:sp>
      <p:sp>
        <p:nvSpPr>
          <p:cNvPr id="48" name="Text 46"/>
          <p:cNvSpPr txBox="1"/>
          <p:nvPr/>
        </p:nvSpPr>
        <p:spPr>
          <a:xfrm>
            <a:off x="2349500" y="3807520"/>
            <a:ext cx="2164906" cy="4000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500"/>
              </a:lnSpc>
              <a:buNone/>
            </a:pPr>
            <a:r>
              <a:rPr lang="ru-RU" altLang="en-US" sz="1200" dirty="0">
                <a:solidFill>
                  <a:schemeClr val="bg1"/>
                </a:solidFill>
                <a:latin typeface="+mn-lt" pitchFamily="34" charset="0"/>
                <a:ea typeface="+mn-lt" pitchFamily="34" charset="-122"/>
                <a:cs typeface="+mn-lt" pitchFamily="34" charset="-120"/>
              </a:rPr>
              <a:t>Дата-центры, гарантии </a:t>
            </a:r>
            <a:br/>
            <a:pPr algn="l" indent="0" marL="0">
              <a:lnSpc>
                <a:spcPts val="1500"/>
              </a:lnSpc>
              <a:buNone/>
            </a:pPr>
            <a:r>
              <a:rPr lang="ru-RU" altLang="en-US" sz="1200" dirty="0">
                <a:solidFill>
                  <a:schemeClr val="bg1"/>
                </a:solidFill>
                <a:latin typeface="+mn-lt" pitchFamily="34" charset="0"/>
                <a:ea typeface="+mn-lt" pitchFamily="34" charset="-122"/>
                <a:cs typeface="+mn-lt" pitchFamily="34" charset="-120"/>
              </a:rPr>
              <a:t>доступности</a:t>
            </a:r>
            <a:endParaRPr lang="en-US" sz="1200" dirty="0"/>
          </a:p>
        </p:txBody>
      </p:sp>
      <p:sp>
        <p:nvSpPr>
          <p:cNvPr id="49" name="Shape 47"/>
          <p:cNvSpPr/>
          <p:nvPr/>
        </p:nvSpPr>
        <p:spPr>
          <a:xfrm>
            <a:off x="4540250" y="3734495"/>
            <a:ext cx="2279650" cy="0"/>
          </a:xfrm>
          <a:prstGeom prst="line">
            <a:avLst/>
          </a:prstGeom>
          <a:noFill/>
          <a:ln w="6350">
            <a:solidFill>
              <a:schemeClr val="accent4"/>
            </a:solidFill>
            <a:prstDash val="solid"/>
          </a:ln>
        </p:spPr>
      </p:sp>
      <p:sp>
        <p:nvSpPr>
          <p:cNvPr id="50" name="Text 48"/>
          <p:cNvSpPr txBox="1"/>
          <p:nvPr/>
        </p:nvSpPr>
        <p:spPr>
          <a:xfrm>
            <a:off x="4629150" y="3782120"/>
            <a:ext cx="2164906" cy="2349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ru-RU" altLang="en-US" sz="1200" dirty="0">
                <a:solidFill>
                  <a:schemeClr val="bg1"/>
                </a:solidFill>
                <a:latin typeface="+mn-lt" pitchFamily="34" charset="0"/>
                <a:ea typeface="+mn-lt" pitchFamily="34" charset="-122"/>
                <a:cs typeface="+mn-lt" pitchFamily="34" charset="-120"/>
              </a:rPr>
              <a:t>Зависит от владельца карты</a:t>
            </a:r>
            <a:endParaRPr lang="en-US" sz="1200" dirty="0"/>
          </a:p>
        </p:txBody>
      </p:sp>
      <p:sp>
        <p:nvSpPr>
          <p:cNvPr id="51" name="Shape 49"/>
          <p:cNvSpPr/>
          <p:nvPr/>
        </p:nvSpPr>
        <p:spPr>
          <a:xfrm>
            <a:off x="6819900" y="3734495"/>
            <a:ext cx="2279650" cy="0"/>
          </a:xfrm>
          <a:prstGeom prst="line">
            <a:avLst/>
          </a:prstGeom>
          <a:noFill/>
          <a:ln w="6350">
            <a:solidFill>
              <a:schemeClr val="accent4"/>
            </a:solidFill>
            <a:prstDash val="solid"/>
          </a:ln>
        </p:spPr>
      </p:sp>
      <p:sp>
        <p:nvSpPr>
          <p:cNvPr id="52" name="Text 50"/>
          <p:cNvSpPr txBox="1"/>
          <p:nvPr/>
        </p:nvSpPr>
        <p:spPr>
          <a:xfrm>
            <a:off x="6908800" y="3782120"/>
            <a:ext cx="2164906" cy="2349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ru-RU" altLang="en-US" sz="1200" dirty="0">
                <a:solidFill>
                  <a:schemeClr val="bg1"/>
                </a:solidFill>
                <a:latin typeface="+mn-lt" pitchFamily="34" charset="0"/>
                <a:ea typeface="+mn-lt" pitchFamily="34" charset="-122"/>
                <a:cs typeface="+mn-lt" pitchFamily="34" charset="-120"/>
              </a:rPr>
              <a:t>Зависит от хоста и тарифа</a:t>
            </a:r>
            <a:endParaRPr lang="en-US" sz="1200" dirty="0"/>
          </a:p>
        </p:txBody>
      </p:sp>
      <p:sp>
        <p:nvSpPr>
          <p:cNvPr id="53" name="Shape 51"/>
          <p:cNvSpPr/>
          <p:nvPr/>
        </p:nvSpPr>
        <p:spPr>
          <a:xfrm>
            <a:off x="9099550" y="3731320"/>
            <a:ext cx="2279650" cy="527050"/>
          </a:xfrm>
          <a:prstGeom prst="rect">
            <a:avLst/>
          </a:prstGeom>
          <a:solidFill>
            <a:schemeClr val="accent3"/>
          </a:solidFill>
          <a:ln/>
        </p:spPr>
      </p:sp>
      <p:sp>
        <p:nvSpPr>
          <p:cNvPr id="54" name="Shape 52"/>
          <p:cNvSpPr/>
          <p:nvPr/>
        </p:nvSpPr>
        <p:spPr>
          <a:xfrm>
            <a:off x="9099550" y="3734495"/>
            <a:ext cx="2279650" cy="0"/>
          </a:xfrm>
          <a:prstGeom prst="line">
            <a:avLst/>
          </a:prstGeom>
          <a:noFill/>
          <a:ln w="6350">
            <a:solidFill>
              <a:schemeClr val="accent4"/>
            </a:solidFill>
            <a:prstDash val="solid"/>
          </a:ln>
        </p:spPr>
      </p:sp>
      <p:sp>
        <p:nvSpPr>
          <p:cNvPr id="55" name="Text 53"/>
          <p:cNvSpPr txBox="1"/>
          <p:nvPr/>
        </p:nvSpPr>
        <p:spPr>
          <a:xfrm>
            <a:off x="9188450" y="3782120"/>
            <a:ext cx="2164906" cy="2349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ru-RU" altLang="en-US" sz="1200" dirty="0">
                <a:solidFill>
                  <a:schemeClr val="bg1"/>
                </a:solidFill>
                <a:latin typeface="+mn-lt" pitchFamily="34" charset="0"/>
                <a:ea typeface="+mn-lt" pitchFamily="34" charset="-122"/>
                <a:cs typeface="+mn-lt" pitchFamily="34" charset="-120"/>
              </a:rPr>
              <a:t>Зависит от партнёров</a:t>
            </a:r>
            <a:endParaRPr lang="en-US" sz="1200" dirty="0"/>
          </a:p>
        </p:txBody>
      </p:sp>
      <p:sp>
        <p:nvSpPr>
          <p:cNvPr id="56" name="Shape 54"/>
          <p:cNvSpPr/>
          <p:nvPr/>
        </p:nvSpPr>
        <p:spPr>
          <a:xfrm>
            <a:off x="812800" y="4261545"/>
            <a:ext cx="1447800" cy="0"/>
          </a:xfrm>
          <a:prstGeom prst="line">
            <a:avLst/>
          </a:prstGeom>
          <a:noFill/>
          <a:ln w="6350">
            <a:solidFill>
              <a:schemeClr val="accent4"/>
            </a:solidFill>
            <a:prstDash val="solid"/>
          </a:ln>
        </p:spPr>
      </p:sp>
      <p:sp>
        <p:nvSpPr>
          <p:cNvPr id="57" name="Text 55"/>
          <p:cNvSpPr txBox="1"/>
          <p:nvPr/>
        </p:nvSpPr>
        <p:spPr>
          <a:xfrm>
            <a:off x="812800" y="4309170"/>
            <a:ext cx="1409700" cy="2349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ru-RU" altLang="en-US" sz="1200" b="1" dirty="0">
                <a:solidFill>
                  <a:schemeClr val="accent5"/>
                </a:solidFill>
                <a:latin typeface="+mn-lt" pitchFamily="34" charset="0"/>
                <a:ea typeface="+mn-lt" pitchFamily="34" charset="-122"/>
                <a:cs typeface="+mn-lt" pitchFamily="34" charset="-120"/>
              </a:rPr>
              <a:t>Оплата из России</a:t>
            </a:r>
            <a:endParaRPr lang="en-US" sz="1200" dirty="0"/>
          </a:p>
        </p:txBody>
      </p:sp>
      <p:sp>
        <p:nvSpPr>
          <p:cNvPr id="58" name="Shape 56"/>
          <p:cNvSpPr/>
          <p:nvPr/>
        </p:nvSpPr>
        <p:spPr>
          <a:xfrm>
            <a:off x="2260600" y="4261545"/>
            <a:ext cx="2279650" cy="0"/>
          </a:xfrm>
          <a:prstGeom prst="line">
            <a:avLst/>
          </a:prstGeom>
          <a:noFill/>
          <a:ln w="6350">
            <a:solidFill>
              <a:schemeClr val="accent4"/>
            </a:solidFill>
            <a:prstDash val="solid"/>
          </a:ln>
        </p:spPr>
      </p:sp>
      <p:sp>
        <p:nvSpPr>
          <p:cNvPr id="59" name="Text 57"/>
          <p:cNvSpPr txBox="1"/>
          <p:nvPr/>
        </p:nvSpPr>
        <p:spPr>
          <a:xfrm>
            <a:off x="2349500" y="4309170"/>
            <a:ext cx="2164906" cy="2349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ru-RU" altLang="en-US" sz="1200" dirty="0">
                <a:solidFill>
                  <a:schemeClr val="bg1"/>
                </a:solidFill>
                <a:latin typeface="+mn-lt" pitchFamily="34" charset="0"/>
                <a:ea typeface="+mn-lt" pitchFamily="34" charset="-122"/>
                <a:cs typeface="+mn-lt" pitchFamily="34" charset="-120"/>
              </a:rPr>
              <a:t>В рублях, по договору</a:t>
            </a:r>
            <a:endParaRPr lang="en-US" sz="1200" dirty="0"/>
          </a:p>
        </p:txBody>
      </p:sp>
      <p:sp>
        <p:nvSpPr>
          <p:cNvPr id="60" name="Shape 58"/>
          <p:cNvSpPr/>
          <p:nvPr/>
        </p:nvSpPr>
        <p:spPr>
          <a:xfrm>
            <a:off x="4540250" y="4261545"/>
            <a:ext cx="2279650" cy="0"/>
          </a:xfrm>
          <a:prstGeom prst="line">
            <a:avLst/>
          </a:prstGeom>
          <a:noFill/>
          <a:ln w="6350">
            <a:solidFill>
              <a:schemeClr val="accent4"/>
            </a:solidFill>
            <a:prstDash val="solid"/>
          </a:ln>
        </p:spPr>
      </p:sp>
      <p:sp>
        <p:nvSpPr>
          <p:cNvPr id="61" name="Text 59"/>
          <p:cNvSpPr txBox="1"/>
          <p:nvPr/>
        </p:nvSpPr>
        <p:spPr>
          <a:xfrm>
            <a:off x="4629150" y="4309170"/>
            <a:ext cx="2164906" cy="2349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ru-RU" altLang="en-US" sz="1200" dirty="0">
                <a:solidFill>
                  <a:schemeClr val="bg1"/>
                </a:solidFill>
                <a:latin typeface="+mn-lt" pitchFamily="34" charset="0"/>
                <a:ea typeface="+mn-lt" pitchFamily="34" charset="-122"/>
                <a:cs typeface="+mn-lt" pitchFamily="34" charset="-120"/>
              </a:rPr>
              <a:t>В рублях</a:t>
            </a:r>
            <a:endParaRPr lang="en-US" sz="1200" dirty="0"/>
          </a:p>
        </p:txBody>
      </p:sp>
      <p:sp>
        <p:nvSpPr>
          <p:cNvPr id="62" name="Shape 60"/>
          <p:cNvSpPr/>
          <p:nvPr/>
        </p:nvSpPr>
        <p:spPr>
          <a:xfrm>
            <a:off x="6819900" y="4261545"/>
            <a:ext cx="2279650" cy="0"/>
          </a:xfrm>
          <a:prstGeom prst="line">
            <a:avLst/>
          </a:prstGeom>
          <a:noFill/>
          <a:ln w="6350">
            <a:solidFill>
              <a:schemeClr val="accent4"/>
            </a:solidFill>
            <a:prstDash val="solid"/>
          </a:ln>
        </p:spPr>
      </p:sp>
      <p:sp>
        <p:nvSpPr>
          <p:cNvPr id="63" name="Text 61"/>
          <p:cNvSpPr txBox="1"/>
          <p:nvPr/>
        </p:nvSpPr>
        <p:spPr>
          <a:xfrm>
            <a:off x="6908800" y="4334570"/>
            <a:ext cx="2164906" cy="4000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500"/>
              </a:lnSpc>
              <a:buNone/>
            </a:pPr>
            <a:r>
              <a:rPr lang="ru-RU" altLang="en-US" sz="1200" dirty="0">
                <a:solidFill>
                  <a:schemeClr val="bg1"/>
                </a:solidFill>
                <a:latin typeface="+mn-lt" pitchFamily="34" charset="0"/>
                <a:ea typeface="+mn-lt" pitchFamily="34" charset="-122"/>
                <a:cs typeface="+mn-lt" pitchFamily="34" charset="-120"/>
              </a:rPr>
              <a:t>В долларах, российские </a:t>
            </a:r>
            <a:br/>
            <a:pPr algn="l" indent="0" marL="0">
              <a:lnSpc>
                <a:spcPts val="1500"/>
              </a:lnSpc>
              <a:buNone/>
            </a:pPr>
            <a:r>
              <a:rPr lang="ru-RU" altLang="en-US" sz="1200" dirty="0">
                <a:solidFill>
                  <a:schemeClr val="bg1"/>
                </a:solidFill>
                <a:latin typeface="+mn-lt" pitchFamily="34" charset="0"/>
                <a:ea typeface="+mn-lt" pitchFamily="34" charset="-122"/>
                <a:cs typeface="+mn-lt" pitchFamily="34" charset="-120"/>
              </a:rPr>
              <a:t>карты обычно не проходят</a:t>
            </a:r>
            <a:endParaRPr lang="en-US" sz="1200" dirty="0"/>
          </a:p>
        </p:txBody>
      </p:sp>
      <p:sp>
        <p:nvSpPr>
          <p:cNvPr id="64" name="Shape 62"/>
          <p:cNvSpPr/>
          <p:nvPr/>
        </p:nvSpPr>
        <p:spPr>
          <a:xfrm rot="10800000">
            <a:off x="9099550" y="4258370"/>
            <a:ext cx="2279650" cy="527050"/>
          </a:xfrm>
          <a:prstGeom prst="round2SameRect">
            <a:avLst/>
          </a:prstGeom>
          <a:solidFill>
            <a:schemeClr val="accent3"/>
          </a:solidFill>
          <a:ln/>
        </p:spPr>
      </p:sp>
      <p:sp>
        <p:nvSpPr>
          <p:cNvPr id="65" name="Shape 63"/>
          <p:cNvSpPr/>
          <p:nvPr/>
        </p:nvSpPr>
        <p:spPr>
          <a:xfrm>
            <a:off x="9099550" y="4261545"/>
            <a:ext cx="2279650" cy="0"/>
          </a:xfrm>
          <a:prstGeom prst="line">
            <a:avLst/>
          </a:prstGeom>
          <a:noFill/>
          <a:ln w="6350">
            <a:solidFill>
              <a:schemeClr val="accent4"/>
            </a:solidFill>
            <a:prstDash val="solid"/>
          </a:ln>
        </p:spPr>
      </p:sp>
      <p:sp>
        <p:nvSpPr>
          <p:cNvPr id="66" name="Text 64"/>
          <p:cNvSpPr txBox="1"/>
          <p:nvPr/>
        </p:nvSpPr>
        <p:spPr>
          <a:xfrm>
            <a:off x="9188450" y="4309170"/>
            <a:ext cx="2164906" cy="2349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ru-RU" altLang="en-US" sz="1200" dirty="0">
                <a:solidFill>
                  <a:schemeClr val="bg1"/>
                </a:solidFill>
                <a:latin typeface="+mn-lt" pitchFamily="34" charset="0"/>
                <a:ea typeface="+mn-lt" pitchFamily="34" charset="-122"/>
                <a:cs typeface="+mn-lt" pitchFamily="34" charset="-120"/>
              </a:rPr>
              <a:t>В рублях</a:t>
            </a:r>
            <a:endParaRPr lang="en-US" sz="1200" dirty="0"/>
          </a:p>
        </p:txBody>
      </p:sp>
      <p:sp>
        <p:nvSpPr>
          <p:cNvPr id="67" name="Text 65"/>
          <p:cNvSpPr txBox="1"/>
          <p:nvPr/>
        </p:nvSpPr>
        <p:spPr>
          <a:xfrm>
            <a:off x="812800" y="4950619"/>
            <a:ext cx="10718800" cy="4445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750"/>
              </a:lnSpc>
              <a:buNone/>
            </a:pPr>
            <a:r>
              <a:rPr lang="ru-RU" altLang="en-US" sz="1400" dirty="0">
                <a:solidFill>
                  <a:schemeClr val="accent1"/>
                </a:solidFill>
                <a:latin typeface="+mj-lt" pitchFamily="34" charset="0"/>
                <a:ea typeface="+mj-lt" pitchFamily="34" charset="-122"/>
                <a:cs typeface="+mj-lt" pitchFamily="34" charset="-120"/>
              </a:rPr>
              <a:t>Улей не стремится быть самым дешёвым </a:t>
            </a:r>
            <a:pPr algn="l" indent="0" marL="0">
              <a:lnSpc>
                <a:spcPts val="1750"/>
              </a:lnSpc>
              <a:buNone/>
            </a:pPr>
            <a:r>
              <a:rPr lang="ru-RU" altLang="en-US" sz="1400" dirty="0">
                <a:solidFill>
                  <a:schemeClr val="accent1"/>
                </a:solidFill>
                <a:latin typeface="+mj-lt" pitchFamily="34" charset="0"/>
                <a:ea typeface="+mj-lt" pitchFamily="34" charset="-122"/>
                <a:cs typeface="+mj-lt" pitchFamily="34" charset="-120"/>
              </a:rPr>
              <a:t>GPU-маркетплейсом</a:t>
            </a:r>
            <a:pPr algn="l" indent="0" marL="0">
              <a:lnSpc>
                <a:spcPts val="1750"/>
              </a:lnSpc>
              <a:buNone/>
            </a:pPr>
            <a:r>
              <a:rPr lang="ru-RU" altLang="en-US" sz="1400" dirty="0">
                <a:solidFill>
                  <a:schemeClr val="accent1"/>
                </a:solidFill>
                <a:latin typeface="+mj-lt" pitchFamily="34" charset="0"/>
                <a:ea typeface="+mj-lt" pitchFamily="34" charset="-122"/>
                <a:cs typeface="+mj-lt" pitchFamily="34" charset="-120"/>
              </a:rPr>
              <a:t>. Мы проверяем спрос </a:t>
            </a:r>
            <a:br/>
            <a:pPr algn="l" indent="0" marL="0">
              <a:lnSpc>
                <a:spcPts val="1750"/>
              </a:lnSpc>
              <a:buNone/>
            </a:pPr>
            <a:r>
              <a:rPr lang="ru-RU" altLang="en-US" sz="1400" dirty="0">
                <a:solidFill>
                  <a:schemeClr val="accent1"/>
                </a:solidFill>
                <a:latin typeface="+mj-lt" pitchFamily="34" charset="0"/>
                <a:ea typeface="+mj-lt" pitchFamily="34" charset="-122"/>
                <a:cs typeface="+mj-lt" pitchFamily="34" charset="-120"/>
              </a:rPr>
              <a:t>на удобное предоставление вычислительных мощностей небольшим B2B-клиентам.</a:t>
            </a:r>
            <a:endParaRPr lang="en-US" sz="1400" dirty="0"/>
          </a:p>
        </p:txBody>
      </p:sp>
      <p:sp>
        <p:nvSpPr>
          <p:cNvPr id="68" name="Text 66"/>
          <p:cNvSpPr txBox="1"/>
          <p:nvPr/>
        </p:nvSpPr>
        <p:spPr>
          <a:xfrm>
            <a:off x="812800" y="5445919"/>
            <a:ext cx="10718800" cy="40759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560"/>
              </a:lnSpc>
              <a:buNone/>
            </a:pPr>
            <a:r>
              <a:rPr lang="ru-RU" altLang="en-US" sz="1200" dirty="0">
                <a:solidFill>
                  <a:schemeClr val="bg1"/>
                </a:solidFill>
                <a:latin typeface="+mn-lt" pitchFamily="34" charset="0"/>
                <a:ea typeface="+mn-lt" pitchFamily="34" charset="-122"/>
                <a:cs typeface="+mn-lt" pitchFamily="34" charset="-120"/>
              </a:rPr>
              <a:t>Более дешёвые предложения уже есть, а подбор и сопровождение могут предлагать и конкуренты. Задача пилота — выяснить, есть </a:t>
            </a:r>
            <a:br/>
            <a:pPr algn="l" indent="0" marL="0">
              <a:lnSpc>
                <a:spcPts val="1560"/>
              </a:lnSpc>
              <a:buNone/>
            </a:pPr>
            <a:r>
              <a:rPr lang="ru-RU" altLang="en-US" sz="1200" dirty="0">
                <a:solidFill>
                  <a:schemeClr val="bg1"/>
                </a:solidFill>
                <a:latin typeface="+mn-lt" pitchFamily="34" charset="0"/>
                <a:ea typeface="+mn-lt" pitchFamily="34" charset="-122"/>
                <a:cs typeface="+mn-lt" pitchFamily="34" charset="-120"/>
              </a:rPr>
              <a:t>ли неудовлетворённый спрос; автоматизация — только после его подтверждения.</a:t>
            </a:r>
            <a:endParaRPr lang="en-US" sz="1200" dirty="0"/>
          </a:p>
        </p:txBody>
      </p:sp>
      <p:sp>
        <p:nvSpPr>
          <p:cNvPr id="69" name="Text 67"/>
          <p:cNvSpPr txBox="1"/>
          <p:nvPr/>
        </p:nvSpPr>
        <p:spPr>
          <a:xfrm>
            <a:off x="812800" y="6234509"/>
            <a:ext cx="10718800" cy="2349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ru-RU" altLang="en-US" sz="1200" dirty="0">
                <a:solidFill>
                  <a:schemeClr val="accent5"/>
                </a:solidFill>
                <a:latin typeface="+mn-lt" pitchFamily="34" charset="0"/>
                <a:ea typeface="+mn-lt" pitchFamily="34" charset="-122"/>
                <a:cs typeface="+mn-lt" pitchFamily="34" charset="-120"/>
              </a:rPr>
              <a:t>RTX 3090, 24 ГБ, почасово, октябрь 2026: immers.cloud, teraferma.io, runpod.io, salad.com, vast.ai. Конфигурации и условия различаются</a:t>
            </a:r>
            <a:endParaRPr lang="en-US" sz="12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812800" y="768350"/>
            <a:ext cx="10820400" cy="4699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ru-RU" altLang="en-US" sz="2800" spc="-50" kern="0" dirty="0">
                <a:solidFill>
                  <a:schemeClr val="tx2"/>
                </a:solidFill>
              </a:rPr>
              <a:t>Экономика B2B-аренды GPU</a:t>
            </a:r>
            <a:endParaRPr lang="en-US" sz="2800" dirty="0"/>
          </a:p>
        </p:txBody>
      </p:sp>
      <p:sp>
        <p:nvSpPr>
          <p:cNvPr id="3" name="Text 1"/>
          <p:cNvSpPr txBox="1"/>
          <p:nvPr/>
        </p:nvSpPr>
        <p:spPr>
          <a:xfrm>
            <a:off x="812800" y="1338957"/>
            <a:ext cx="10718800" cy="304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ru-RU" altLang="en-US" sz="1600" b="1" dirty="0">
                <a:solidFill>
                  <a:schemeClr val="tx2"/>
                </a:solidFill>
                <a:latin typeface="+mn-lt" pitchFamily="34" charset="0"/>
                <a:ea typeface="+mn-lt" pitchFamily="34" charset="-122"/>
                <a:cs typeface="+mn-lt" pitchFamily="34" charset="-120"/>
              </a:rPr>
              <a:t>Базовая гипотеза: один оплаченный час — 35 ₽, без налогов и постоянных расходов</a:t>
            </a:r>
            <a:endParaRPr lang="en-US" sz="1600" dirty="0"/>
          </a:p>
        </p:txBody>
      </p:sp>
      <p:sp>
        <p:nvSpPr>
          <p:cNvPr id="4" name="Shape 2"/>
          <p:cNvSpPr/>
          <p:nvPr/>
        </p:nvSpPr>
        <p:spPr>
          <a:xfrm>
            <a:off x="812800" y="1717377"/>
            <a:ext cx="4629150" cy="457200"/>
          </a:xfrm>
          <a:prstGeom prst="roundRect">
            <a:avLst>
              <a:gd name="adj" fmla="val 22222"/>
            </a:avLst>
          </a:prstGeom>
          <a:solidFill>
            <a:schemeClr val="accent1"/>
          </a:solidFill>
          <a:ln/>
        </p:spPr>
      </p:sp>
      <p:sp>
        <p:nvSpPr>
          <p:cNvPr id="5" name="Text 3"/>
          <p:cNvSpPr txBox="1"/>
          <p:nvPr/>
        </p:nvSpPr>
        <p:spPr>
          <a:xfrm>
            <a:off x="990600" y="1812627"/>
            <a:ext cx="2204966" cy="2667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ru-RU" altLang="en-US" sz="1500" dirty="0">
                <a:solidFill>
                  <a:schemeClr val="tx2"/>
                </a:solidFill>
                <a:latin typeface="+mj-lt" pitchFamily="34" charset="0"/>
                <a:ea typeface="+mj-lt" pitchFamily="34" charset="-122"/>
                <a:cs typeface="+mj-lt" pitchFamily="34" charset="-120"/>
              </a:rPr>
              <a:t>15 ₽</a:t>
            </a:r>
            <a:pPr algn="l" indent="0" marL="0">
              <a:buNone/>
            </a:pPr>
            <a:r>
              <a:rPr lang="ru-RU" altLang="en-US" sz="1300" b="1" dirty="0">
                <a:solidFill>
                  <a:schemeClr val="tx2"/>
                </a:solidFill>
                <a:latin typeface="+mn-lt" pitchFamily="34" charset="0"/>
                <a:ea typeface="+mn-lt" pitchFamily="34" charset="-122"/>
                <a:cs typeface="+mn-lt" pitchFamily="34" charset="-120"/>
              </a:rPr>
              <a:t> партнёрской ферме</a:t>
            </a:r>
            <a:endParaRPr lang="en-US" sz="1500" dirty="0"/>
          </a:p>
        </p:txBody>
      </p:sp>
      <p:sp>
        <p:nvSpPr>
          <p:cNvPr id="6" name="Shape 4"/>
          <p:cNvSpPr/>
          <p:nvPr/>
        </p:nvSpPr>
        <p:spPr>
          <a:xfrm>
            <a:off x="6146800" y="1717377"/>
            <a:ext cx="5232400" cy="457200"/>
          </a:xfrm>
          <a:prstGeom prst="roundRect">
            <a:avLst>
              <a:gd name="adj" fmla="val 22222"/>
            </a:avLst>
          </a:prstGeom>
          <a:solidFill>
            <a:schemeClr val="tx1"/>
          </a:solidFill>
          <a:ln/>
        </p:spPr>
      </p:sp>
      <p:sp>
        <p:nvSpPr>
          <p:cNvPr id="7" name="Text 5"/>
          <p:cNvSpPr txBox="1"/>
          <p:nvPr/>
        </p:nvSpPr>
        <p:spPr>
          <a:xfrm>
            <a:off x="6426200" y="1812627"/>
            <a:ext cx="3609845" cy="2667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ru-RU" altLang="en-US" sz="1500" dirty="0">
                <a:solidFill>
                  <a:schemeClr val="accent1"/>
                </a:solidFill>
                <a:latin typeface="+mj-lt" pitchFamily="34" charset="0"/>
                <a:ea typeface="+mj-lt" pitchFamily="34" charset="-122"/>
                <a:cs typeface="+mj-lt" pitchFamily="34" charset="-120"/>
              </a:rPr>
              <a:t>17 ₽</a:t>
            </a:r>
            <a:pPr algn="l" indent="0" marL="0">
              <a:buNone/>
            </a:pPr>
            <a:r>
              <a:rPr lang="ru-RU" altLang="en-US" sz="1300" b="1" dirty="0">
                <a:solidFill>
                  <a:schemeClr val="accent1"/>
                </a:solidFill>
                <a:latin typeface="+mn-lt" pitchFamily="34" charset="0"/>
                <a:ea typeface="+mn-lt" pitchFamily="34" charset="-122"/>
                <a:cs typeface="+mn-lt" pitchFamily="34" charset="-120"/>
              </a:rPr>
              <a:t> — на постоянные расходы и прибыль</a:t>
            </a:r>
            <a:endParaRPr lang="en-US" sz="1500" dirty="0"/>
          </a:p>
        </p:txBody>
      </p:sp>
      <p:sp>
        <p:nvSpPr>
          <p:cNvPr id="8" name="Shape 6"/>
          <p:cNvSpPr/>
          <p:nvPr/>
        </p:nvSpPr>
        <p:spPr>
          <a:xfrm>
            <a:off x="5340350" y="1717377"/>
            <a:ext cx="908050" cy="457200"/>
          </a:xfrm>
          <a:prstGeom prst="rect">
            <a:avLst/>
          </a:prstGeom>
          <a:solidFill>
            <a:srgbClr val="E2D7C5"/>
          </a:solidFill>
          <a:ln/>
        </p:spPr>
      </p:sp>
      <p:sp>
        <p:nvSpPr>
          <p:cNvPr id="9" name="Text 7"/>
          <p:cNvSpPr txBox="1"/>
          <p:nvPr/>
        </p:nvSpPr>
        <p:spPr>
          <a:xfrm>
            <a:off x="5611217" y="1812627"/>
            <a:ext cx="417016" cy="2603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ru-RU" altLang="en-US" sz="1500" dirty="0">
                <a:solidFill>
                  <a:schemeClr val="tx2"/>
                </a:solidFill>
                <a:latin typeface="+mj-lt" pitchFamily="34" charset="0"/>
                <a:ea typeface="+mj-lt" pitchFamily="34" charset="-122"/>
                <a:cs typeface="+mj-lt" pitchFamily="34" charset="-120"/>
              </a:rPr>
              <a:t>3 ₽</a:t>
            </a:r>
            <a:endParaRPr lang="en-US" sz="1500" dirty="0"/>
          </a:p>
        </p:txBody>
      </p:sp>
      <p:sp>
        <p:nvSpPr>
          <p:cNvPr id="10" name="Text 8"/>
          <p:cNvSpPr txBox="1"/>
          <p:nvPr/>
        </p:nvSpPr>
        <p:spPr>
          <a:xfrm>
            <a:off x="812800" y="2276177"/>
            <a:ext cx="10718800" cy="41523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20"/>
              </a:lnSpc>
              <a:buNone/>
            </a:pPr>
            <a:r>
              <a:rPr lang="ru-RU" altLang="en-US" sz="1200" dirty="0">
                <a:solidFill>
                  <a:schemeClr val="accent6"/>
                </a:solidFill>
                <a:latin typeface="+mn-lt" pitchFamily="34" charset="0"/>
                <a:ea typeface="+mn-lt" pitchFamily="34" charset="-122"/>
                <a:cs typeface="+mn-lt" pitchFamily="34" charset="-120"/>
              </a:rPr>
              <a:t>15 ₽ — предполагаемая цена фермы за полноценную рабочую конфигурацию, а не только за видеокарту. 3 ₽ — условное допущение </a:t>
            </a:r>
            <a:br/>
            <a:pPr algn="l" indent="0" marL="0">
              <a:lnSpc>
                <a:spcPts val="1620"/>
              </a:lnSpc>
              <a:buNone/>
            </a:pPr>
            <a:r>
              <a:rPr lang="ru-RU" altLang="en-US" sz="1200" dirty="0">
                <a:solidFill>
                  <a:schemeClr val="accent6"/>
                </a:solidFill>
                <a:latin typeface="+mn-lt" pitchFamily="34" charset="0"/>
                <a:ea typeface="+mn-lt" pitchFamily="34" charset="-122"/>
                <a:cs typeface="+mn-lt" pitchFamily="34" charset="-120"/>
              </a:rPr>
              <a:t>по переменным расходам.</a:t>
            </a:r>
            <a:endParaRPr lang="en-US" sz="1200" dirty="0"/>
          </a:p>
        </p:txBody>
      </p:sp>
      <p:sp>
        <p:nvSpPr>
          <p:cNvPr id="11" name="Shape 9"/>
          <p:cNvSpPr/>
          <p:nvPr/>
        </p:nvSpPr>
        <p:spPr>
          <a:xfrm>
            <a:off x="815975" y="2851150"/>
            <a:ext cx="3418384" cy="2267942"/>
          </a:xfrm>
          <a:prstGeom prst="roundRect">
            <a:avLst>
              <a:gd name="adj" fmla="val 6720"/>
            </a:avLst>
          </a:prstGeom>
          <a:solidFill>
            <a:schemeClr val="bg2"/>
          </a:solidFill>
          <a:ln w="6350">
            <a:solidFill>
              <a:srgbClr val="E2D7C5"/>
            </a:solidFill>
            <a:prstDash val="solid"/>
          </a:ln>
        </p:spPr>
      </p:sp>
      <p:sp>
        <p:nvSpPr>
          <p:cNvPr id="12" name="Text 10"/>
          <p:cNvSpPr txBox="1"/>
          <p:nvPr/>
        </p:nvSpPr>
        <p:spPr>
          <a:xfrm>
            <a:off x="1022350" y="2981325"/>
            <a:ext cx="3095803" cy="254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ru-RU" altLang="en-US" sz="1300" b="1" dirty="0">
                <a:solidFill>
                  <a:schemeClr val="tx2"/>
                </a:solidFill>
                <a:latin typeface="+mn-lt" pitchFamily="34" charset="0"/>
                <a:ea typeface="+mn-lt" pitchFamily="34" charset="-122"/>
                <a:cs typeface="+mn-lt" pitchFamily="34" charset="-120"/>
              </a:rPr>
              <a:t>Сценарии ценовой конкуренции</a:t>
            </a:r>
            <a:endParaRPr lang="en-US" sz="1300" dirty="0"/>
          </a:p>
        </p:txBody>
      </p:sp>
      <p:sp>
        <p:nvSpPr>
          <p:cNvPr id="13" name="Text 11"/>
          <p:cNvSpPr txBox="1"/>
          <p:nvPr/>
        </p:nvSpPr>
        <p:spPr>
          <a:xfrm>
            <a:off x="1022350" y="3259435"/>
            <a:ext cx="802184" cy="2349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ru-RU" altLang="en-US" sz="1200" b="1" dirty="0">
                <a:solidFill>
                  <a:srgbClr val="6A5E4F"/>
                </a:solidFill>
                <a:latin typeface="+mn-lt" pitchFamily="34" charset="0"/>
                <a:ea typeface="+mn-lt" pitchFamily="34" charset="-122"/>
                <a:cs typeface="+mn-lt" pitchFamily="34" charset="-120"/>
              </a:rPr>
              <a:t>Клиенту</a:t>
            </a:r>
            <a:endParaRPr lang="en-US" sz="1200" dirty="0"/>
          </a:p>
        </p:txBody>
      </p:sp>
      <p:sp>
        <p:nvSpPr>
          <p:cNvPr id="14" name="Text 12"/>
          <p:cNvSpPr txBox="1"/>
          <p:nvPr/>
        </p:nvSpPr>
        <p:spPr>
          <a:xfrm>
            <a:off x="1773734" y="3259435"/>
            <a:ext cx="802184" cy="2349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ru-RU" altLang="en-US" sz="1200" b="1" dirty="0">
                <a:solidFill>
                  <a:srgbClr val="6A5E4F"/>
                </a:solidFill>
                <a:latin typeface="+mn-lt" pitchFamily="34" charset="0"/>
                <a:ea typeface="+mn-lt" pitchFamily="34" charset="-122"/>
                <a:cs typeface="+mn-lt" pitchFamily="34" charset="-120"/>
              </a:rPr>
              <a:t>Ферме</a:t>
            </a:r>
            <a:endParaRPr lang="en-US" sz="1200" dirty="0"/>
          </a:p>
        </p:txBody>
      </p:sp>
      <p:sp>
        <p:nvSpPr>
          <p:cNvPr id="15" name="Text 13"/>
          <p:cNvSpPr txBox="1"/>
          <p:nvPr/>
        </p:nvSpPr>
        <p:spPr>
          <a:xfrm>
            <a:off x="2525117" y="3259435"/>
            <a:ext cx="802184" cy="2349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ru-RU" altLang="en-US" sz="1200" b="1" dirty="0">
                <a:solidFill>
                  <a:srgbClr val="6A5E4F"/>
                </a:solidFill>
                <a:latin typeface="+mn-lt" pitchFamily="34" charset="0"/>
                <a:ea typeface="+mn-lt" pitchFamily="34" charset="-122"/>
                <a:cs typeface="+mn-lt" pitchFamily="34" charset="-120"/>
              </a:rPr>
              <a:t>Расходы</a:t>
            </a:r>
            <a:endParaRPr lang="en-US" sz="1200" dirty="0"/>
          </a:p>
        </p:txBody>
      </p:sp>
      <p:sp>
        <p:nvSpPr>
          <p:cNvPr id="16" name="Text 14"/>
          <p:cNvSpPr txBox="1"/>
          <p:nvPr/>
        </p:nvSpPr>
        <p:spPr>
          <a:xfrm>
            <a:off x="3276501" y="3259435"/>
            <a:ext cx="802184" cy="2349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ru-RU" altLang="en-US" sz="1200" b="1" dirty="0">
                <a:solidFill>
                  <a:srgbClr val="6A5E4F"/>
                </a:solidFill>
                <a:latin typeface="+mn-lt" pitchFamily="34" charset="0"/>
                <a:ea typeface="+mn-lt" pitchFamily="34" charset="-122"/>
                <a:cs typeface="+mn-lt" pitchFamily="34" charset="-120"/>
              </a:rPr>
              <a:t>Остаток</a:t>
            </a:r>
            <a:endParaRPr lang="en-US" sz="1200" dirty="0"/>
          </a:p>
        </p:txBody>
      </p:sp>
      <p:sp>
        <p:nvSpPr>
          <p:cNvPr id="17" name="Shape 15"/>
          <p:cNvSpPr/>
          <p:nvPr/>
        </p:nvSpPr>
        <p:spPr>
          <a:xfrm>
            <a:off x="1022350" y="3529310"/>
            <a:ext cx="3005634" cy="0"/>
          </a:xfrm>
          <a:prstGeom prst="line">
            <a:avLst/>
          </a:prstGeom>
          <a:noFill/>
          <a:ln w="6350">
            <a:solidFill>
              <a:srgbClr val="E2D7C5"/>
            </a:solidFill>
            <a:prstDash val="solid"/>
          </a:ln>
        </p:spPr>
      </p:sp>
      <p:sp>
        <p:nvSpPr>
          <p:cNvPr id="18" name="Text 16"/>
          <p:cNvSpPr txBox="1"/>
          <p:nvPr/>
        </p:nvSpPr>
        <p:spPr>
          <a:xfrm>
            <a:off x="1022350" y="3564235"/>
            <a:ext cx="802184" cy="2667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ru-RU" altLang="en-US" sz="1400" b="1" dirty="0">
                <a:solidFill>
                  <a:schemeClr val="tx2"/>
                </a:solidFill>
                <a:latin typeface="+mn-lt" pitchFamily="34" charset="0"/>
                <a:ea typeface="+mn-lt" pitchFamily="34" charset="-122"/>
                <a:cs typeface="+mn-lt" pitchFamily="34" charset="-120"/>
              </a:rPr>
              <a:t>25 ₽</a:t>
            </a:r>
            <a:endParaRPr lang="en-US" sz="1400" dirty="0"/>
          </a:p>
        </p:txBody>
      </p:sp>
      <p:sp>
        <p:nvSpPr>
          <p:cNvPr id="19" name="Text 17"/>
          <p:cNvSpPr txBox="1"/>
          <p:nvPr/>
        </p:nvSpPr>
        <p:spPr>
          <a:xfrm>
            <a:off x="1773734" y="3564235"/>
            <a:ext cx="802184" cy="2667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ru-RU" altLang="en-US" sz="1400" b="1" dirty="0">
                <a:solidFill>
                  <a:schemeClr val="tx2"/>
                </a:solidFill>
                <a:latin typeface="+mn-lt" pitchFamily="34" charset="0"/>
                <a:ea typeface="+mn-lt" pitchFamily="34" charset="-122"/>
                <a:cs typeface="+mn-lt" pitchFamily="34" charset="-120"/>
              </a:rPr>
              <a:t>15 ₽</a:t>
            </a:r>
            <a:endParaRPr lang="en-US" sz="1400" dirty="0"/>
          </a:p>
        </p:txBody>
      </p:sp>
      <p:sp>
        <p:nvSpPr>
          <p:cNvPr id="20" name="Text 18"/>
          <p:cNvSpPr txBox="1"/>
          <p:nvPr/>
        </p:nvSpPr>
        <p:spPr>
          <a:xfrm>
            <a:off x="2525117" y="3564235"/>
            <a:ext cx="802184" cy="2667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ru-RU" altLang="en-US" sz="1400" b="1" dirty="0">
                <a:solidFill>
                  <a:schemeClr val="tx2"/>
                </a:solidFill>
                <a:latin typeface="+mn-lt" pitchFamily="34" charset="0"/>
                <a:ea typeface="+mn-lt" pitchFamily="34" charset="-122"/>
                <a:cs typeface="+mn-lt" pitchFamily="34" charset="-120"/>
              </a:rPr>
              <a:t>3 ₽</a:t>
            </a:r>
            <a:endParaRPr lang="en-US" sz="1400" dirty="0"/>
          </a:p>
        </p:txBody>
      </p:sp>
      <p:sp>
        <p:nvSpPr>
          <p:cNvPr id="21" name="Text 19"/>
          <p:cNvSpPr txBox="1"/>
          <p:nvPr/>
        </p:nvSpPr>
        <p:spPr>
          <a:xfrm>
            <a:off x="3276501" y="3564235"/>
            <a:ext cx="802184" cy="2667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ru-RU" altLang="en-US" sz="1400" b="1" dirty="0">
                <a:solidFill>
                  <a:schemeClr val="tx2"/>
                </a:solidFill>
                <a:latin typeface="+mn-lt" pitchFamily="34" charset="0"/>
                <a:ea typeface="+mn-lt" pitchFamily="34" charset="-122"/>
                <a:cs typeface="+mn-lt" pitchFamily="34" charset="-120"/>
              </a:rPr>
              <a:t>7 ₽</a:t>
            </a:r>
            <a:endParaRPr lang="en-US" sz="1400" dirty="0"/>
          </a:p>
        </p:txBody>
      </p:sp>
      <p:sp>
        <p:nvSpPr>
          <p:cNvPr id="22" name="Shape 20"/>
          <p:cNvSpPr/>
          <p:nvPr/>
        </p:nvSpPr>
        <p:spPr>
          <a:xfrm>
            <a:off x="1022350" y="3868341"/>
            <a:ext cx="3005634" cy="0"/>
          </a:xfrm>
          <a:prstGeom prst="line">
            <a:avLst/>
          </a:prstGeom>
          <a:noFill/>
          <a:ln w="6350">
            <a:solidFill>
              <a:srgbClr val="E2D7C5"/>
            </a:solidFill>
            <a:prstDash val="solid"/>
          </a:ln>
        </p:spPr>
      </p:sp>
      <p:sp>
        <p:nvSpPr>
          <p:cNvPr id="23" name="Text 21"/>
          <p:cNvSpPr txBox="1"/>
          <p:nvPr/>
        </p:nvSpPr>
        <p:spPr>
          <a:xfrm>
            <a:off x="1022350" y="3903266"/>
            <a:ext cx="802184" cy="2667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ru-RU" altLang="en-US" sz="1400" b="1" dirty="0">
                <a:solidFill>
                  <a:schemeClr val="tx2"/>
                </a:solidFill>
                <a:latin typeface="+mn-lt" pitchFamily="34" charset="0"/>
                <a:ea typeface="+mn-lt" pitchFamily="34" charset="-122"/>
                <a:cs typeface="+mn-lt" pitchFamily="34" charset="-120"/>
              </a:rPr>
              <a:t>30 ₽</a:t>
            </a:r>
            <a:endParaRPr lang="en-US" sz="1400" dirty="0"/>
          </a:p>
        </p:txBody>
      </p:sp>
      <p:sp>
        <p:nvSpPr>
          <p:cNvPr id="24" name="Text 22"/>
          <p:cNvSpPr txBox="1"/>
          <p:nvPr/>
        </p:nvSpPr>
        <p:spPr>
          <a:xfrm>
            <a:off x="1773734" y="3903266"/>
            <a:ext cx="802184" cy="2667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ru-RU" altLang="en-US" sz="1400" b="1" dirty="0">
                <a:solidFill>
                  <a:schemeClr val="tx2"/>
                </a:solidFill>
                <a:latin typeface="+mn-lt" pitchFamily="34" charset="0"/>
                <a:ea typeface="+mn-lt" pitchFamily="34" charset="-122"/>
                <a:cs typeface="+mn-lt" pitchFamily="34" charset="-120"/>
              </a:rPr>
              <a:t>15 ₽</a:t>
            </a:r>
            <a:endParaRPr lang="en-US" sz="1400" dirty="0"/>
          </a:p>
        </p:txBody>
      </p:sp>
      <p:sp>
        <p:nvSpPr>
          <p:cNvPr id="25" name="Text 23"/>
          <p:cNvSpPr txBox="1"/>
          <p:nvPr/>
        </p:nvSpPr>
        <p:spPr>
          <a:xfrm>
            <a:off x="2525117" y="3903266"/>
            <a:ext cx="802184" cy="2667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ru-RU" altLang="en-US" sz="1400" b="1" dirty="0">
                <a:solidFill>
                  <a:schemeClr val="tx2"/>
                </a:solidFill>
                <a:latin typeface="+mn-lt" pitchFamily="34" charset="0"/>
                <a:ea typeface="+mn-lt" pitchFamily="34" charset="-122"/>
                <a:cs typeface="+mn-lt" pitchFamily="34" charset="-120"/>
              </a:rPr>
              <a:t>3 ₽</a:t>
            </a:r>
            <a:endParaRPr lang="en-US" sz="1400" dirty="0"/>
          </a:p>
        </p:txBody>
      </p:sp>
      <p:sp>
        <p:nvSpPr>
          <p:cNvPr id="26" name="Text 24"/>
          <p:cNvSpPr txBox="1"/>
          <p:nvPr/>
        </p:nvSpPr>
        <p:spPr>
          <a:xfrm>
            <a:off x="3276501" y="3903266"/>
            <a:ext cx="802184" cy="2667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ru-RU" altLang="en-US" sz="1400" b="1" dirty="0">
                <a:solidFill>
                  <a:schemeClr val="tx2"/>
                </a:solidFill>
                <a:latin typeface="+mn-lt" pitchFamily="34" charset="0"/>
                <a:ea typeface="+mn-lt" pitchFamily="34" charset="-122"/>
                <a:cs typeface="+mn-lt" pitchFamily="34" charset="-120"/>
              </a:rPr>
              <a:t>12 ₽</a:t>
            </a:r>
            <a:endParaRPr lang="en-US" sz="1400" dirty="0"/>
          </a:p>
        </p:txBody>
      </p:sp>
      <p:sp>
        <p:nvSpPr>
          <p:cNvPr id="27" name="Shape 25"/>
          <p:cNvSpPr/>
          <p:nvPr/>
        </p:nvSpPr>
        <p:spPr>
          <a:xfrm>
            <a:off x="1022350" y="4207371"/>
            <a:ext cx="3005634" cy="0"/>
          </a:xfrm>
          <a:prstGeom prst="line">
            <a:avLst/>
          </a:prstGeom>
          <a:noFill/>
          <a:ln w="6350">
            <a:solidFill>
              <a:srgbClr val="E2D7C5"/>
            </a:solidFill>
            <a:prstDash val="solid"/>
          </a:ln>
        </p:spPr>
      </p:sp>
      <p:sp>
        <p:nvSpPr>
          <p:cNvPr id="28" name="Text 26"/>
          <p:cNvSpPr txBox="1"/>
          <p:nvPr/>
        </p:nvSpPr>
        <p:spPr>
          <a:xfrm>
            <a:off x="1022350" y="4242296"/>
            <a:ext cx="802184" cy="2667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ru-RU" altLang="en-US" sz="1400" b="1" dirty="0">
                <a:solidFill>
                  <a:schemeClr val="accent2"/>
                </a:solidFill>
                <a:latin typeface="+mn-lt" pitchFamily="34" charset="0"/>
                <a:ea typeface="+mn-lt" pitchFamily="34" charset="-122"/>
                <a:cs typeface="+mn-lt" pitchFamily="34" charset="-120"/>
              </a:rPr>
              <a:t>35 ₽</a:t>
            </a:r>
            <a:endParaRPr lang="en-US" sz="1400" dirty="0"/>
          </a:p>
        </p:txBody>
      </p:sp>
      <p:sp>
        <p:nvSpPr>
          <p:cNvPr id="29" name="Text 27"/>
          <p:cNvSpPr txBox="1"/>
          <p:nvPr/>
        </p:nvSpPr>
        <p:spPr>
          <a:xfrm>
            <a:off x="1773734" y="4242296"/>
            <a:ext cx="802184" cy="2667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ru-RU" altLang="en-US" sz="1400" b="1" dirty="0">
                <a:solidFill>
                  <a:schemeClr val="accent2"/>
                </a:solidFill>
                <a:latin typeface="+mn-lt" pitchFamily="34" charset="0"/>
                <a:ea typeface="+mn-lt" pitchFamily="34" charset="-122"/>
                <a:cs typeface="+mn-lt" pitchFamily="34" charset="-120"/>
              </a:rPr>
              <a:t>15 ₽</a:t>
            </a:r>
            <a:endParaRPr lang="en-US" sz="1400" dirty="0"/>
          </a:p>
        </p:txBody>
      </p:sp>
      <p:sp>
        <p:nvSpPr>
          <p:cNvPr id="30" name="Text 28"/>
          <p:cNvSpPr txBox="1"/>
          <p:nvPr/>
        </p:nvSpPr>
        <p:spPr>
          <a:xfrm>
            <a:off x="2525117" y="4242296"/>
            <a:ext cx="802184" cy="2667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ru-RU" altLang="en-US" sz="1400" b="1" dirty="0">
                <a:solidFill>
                  <a:schemeClr val="accent2"/>
                </a:solidFill>
                <a:latin typeface="+mn-lt" pitchFamily="34" charset="0"/>
                <a:ea typeface="+mn-lt" pitchFamily="34" charset="-122"/>
                <a:cs typeface="+mn-lt" pitchFamily="34" charset="-120"/>
              </a:rPr>
              <a:t>3 ₽</a:t>
            </a:r>
            <a:endParaRPr lang="en-US" sz="1400" dirty="0"/>
          </a:p>
        </p:txBody>
      </p:sp>
      <p:sp>
        <p:nvSpPr>
          <p:cNvPr id="31" name="Text 29"/>
          <p:cNvSpPr txBox="1"/>
          <p:nvPr/>
        </p:nvSpPr>
        <p:spPr>
          <a:xfrm>
            <a:off x="3276501" y="4242296"/>
            <a:ext cx="802184" cy="2667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ru-RU" altLang="en-US" sz="1400" b="1" dirty="0">
                <a:solidFill>
                  <a:schemeClr val="accent2"/>
                </a:solidFill>
                <a:latin typeface="+mn-lt" pitchFamily="34" charset="0"/>
                <a:ea typeface="+mn-lt" pitchFamily="34" charset="-122"/>
                <a:cs typeface="+mn-lt" pitchFamily="34" charset="-120"/>
              </a:rPr>
              <a:t>17 ₽</a:t>
            </a:r>
            <a:endParaRPr lang="en-US" sz="1400" dirty="0"/>
          </a:p>
        </p:txBody>
      </p:sp>
      <p:sp>
        <p:nvSpPr>
          <p:cNvPr id="32" name="Text 30"/>
          <p:cNvSpPr txBox="1"/>
          <p:nvPr/>
        </p:nvSpPr>
        <p:spPr>
          <a:xfrm>
            <a:off x="1022350" y="4746427"/>
            <a:ext cx="3095803" cy="2349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ru-RU" altLang="en-US" sz="1200" dirty="0">
                <a:solidFill>
                  <a:srgbClr val="6A5E4F"/>
                </a:solidFill>
                <a:latin typeface="+mn-lt" pitchFamily="34" charset="0"/>
                <a:ea typeface="+mn-lt" pitchFamily="34" charset="-122"/>
                <a:cs typeface="+mn-lt" pitchFamily="34" charset="-120"/>
              </a:rPr>
              <a:t>Все значения — гипотезы</a:t>
            </a:r>
            <a:endParaRPr lang="en-US" sz="1200" dirty="0"/>
          </a:p>
        </p:txBody>
      </p:sp>
      <p:sp>
        <p:nvSpPr>
          <p:cNvPr id="33" name="Shape 31"/>
          <p:cNvSpPr/>
          <p:nvPr/>
        </p:nvSpPr>
        <p:spPr>
          <a:xfrm>
            <a:off x="4393109" y="2851150"/>
            <a:ext cx="3418384" cy="2267942"/>
          </a:xfrm>
          <a:prstGeom prst="roundRect">
            <a:avLst>
              <a:gd name="adj" fmla="val 6720"/>
            </a:avLst>
          </a:prstGeom>
          <a:solidFill>
            <a:schemeClr val="bg2"/>
          </a:solidFill>
          <a:ln w="6350">
            <a:solidFill>
              <a:srgbClr val="E2D7C5"/>
            </a:solidFill>
            <a:prstDash val="solid"/>
          </a:ln>
        </p:spPr>
      </p:sp>
      <p:sp>
        <p:nvSpPr>
          <p:cNvPr id="34" name="Text 32"/>
          <p:cNvSpPr txBox="1"/>
          <p:nvPr/>
        </p:nvSpPr>
        <p:spPr>
          <a:xfrm>
            <a:off x="4599484" y="2981325"/>
            <a:ext cx="3095803" cy="254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ru-RU" altLang="en-US" sz="1300" b="1" dirty="0">
                <a:solidFill>
                  <a:schemeClr val="tx2"/>
                </a:solidFill>
                <a:latin typeface="+mn-lt" pitchFamily="34" charset="0"/>
                <a:ea typeface="+mn-lt" pitchFamily="34" charset="-122"/>
                <a:cs typeface="+mn-lt" pitchFamily="34" charset="-120"/>
              </a:rPr>
              <a:t>Один заказ: 100 GPU-часов по 35 ₽</a:t>
            </a:r>
            <a:endParaRPr lang="en-US" sz="1300" dirty="0"/>
          </a:p>
        </p:txBody>
      </p:sp>
      <p:sp>
        <p:nvSpPr>
          <p:cNvPr id="35" name="Shape 33"/>
          <p:cNvSpPr/>
          <p:nvPr/>
        </p:nvSpPr>
        <p:spPr>
          <a:xfrm>
            <a:off x="4599484" y="3288010"/>
            <a:ext cx="3005634" cy="0"/>
          </a:xfrm>
          <a:prstGeom prst="line">
            <a:avLst/>
          </a:prstGeom>
          <a:noFill/>
          <a:ln w="6350">
            <a:solidFill>
              <a:srgbClr val="E2D7C5"/>
            </a:solidFill>
            <a:prstDash val="solid"/>
          </a:ln>
        </p:spPr>
      </p:sp>
      <p:sp>
        <p:nvSpPr>
          <p:cNvPr id="36" name="Text 34"/>
          <p:cNvSpPr txBox="1"/>
          <p:nvPr/>
        </p:nvSpPr>
        <p:spPr>
          <a:xfrm>
            <a:off x="4599484" y="3310235"/>
            <a:ext cx="657126" cy="2349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ru-RU" altLang="en-US" sz="1200" dirty="0">
                <a:solidFill>
                  <a:schemeClr val="accent6"/>
                </a:solidFill>
                <a:latin typeface="+mn-lt" pitchFamily="34" charset="0"/>
                <a:ea typeface="+mn-lt" pitchFamily="34" charset="-122"/>
                <a:cs typeface="+mn-lt" pitchFamily="34" charset="-120"/>
              </a:rPr>
              <a:t>Выручка</a:t>
            </a:r>
            <a:endParaRPr lang="en-US" sz="1200" dirty="0"/>
          </a:p>
        </p:txBody>
      </p:sp>
      <p:sp>
        <p:nvSpPr>
          <p:cNvPr id="37" name="Text 35"/>
          <p:cNvSpPr txBox="1"/>
          <p:nvPr/>
        </p:nvSpPr>
        <p:spPr>
          <a:xfrm>
            <a:off x="7015956" y="3303885"/>
            <a:ext cx="639961" cy="254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ru-RU" altLang="en-US" sz="1300" b="1" dirty="0">
                <a:solidFill>
                  <a:schemeClr val="tx2"/>
                </a:solidFill>
                <a:latin typeface="+mn-lt" pitchFamily="34" charset="0"/>
                <a:ea typeface="+mn-lt" pitchFamily="34" charset="-122"/>
                <a:cs typeface="+mn-lt" pitchFamily="34" charset="-120"/>
              </a:rPr>
              <a:t>3 500 ₽</a:t>
            </a:r>
            <a:endParaRPr lang="en-US" sz="1300" dirty="0"/>
          </a:p>
        </p:txBody>
      </p:sp>
      <p:sp>
        <p:nvSpPr>
          <p:cNvPr id="38" name="Shape 36"/>
          <p:cNvSpPr/>
          <p:nvPr/>
        </p:nvSpPr>
        <p:spPr>
          <a:xfrm>
            <a:off x="4599484" y="3585170"/>
            <a:ext cx="3005634" cy="0"/>
          </a:xfrm>
          <a:prstGeom prst="line">
            <a:avLst/>
          </a:prstGeom>
          <a:noFill/>
          <a:ln w="6350">
            <a:solidFill>
              <a:srgbClr val="E2D7C5"/>
            </a:solidFill>
            <a:prstDash val="solid"/>
          </a:ln>
        </p:spPr>
      </p:sp>
      <p:sp>
        <p:nvSpPr>
          <p:cNvPr id="39" name="Text 37"/>
          <p:cNvSpPr txBox="1"/>
          <p:nvPr/>
        </p:nvSpPr>
        <p:spPr>
          <a:xfrm>
            <a:off x="4599484" y="3607395"/>
            <a:ext cx="532904" cy="2349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ru-RU" altLang="en-US" sz="1200" dirty="0">
                <a:solidFill>
                  <a:schemeClr val="accent6"/>
                </a:solidFill>
                <a:latin typeface="+mn-lt" pitchFamily="34" charset="0"/>
                <a:ea typeface="+mn-lt" pitchFamily="34" charset="-122"/>
                <a:cs typeface="+mn-lt" pitchFamily="34" charset="-120"/>
              </a:rPr>
              <a:t>Ферме</a:t>
            </a:r>
            <a:endParaRPr lang="en-US" sz="1200" dirty="0"/>
          </a:p>
        </p:txBody>
      </p:sp>
      <p:sp>
        <p:nvSpPr>
          <p:cNvPr id="40" name="Text 38"/>
          <p:cNvSpPr txBox="1"/>
          <p:nvPr/>
        </p:nvSpPr>
        <p:spPr>
          <a:xfrm>
            <a:off x="6950472" y="3601045"/>
            <a:ext cx="705445" cy="254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ru-RU" altLang="en-US" sz="1300" b="1" dirty="0">
                <a:solidFill>
                  <a:schemeClr val="tx2"/>
                </a:solidFill>
                <a:latin typeface="+mn-lt" pitchFamily="34" charset="0"/>
                <a:ea typeface="+mn-lt" pitchFamily="34" charset="-122"/>
                <a:cs typeface="+mn-lt" pitchFamily="34" charset="-120"/>
              </a:rPr>
              <a:t>−1 500 ₽</a:t>
            </a:r>
            <a:endParaRPr lang="en-US" sz="1300" dirty="0"/>
          </a:p>
        </p:txBody>
      </p:sp>
      <p:sp>
        <p:nvSpPr>
          <p:cNvPr id="41" name="Shape 39"/>
          <p:cNvSpPr/>
          <p:nvPr/>
        </p:nvSpPr>
        <p:spPr>
          <a:xfrm>
            <a:off x="4599484" y="3882330"/>
            <a:ext cx="3005634" cy="0"/>
          </a:xfrm>
          <a:prstGeom prst="line">
            <a:avLst/>
          </a:prstGeom>
          <a:noFill/>
          <a:ln w="6350">
            <a:solidFill>
              <a:srgbClr val="E2D7C5"/>
            </a:solidFill>
            <a:prstDash val="solid"/>
          </a:ln>
        </p:spPr>
      </p:sp>
      <p:sp>
        <p:nvSpPr>
          <p:cNvPr id="42" name="Text 40"/>
          <p:cNvSpPr txBox="1"/>
          <p:nvPr/>
        </p:nvSpPr>
        <p:spPr>
          <a:xfrm>
            <a:off x="4599484" y="3904555"/>
            <a:ext cx="1406823" cy="2349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ru-RU" altLang="en-US" sz="1200" dirty="0">
                <a:solidFill>
                  <a:schemeClr val="accent6"/>
                </a:solidFill>
                <a:latin typeface="+mn-lt" pitchFamily="34" charset="0"/>
                <a:ea typeface="+mn-lt" pitchFamily="34" charset="-122"/>
                <a:cs typeface="+mn-lt" pitchFamily="34" charset="-120"/>
              </a:rPr>
              <a:t>Условные расходы</a:t>
            </a:r>
            <a:endParaRPr lang="en-US" sz="1200" dirty="0"/>
          </a:p>
        </p:txBody>
      </p:sp>
      <p:sp>
        <p:nvSpPr>
          <p:cNvPr id="43" name="Text 41"/>
          <p:cNvSpPr txBox="1"/>
          <p:nvPr/>
        </p:nvSpPr>
        <p:spPr>
          <a:xfrm>
            <a:off x="7056537" y="3898205"/>
            <a:ext cx="599380" cy="254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ru-RU" altLang="en-US" sz="1300" b="1" dirty="0">
                <a:solidFill>
                  <a:schemeClr val="tx2"/>
                </a:solidFill>
                <a:latin typeface="+mn-lt" pitchFamily="34" charset="0"/>
                <a:ea typeface="+mn-lt" pitchFamily="34" charset="-122"/>
                <a:cs typeface="+mn-lt" pitchFamily="34" charset="-120"/>
              </a:rPr>
              <a:t>−300 ₽</a:t>
            </a:r>
            <a:endParaRPr lang="en-US" sz="1300" dirty="0"/>
          </a:p>
        </p:txBody>
      </p:sp>
      <p:sp>
        <p:nvSpPr>
          <p:cNvPr id="44" name="Shape 42"/>
          <p:cNvSpPr/>
          <p:nvPr/>
        </p:nvSpPr>
        <p:spPr>
          <a:xfrm>
            <a:off x="4599484" y="4182666"/>
            <a:ext cx="3005634" cy="0"/>
          </a:xfrm>
          <a:prstGeom prst="line">
            <a:avLst/>
          </a:prstGeom>
          <a:noFill/>
          <a:ln w="12700">
            <a:solidFill>
              <a:srgbClr val="E2D7C5"/>
            </a:solidFill>
            <a:prstDash val="solid"/>
          </a:ln>
        </p:spPr>
      </p:sp>
      <p:sp>
        <p:nvSpPr>
          <p:cNvPr id="45" name="Text 43"/>
          <p:cNvSpPr txBox="1"/>
          <p:nvPr/>
        </p:nvSpPr>
        <p:spPr>
          <a:xfrm>
            <a:off x="4599484" y="4284266"/>
            <a:ext cx="674787" cy="2349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ru-RU" altLang="en-US" sz="1200" b="1" dirty="0">
                <a:solidFill>
                  <a:schemeClr val="tx2"/>
                </a:solidFill>
                <a:latin typeface="+mn-lt" pitchFamily="34" charset="0"/>
                <a:ea typeface="+mn-lt" pitchFamily="34" charset="-122"/>
                <a:cs typeface="+mn-lt" pitchFamily="34" charset="-120"/>
              </a:rPr>
              <a:t>Остаток</a:t>
            </a:r>
            <a:endParaRPr lang="en-US" sz="1200" dirty="0"/>
          </a:p>
        </p:txBody>
      </p:sp>
      <p:sp>
        <p:nvSpPr>
          <p:cNvPr id="46" name="Text 44"/>
          <p:cNvSpPr txBox="1"/>
          <p:nvPr/>
        </p:nvSpPr>
        <p:spPr>
          <a:xfrm>
            <a:off x="6639520" y="4220766"/>
            <a:ext cx="1016397" cy="3111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ru-RU" altLang="en-US" sz="1800" spc="-50" kern="0" dirty="0">
                <a:solidFill>
                  <a:schemeClr val="accent2"/>
                </a:solidFill>
                <a:latin typeface="+mj-lt" pitchFamily="34" charset="0"/>
                <a:ea typeface="+mj-lt" pitchFamily="34" charset="-122"/>
                <a:cs typeface="+mj-lt" pitchFamily="34" charset="-120"/>
              </a:rPr>
              <a:t>1 700 ₽</a:t>
            </a:r>
            <a:endParaRPr lang="en-US" sz="1800" dirty="0"/>
          </a:p>
        </p:txBody>
      </p:sp>
      <p:sp>
        <p:nvSpPr>
          <p:cNvPr id="47" name="Text 45"/>
          <p:cNvSpPr txBox="1"/>
          <p:nvPr/>
        </p:nvSpPr>
        <p:spPr>
          <a:xfrm>
            <a:off x="4599484" y="4567436"/>
            <a:ext cx="3095803" cy="40759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560"/>
              </a:lnSpc>
              <a:buNone/>
            </a:pPr>
            <a:r>
              <a:rPr lang="ru-RU" altLang="en-US" sz="1200" dirty="0">
                <a:solidFill>
                  <a:srgbClr val="6A5E4F"/>
                </a:solidFill>
                <a:latin typeface="+mn-lt" pitchFamily="34" charset="0"/>
                <a:ea typeface="+mn-lt" pitchFamily="34" charset="-122"/>
                <a:cs typeface="+mn-lt" pitchFamily="34" charset="-120"/>
              </a:rPr>
              <a:t>до налогов и постоянных расходов — </a:t>
            </a:r>
            <a:br/>
            <a:pPr algn="l" indent="0" marL="0">
              <a:lnSpc>
                <a:spcPts val="1560"/>
              </a:lnSpc>
              <a:buNone/>
            </a:pPr>
            <a:r>
              <a:rPr lang="ru-RU" altLang="en-US" sz="1200" dirty="0">
                <a:solidFill>
                  <a:srgbClr val="6A5E4F"/>
                </a:solidFill>
                <a:latin typeface="+mn-lt" pitchFamily="34" charset="0"/>
                <a:ea typeface="+mn-lt" pitchFamily="34" charset="-122"/>
                <a:cs typeface="+mn-lt" pitchFamily="34" charset="-120"/>
              </a:rPr>
              <a:t>не чистая прибыль</a:t>
            </a:r>
            <a:endParaRPr lang="en-US" sz="1200" dirty="0"/>
          </a:p>
        </p:txBody>
      </p:sp>
      <p:sp>
        <p:nvSpPr>
          <p:cNvPr id="48" name="Shape 46"/>
          <p:cNvSpPr/>
          <p:nvPr/>
        </p:nvSpPr>
        <p:spPr>
          <a:xfrm>
            <a:off x="7967067" y="2847975"/>
            <a:ext cx="3412034" cy="2274292"/>
          </a:xfrm>
          <a:prstGeom prst="roundRect">
            <a:avLst>
              <a:gd name="adj" fmla="val 6701"/>
            </a:avLst>
          </a:prstGeom>
          <a:solidFill>
            <a:schemeClr val="tx1"/>
          </a:solidFill>
          <a:ln/>
        </p:spPr>
      </p:sp>
      <p:sp>
        <p:nvSpPr>
          <p:cNvPr id="49" name="Text 47"/>
          <p:cNvSpPr txBox="1"/>
          <p:nvPr/>
        </p:nvSpPr>
        <p:spPr>
          <a:xfrm>
            <a:off x="8170267" y="2974975"/>
            <a:ext cx="3095803" cy="254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ru-RU" altLang="en-US" sz="1300" b="1" dirty="0">
                <a:solidFill>
                  <a:schemeClr val="accent1"/>
                </a:solidFill>
                <a:latin typeface="+mn-lt" pitchFamily="34" charset="0"/>
                <a:ea typeface="+mn-lt" pitchFamily="34" charset="-122"/>
                <a:cs typeface="+mn-lt" pitchFamily="34" charset="-120"/>
              </a:rPr>
              <a:t>Объём продаж</a:t>
            </a:r>
            <a:endParaRPr lang="en-US" sz="1300" dirty="0"/>
          </a:p>
        </p:txBody>
      </p:sp>
      <p:sp>
        <p:nvSpPr>
          <p:cNvPr id="50" name="Text 48"/>
          <p:cNvSpPr txBox="1"/>
          <p:nvPr/>
        </p:nvSpPr>
        <p:spPr>
          <a:xfrm>
            <a:off x="8170267" y="3240385"/>
            <a:ext cx="3095803" cy="406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ru-RU" altLang="en-US" sz="2400" spc="-100" kern="0" dirty="0">
                <a:solidFill>
                  <a:schemeClr val="bg1"/>
                </a:solidFill>
                <a:latin typeface="+mj-lt" pitchFamily="34" charset="0"/>
                <a:ea typeface="+mj-lt" pitchFamily="34" charset="-122"/>
                <a:cs typeface="+mj-lt" pitchFamily="34" charset="-120"/>
              </a:rPr>
              <a:t>≈14,7 тыс. ч</a:t>
            </a:r>
            <a:endParaRPr lang="en-US" sz="2400" dirty="0"/>
          </a:p>
        </p:txBody>
      </p:sp>
      <p:sp>
        <p:nvSpPr>
          <p:cNvPr id="51" name="Text 49"/>
          <p:cNvSpPr txBox="1"/>
          <p:nvPr/>
        </p:nvSpPr>
        <p:spPr>
          <a:xfrm>
            <a:off x="8170267" y="3677245"/>
            <a:ext cx="3095803" cy="41523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20"/>
              </a:lnSpc>
              <a:buNone/>
            </a:pPr>
            <a:r>
              <a:rPr lang="ru-RU" altLang="en-US" sz="1200" dirty="0">
                <a:solidFill>
                  <a:schemeClr val="bg1"/>
                </a:solidFill>
                <a:latin typeface="+mn-lt" pitchFamily="34" charset="0"/>
                <a:ea typeface="+mn-lt" pitchFamily="34" charset="-122"/>
                <a:cs typeface="+mn-lt" pitchFamily="34" charset="-120"/>
              </a:rPr>
              <a:t>в месяц покрыли бы 250 тыс. ₽ </a:t>
            </a:r>
            <a:br/>
            <a:pPr algn="l" indent="0" marL="0">
              <a:lnSpc>
                <a:spcPts val="1620"/>
              </a:lnSpc>
              <a:buNone/>
            </a:pPr>
            <a:r>
              <a:rPr lang="ru-RU" altLang="en-US" sz="1200" dirty="0">
                <a:solidFill>
                  <a:schemeClr val="bg1"/>
                </a:solidFill>
                <a:latin typeface="+mn-lt" pitchFamily="34" charset="0"/>
                <a:ea typeface="+mn-lt" pitchFamily="34" charset="-122"/>
                <a:cs typeface="+mn-lt" pitchFamily="34" charset="-120"/>
              </a:rPr>
              <a:t>постоянных расходов при остатке 17 ₽</a:t>
            </a:r>
            <a:endParaRPr lang="en-US" sz="1200" dirty="0"/>
          </a:p>
        </p:txBody>
      </p:sp>
      <p:sp>
        <p:nvSpPr>
          <p:cNvPr id="52" name="Text 50"/>
          <p:cNvSpPr txBox="1"/>
          <p:nvPr/>
        </p:nvSpPr>
        <p:spPr>
          <a:xfrm>
            <a:off x="8170267" y="4352826"/>
            <a:ext cx="3095803" cy="62091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20"/>
              </a:lnSpc>
              <a:buNone/>
            </a:pPr>
            <a:r>
              <a:rPr lang="ru-RU" altLang="en-US" sz="1200" dirty="0">
                <a:solidFill>
                  <a:schemeClr val="accent5"/>
                </a:solidFill>
                <a:latin typeface="+mn-lt" pitchFamily="34" charset="0"/>
                <a:ea typeface="+mn-lt" pitchFamily="34" charset="-122"/>
                <a:cs typeface="+mn-lt" pitchFamily="34" charset="-120"/>
              </a:rPr>
              <a:t>250 тыс. ₽ — условный сценарий </a:t>
            </a:r>
            <a:br/>
            <a:pPr algn="l" indent="0" marL="0">
              <a:lnSpc>
                <a:spcPts val="1620"/>
              </a:lnSpc>
              <a:buNone/>
            </a:pPr>
            <a:r>
              <a:rPr lang="ru-RU" altLang="en-US" sz="1200" dirty="0">
                <a:solidFill>
                  <a:schemeClr val="accent5"/>
                </a:solidFill>
                <a:latin typeface="+mn-lt" pitchFamily="34" charset="0"/>
                <a:ea typeface="+mn-lt" pitchFamily="34" charset="-122"/>
                <a:cs typeface="+mn-lt" pitchFamily="34" charset="-120"/>
              </a:rPr>
              <a:t>развитого сервиса, а не бюджет </a:t>
            </a:r>
            <a:br/>
            <a:pPr algn="l" indent="0" marL="0">
              <a:lnSpc>
                <a:spcPts val="1620"/>
              </a:lnSpc>
              <a:buNone/>
            </a:pPr>
            <a:r>
              <a:rPr lang="ru-RU" altLang="en-US" sz="1200" dirty="0">
                <a:solidFill>
                  <a:schemeClr val="accent5"/>
                </a:solidFill>
                <a:latin typeface="+mn-lt" pitchFamily="34" charset="0"/>
                <a:ea typeface="+mn-lt" pitchFamily="34" charset="-122"/>
                <a:cs typeface="+mn-lt" pitchFamily="34" charset="-120"/>
              </a:rPr>
              <a:t>и не цель первого пилота</a:t>
            </a:r>
            <a:endParaRPr lang="en-US" sz="1200" dirty="0"/>
          </a:p>
        </p:txBody>
      </p:sp>
      <p:sp>
        <p:nvSpPr>
          <p:cNvPr id="53" name="Text 51"/>
          <p:cNvSpPr txBox="1"/>
          <p:nvPr/>
        </p:nvSpPr>
        <p:spPr>
          <a:xfrm>
            <a:off x="812800" y="5347990"/>
            <a:ext cx="1934762" cy="254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ru-RU" altLang="en-US" sz="1300" b="1" dirty="0">
                <a:solidFill>
                  <a:schemeClr val="tx2"/>
                </a:solidFill>
                <a:latin typeface="+mn-lt" pitchFamily="34" charset="0"/>
                <a:ea typeface="+mn-lt" pitchFamily="34" charset="-122"/>
                <a:cs typeface="+mn-lt" pitchFamily="34" charset="-120"/>
              </a:rPr>
              <a:t>Главное для проверки:</a:t>
            </a:r>
            <a:endParaRPr lang="en-US" sz="1300" dirty="0"/>
          </a:p>
        </p:txBody>
      </p:sp>
      <p:sp>
        <p:nvSpPr>
          <p:cNvPr id="54" name="Shape 52"/>
          <p:cNvSpPr/>
          <p:nvPr/>
        </p:nvSpPr>
        <p:spPr>
          <a:xfrm>
            <a:off x="2818209" y="5328345"/>
            <a:ext cx="304800" cy="304800"/>
          </a:xfrm>
          <a:prstGeom prst="ellipse">
            <a:avLst/>
          </a:prstGeom>
          <a:solidFill>
            <a:schemeClr val="accent1"/>
          </a:solidFill>
          <a:ln/>
        </p:spPr>
      </p:sp>
      <p:sp>
        <p:nvSpPr>
          <p:cNvPr id="55" name="Text 53"/>
          <p:cNvSpPr txBox="1"/>
          <p:nvPr/>
        </p:nvSpPr>
        <p:spPr>
          <a:xfrm>
            <a:off x="2928739" y="5366445"/>
            <a:ext cx="134541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ru-RU" altLang="en-US" sz="1300" dirty="0">
                <a:solidFill>
                  <a:schemeClr val="tx2"/>
                </a:solidFill>
                <a:latin typeface="+mj-lt" pitchFamily="34" charset="0"/>
                <a:ea typeface="+mj-lt" pitchFamily="34" charset="-122"/>
                <a:cs typeface="+mj-lt" pitchFamily="34" charset="-120"/>
              </a:rPr>
              <a:t>1</a:t>
            </a:r>
            <a:endParaRPr lang="en-US" sz="1300" dirty="0"/>
          </a:p>
        </p:txBody>
      </p:sp>
      <p:sp>
        <p:nvSpPr>
          <p:cNvPr id="56" name="Text 54"/>
          <p:cNvSpPr txBox="1"/>
          <p:nvPr/>
        </p:nvSpPr>
        <p:spPr>
          <a:xfrm>
            <a:off x="3199209" y="5282704"/>
            <a:ext cx="1714798" cy="40759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560"/>
              </a:lnSpc>
              <a:buNone/>
            </a:pPr>
            <a:r>
              <a:rPr lang="ru-RU" altLang="en-US" sz="1200" dirty="0">
                <a:solidFill>
                  <a:schemeClr val="tx2"/>
                </a:solidFill>
                <a:latin typeface="+mn-lt" pitchFamily="34" charset="0"/>
                <a:ea typeface="+mn-lt" pitchFamily="34" charset="-122"/>
                <a:cs typeface="+mn-lt" pitchFamily="34" charset="-120"/>
              </a:rPr>
              <a:t>Цена, которую готовы </a:t>
            </a:r>
            <a:br/>
            <a:pPr algn="l" indent="0" marL="0">
              <a:lnSpc>
                <a:spcPts val="1560"/>
              </a:lnSpc>
              <a:buNone/>
            </a:pPr>
            <a:r>
              <a:rPr lang="ru-RU" altLang="en-US" sz="1200" dirty="0">
                <a:solidFill>
                  <a:schemeClr val="tx2"/>
                </a:solidFill>
                <a:latin typeface="+mn-lt" pitchFamily="34" charset="0"/>
                <a:ea typeface="+mn-lt" pitchFamily="34" charset="-122"/>
                <a:cs typeface="+mn-lt" pitchFamily="34" charset="-120"/>
              </a:rPr>
              <a:t>платить клиенты</a:t>
            </a:r>
            <a:endParaRPr lang="en-US" sz="1200" dirty="0"/>
          </a:p>
        </p:txBody>
      </p:sp>
      <p:sp>
        <p:nvSpPr>
          <p:cNvPr id="57" name="Shape 55"/>
          <p:cNvSpPr/>
          <p:nvPr/>
        </p:nvSpPr>
        <p:spPr>
          <a:xfrm>
            <a:off x="4990207" y="5328345"/>
            <a:ext cx="304800" cy="304800"/>
          </a:xfrm>
          <a:prstGeom prst="ellipse">
            <a:avLst/>
          </a:prstGeom>
          <a:solidFill>
            <a:schemeClr val="accent1"/>
          </a:solidFill>
          <a:ln/>
        </p:spPr>
      </p:sp>
      <p:sp>
        <p:nvSpPr>
          <p:cNvPr id="58" name="Text 56"/>
          <p:cNvSpPr txBox="1"/>
          <p:nvPr/>
        </p:nvSpPr>
        <p:spPr>
          <a:xfrm>
            <a:off x="5074642" y="5366445"/>
            <a:ext cx="18673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ru-RU" altLang="en-US" sz="1300" dirty="0">
                <a:solidFill>
                  <a:schemeClr val="tx2"/>
                </a:solidFill>
                <a:latin typeface="+mj-lt" pitchFamily="34" charset="0"/>
                <a:ea typeface="+mj-lt" pitchFamily="34" charset="-122"/>
                <a:cs typeface="+mj-lt" pitchFamily="34" charset="-120"/>
              </a:rPr>
              <a:t>2</a:t>
            </a:r>
            <a:endParaRPr lang="en-US" sz="1300" dirty="0"/>
          </a:p>
        </p:txBody>
      </p:sp>
      <p:sp>
        <p:nvSpPr>
          <p:cNvPr id="59" name="Text 57"/>
          <p:cNvSpPr txBox="1"/>
          <p:nvPr/>
        </p:nvSpPr>
        <p:spPr>
          <a:xfrm>
            <a:off x="5371207" y="5282704"/>
            <a:ext cx="1714798" cy="40759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560"/>
              </a:lnSpc>
              <a:buNone/>
            </a:pPr>
            <a:r>
              <a:rPr lang="ru-RU" altLang="en-US" sz="1200" dirty="0">
                <a:solidFill>
                  <a:schemeClr val="tx2"/>
                </a:solidFill>
                <a:latin typeface="+mn-lt" pitchFamily="34" charset="0"/>
                <a:ea typeface="+mn-lt" pitchFamily="34" charset="-122"/>
                <a:cs typeface="+mn-lt" pitchFamily="34" charset="-120"/>
              </a:rPr>
              <a:t>Стоимость аренды </a:t>
            </a:r>
            <a:br/>
            <a:pPr algn="l" indent="0" marL="0">
              <a:lnSpc>
                <a:spcPts val="1560"/>
              </a:lnSpc>
              <a:buNone/>
            </a:pPr>
            <a:r>
              <a:rPr lang="ru-RU" altLang="en-US" sz="1200" dirty="0">
                <a:solidFill>
                  <a:schemeClr val="tx2"/>
                </a:solidFill>
                <a:latin typeface="+mn-lt" pitchFamily="34" charset="0"/>
                <a:ea typeface="+mn-lt" pitchFamily="34" charset="-122"/>
                <a:cs typeface="+mn-lt" pitchFamily="34" charset="-120"/>
              </a:rPr>
              <a:t>у фермы</a:t>
            </a:r>
            <a:endParaRPr lang="en-US" sz="1200" dirty="0"/>
          </a:p>
        </p:txBody>
      </p:sp>
      <p:sp>
        <p:nvSpPr>
          <p:cNvPr id="60" name="Shape 58"/>
          <p:cNvSpPr/>
          <p:nvPr/>
        </p:nvSpPr>
        <p:spPr>
          <a:xfrm>
            <a:off x="7162205" y="5328345"/>
            <a:ext cx="304800" cy="304800"/>
          </a:xfrm>
          <a:prstGeom prst="ellipse">
            <a:avLst/>
          </a:prstGeom>
          <a:solidFill>
            <a:schemeClr val="accent1"/>
          </a:solidFill>
          <a:ln/>
        </p:spPr>
      </p:sp>
      <p:sp>
        <p:nvSpPr>
          <p:cNvPr id="61" name="Text 59"/>
          <p:cNvSpPr txBox="1"/>
          <p:nvPr/>
        </p:nvSpPr>
        <p:spPr>
          <a:xfrm>
            <a:off x="7246045" y="5366445"/>
            <a:ext cx="18792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ru-RU" altLang="en-US" sz="1300" dirty="0">
                <a:solidFill>
                  <a:schemeClr val="tx2"/>
                </a:solidFill>
                <a:latin typeface="+mj-lt" pitchFamily="34" charset="0"/>
                <a:ea typeface="+mj-lt" pitchFamily="34" charset="-122"/>
                <a:cs typeface="+mj-lt" pitchFamily="34" charset="-120"/>
              </a:rPr>
              <a:t>3</a:t>
            </a:r>
            <a:endParaRPr lang="en-US" sz="1300" dirty="0"/>
          </a:p>
        </p:txBody>
      </p:sp>
      <p:sp>
        <p:nvSpPr>
          <p:cNvPr id="62" name="Text 60"/>
          <p:cNvSpPr txBox="1"/>
          <p:nvPr/>
        </p:nvSpPr>
        <p:spPr>
          <a:xfrm>
            <a:off x="7543205" y="5282704"/>
            <a:ext cx="1714798" cy="40759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560"/>
              </a:lnSpc>
              <a:buNone/>
            </a:pPr>
            <a:r>
              <a:rPr lang="ru-RU" altLang="en-US" sz="1200" dirty="0">
                <a:solidFill>
                  <a:schemeClr val="tx2"/>
                </a:solidFill>
                <a:latin typeface="+mn-lt" pitchFamily="34" charset="0"/>
                <a:ea typeface="+mn-lt" pitchFamily="34" charset="-122"/>
                <a:cs typeface="+mn-lt" pitchFamily="34" charset="-120"/>
              </a:rPr>
              <a:t>Стоимость </a:t>
            </a:r>
            <a:br/>
            <a:pPr algn="l" indent="0" marL="0">
              <a:lnSpc>
                <a:spcPts val="1560"/>
              </a:lnSpc>
              <a:buNone/>
            </a:pPr>
            <a:r>
              <a:rPr lang="ru-RU" altLang="en-US" sz="1200" dirty="0">
                <a:solidFill>
                  <a:schemeClr val="tx2"/>
                </a:solidFill>
                <a:latin typeface="+mn-lt" pitchFamily="34" charset="0"/>
                <a:ea typeface="+mn-lt" pitchFamily="34" charset="-122"/>
                <a:cs typeface="+mn-lt" pitchFamily="34" charset="-120"/>
              </a:rPr>
              <a:t>обслуживания заказа</a:t>
            </a:r>
            <a:endParaRPr lang="en-US" sz="1200" dirty="0"/>
          </a:p>
        </p:txBody>
      </p:sp>
      <p:sp>
        <p:nvSpPr>
          <p:cNvPr id="63" name="Shape 61"/>
          <p:cNvSpPr/>
          <p:nvPr/>
        </p:nvSpPr>
        <p:spPr>
          <a:xfrm>
            <a:off x="9334202" y="5328345"/>
            <a:ext cx="304800" cy="304800"/>
          </a:xfrm>
          <a:prstGeom prst="ellipse">
            <a:avLst/>
          </a:prstGeom>
          <a:solidFill>
            <a:schemeClr val="accent1"/>
          </a:solidFill>
          <a:ln/>
        </p:spPr>
      </p:sp>
      <p:sp>
        <p:nvSpPr>
          <p:cNvPr id="64" name="Text 62"/>
          <p:cNvSpPr txBox="1"/>
          <p:nvPr/>
        </p:nvSpPr>
        <p:spPr>
          <a:xfrm>
            <a:off x="9416752" y="5366445"/>
            <a:ext cx="1905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ru-RU" altLang="en-US" sz="1300" dirty="0">
                <a:solidFill>
                  <a:schemeClr val="tx2"/>
                </a:solidFill>
                <a:latin typeface="+mj-lt" pitchFamily="34" charset="0"/>
                <a:ea typeface="+mj-lt" pitchFamily="34" charset="-122"/>
                <a:cs typeface="+mj-lt" pitchFamily="34" charset="-120"/>
              </a:rPr>
              <a:t>4</a:t>
            </a:r>
            <a:endParaRPr lang="en-US" sz="1300" dirty="0"/>
          </a:p>
        </p:txBody>
      </p:sp>
      <p:sp>
        <p:nvSpPr>
          <p:cNvPr id="65" name="Text 63"/>
          <p:cNvSpPr txBox="1"/>
          <p:nvPr/>
        </p:nvSpPr>
        <p:spPr>
          <a:xfrm>
            <a:off x="9715202" y="5282704"/>
            <a:ext cx="1714798" cy="40759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560"/>
              </a:lnSpc>
              <a:buNone/>
            </a:pPr>
            <a:r>
              <a:rPr lang="ru-RU" altLang="en-US" sz="1200" dirty="0">
                <a:solidFill>
                  <a:schemeClr val="tx2"/>
                </a:solidFill>
                <a:latin typeface="+mn-lt" pitchFamily="34" charset="0"/>
                <a:ea typeface="+mn-lt" pitchFamily="34" charset="-122"/>
                <a:cs typeface="+mn-lt" pitchFamily="34" charset="-120"/>
              </a:rPr>
              <a:t>Объём и регулярность </a:t>
            </a:r>
            <a:br/>
            <a:pPr algn="l" indent="0" marL="0">
              <a:lnSpc>
                <a:spcPts val="1560"/>
              </a:lnSpc>
              <a:buNone/>
            </a:pPr>
            <a:r>
              <a:rPr lang="ru-RU" altLang="en-US" sz="1200" dirty="0">
                <a:solidFill>
                  <a:schemeClr val="tx2"/>
                </a:solidFill>
                <a:latin typeface="+mn-lt" pitchFamily="34" charset="0"/>
                <a:ea typeface="+mn-lt" pitchFamily="34" charset="-122"/>
                <a:cs typeface="+mn-lt" pitchFamily="34" charset="-120"/>
              </a:rPr>
              <a:t>заказов</a:t>
            </a:r>
            <a:endParaRPr lang="en-US" sz="1200" dirty="0"/>
          </a:p>
        </p:txBody>
      </p:sp>
      <p:sp>
        <p:nvSpPr>
          <p:cNvPr id="66" name="Text 64"/>
          <p:cNvSpPr txBox="1"/>
          <p:nvPr/>
        </p:nvSpPr>
        <p:spPr>
          <a:xfrm>
            <a:off x="812800" y="5820172"/>
            <a:ext cx="10718800" cy="2349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ru-RU" altLang="en-US" sz="1200" dirty="0">
                <a:solidFill>
                  <a:schemeClr val="accent6"/>
                </a:solidFill>
                <a:latin typeface="+mn-lt" pitchFamily="34" charset="0"/>
                <a:ea typeface="+mn-lt" pitchFamily="34" charset="-122"/>
                <a:cs typeface="+mn-lt" pitchFamily="34" charset="-120"/>
              </a:rPr>
              <a:t>Расчёт предварительный. Ручное сопровождение клиентов может создавать дополнительные расходы, не включённые в расчёт.</a:t>
            </a:r>
            <a:endParaRPr lang="en-US" sz="12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812800" y="768350"/>
            <a:ext cx="10820400" cy="4699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ru-RU" altLang="en-US" sz="2800" spc="-50" kern="0" dirty="0">
                <a:solidFill>
                  <a:schemeClr val="bg1"/>
                </a:solidFill>
              </a:rPr>
              <a:t>Риски по степени важности</a:t>
            </a:r>
            <a:endParaRPr lang="en-US" sz="2800" dirty="0"/>
          </a:p>
        </p:txBody>
      </p:sp>
      <p:sp>
        <p:nvSpPr>
          <p:cNvPr id="3" name="Shape 1"/>
          <p:cNvSpPr/>
          <p:nvPr/>
        </p:nvSpPr>
        <p:spPr>
          <a:xfrm>
            <a:off x="819150" y="1413470"/>
            <a:ext cx="3407767" cy="2230140"/>
          </a:xfrm>
          <a:prstGeom prst="roundRect">
            <a:avLst>
              <a:gd name="adj" fmla="val 6834"/>
            </a:avLst>
          </a:prstGeom>
          <a:solidFill>
            <a:schemeClr val="accent3"/>
          </a:solidFill>
          <a:ln w="12700">
            <a:solidFill>
              <a:schemeClr val="accent1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1016000" y="1633141"/>
            <a:ext cx="330200" cy="330200"/>
          </a:xfrm>
          <a:prstGeom prst="ellipse">
            <a:avLst/>
          </a:prstGeom>
          <a:solidFill>
            <a:schemeClr val="accent1"/>
          </a:solidFill>
          <a:ln/>
        </p:spPr>
      </p:sp>
      <p:sp>
        <p:nvSpPr>
          <p:cNvPr id="5" name="Text 3"/>
          <p:cNvSpPr txBox="1"/>
          <p:nvPr/>
        </p:nvSpPr>
        <p:spPr>
          <a:xfrm>
            <a:off x="1139230" y="1683941"/>
            <a:ext cx="134541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ru-RU" altLang="en-US" sz="1300" dirty="0">
                <a:solidFill>
                  <a:schemeClr val="tx2"/>
                </a:solidFill>
                <a:latin typeface="+mj-lt" pitchFamily="34" charset="0"/>
                <a:ea typeface="+mj-lt" pitchFamily="34" charset="-122"/>
                <a:cs typeface="+mj-lt" pitchFamily="34" charset="-120"/>
              </a:rPr>
              <a:t>1</a:t>
            </a:r>
            <a:endParaRPr lang="en-US" sz="1300" dirty="0"/>
          </a:p>
        </p:txBody>
      </p:sp>
      <p:sp>
        <p:nvSpPr>
          <p:cNvPr id="6" name="Text 4"/>
          <p:cNvSpPr txBox="1"/>
          <p:nvPr/>
        </p:nvSpPr>
        <p:spPr>
          <a:xfrm>
            <a:off x="1460500" y="1584920"/>
            <a:ext cx="2646654" cy="43557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buNone/>
            </a:pPr>
            <a:r>
              <a:rPr lang="ru-RU" altLang="en-US" sz="1400" dirty="0">
                <a:solidFill>
                  <a:schemeClr val="bg1"/>
                </a:solidFill>
                <a:latin typeface="+mj-lt" pitchFamily="34" charset="0"/>
                <a:ea typeface="+mj-lt" pitchFamily="34" charset="-122"/>
                <a:cs typeface="+mj-lt" pitchFamily="34" charset="-120"/>
              </a:rPr>
              <a:t>Платёжеспособный </a:t>
            </a:r>
            <a:br/>
            <a:pPr algn="l" indent="0" marL="0">
              <a:lnSpc>
                <a:spcPts val="1680"/>
              </a:lnSpc>
              <a:buNone/>
            </a:pPr>
            <a:r>
              <a:rPr lang="ru-RU" altLang="en-US" sz="1400" dirty="0">
                <a:solidFill>
                  <a:schemeClr val="bg1"/>
                </a:solidFill>
                <a:latin typeface="+mj-lt" pitchFamily="34" charset="0"/>
                <a:ea typeface="+mj-lt" pitchFamily="34" charset="-122"/>
                <a:cs typeface="+mj-lt" pitchFamily="34" charset="-120"/>
              </a:rPr>
              <a:t>спрос</a:t>
            </a:r>
            <a:endParaRPr lang="en-US" sz="1400" dirty="0"/>
          </a:p>
        </p:txBody>
      </p:sp>
      <p:sp>
        <p:nvSpPr>
          <p:cNvPr id="7" name="Text 5"/>
          <p:cNvSpPr txBox="1"/>
          <p:nvPr/>
        </p:nvSpPr>
        <p:spPr>
          <a:xfrm>
            <a:off x="1016000" y="2056011"/>
            <a:ext cx="3104489" cy="2349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ru-RU" altLang="en-US" sz="1200" b="1" dirty="0">
                <a:solidFill>
                  <a:schemeClr val="accent1"/>
                </a:solidFill>
                <a:latin typeface="+mn-lt" pitchFamily="34" charset="0"/>
                <a:ea typeface="+mn-lt" pitchFamily="34" charset="-122"/>
                <a:cs typeface="+mn-lt" pitchFamily="34" charset="-120"/>
              </a:rPr>
              <a:t>Ключевой риск</a:t>
            </a:r>
            <a:endParaRPr lang="en-US" sz="1200" dirty="0"/>
          </a:p>
        </p:txBody>
      </p:sp>
      <p:sp>
        <p:nvSpPr>
          <p:cNvPr id="8" name="Text 6"/>
          <p:cNvSpPr txBox="1"/>
          <p:nvPr/>
        </p:nvSpPr>
        <p:spPr>
          <a:xfrm>
            <a:off x="1016000" y="2336602"/>
            <a:ext cx="3104489" cy="63996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buNone/>
            </a:pPr>
            <a:r>
              <a:rPr lang="ru-RU" altLang="en-US" sz="1200" dirty="0">
                <a:solidFill>
                  <a:schemeClr val="accent5"/>
                </a:solidFill>
                <a:latin typeface="+mn-lt" pitchFamily="34" charset="0"/>
                <a:ea typeface="+mn-lt" pitchFamily="34" charset="-122"/>
                <a:cs typeface="+mn-lt" pitchFamily="34" charset="-120"/>
              </a:rPr>
              <a:t>Готовы ли клиенты платить за подбор </a:t>
            </a:r>
            <a:br/>
            <a:pPr algn="l" indent="0" marL="0">
              <a:lnSpc>
                <a:spcPts val="1680"/>
              </a:lnSpc>
              <a:buNone/>
            </a:pPr>
            <a:r>
              <a:rPr lang="ru-RU" altLang="en-US" sz="1200" dirty="0">
                <a:solidFill>
                  <a:schemeClr val="accent5"/>
                </a:solidFill>
                <a:latin typeface="+mn-lt" pitchFamily="34" charset="0"/>
                <a:ea typeface="+mn-lt" pitchFamily="34" charset="-122"/>
                <a:cs typeface="+mn-lt" pitchFamily="34" charset="-120"/>
              </a:rPr>
              <a:t>и сопровождение, если есть более </a:t>
            </a:r>
            <a:br/>
            <a:pPr algn="l" indent="0" marL="0">
              <a:lnSpc>
                <a:spcPts val="1680"/>
              </a:lnSpc>
              <a:buNone/>
            </a:pPr>
            <a:r>
              <a:rPr lang="ru-RU" altLang="en-US" sz="1200" dirty="0">
                <a:solidFill>
                  <a:schemeClr val="accent5"/>
                </a:solidFill>
                <a:latin typeface="+mn-lt" pitchFamily="34" charset="0"/>
                <a:ea typeface="+mn-lt" pitchFamily="34" charset="-122"/>
                <a:cs typeface="+mn-lt" pitchFamily="34" charset="-120"/>
              </a:rPr>
              <a:t>дешёвые маркетплейсы?</a:t>
            </a:r>
            <a:endParaRPr lang="en-US" sz="1200" dirty="0"/>
          </a:p>
        </p:txBody>
      </p:sp>
      <p:sp>
        <p:nvSpPr>
          <p:cNvPr id="9" name="Text 7"/>
          <p:cNvSpPr txBox="1"/>
          <p:nvPr/>
        </p:nvSpPr>
        <p:spPr>
          <a:xfrm>
            <a:off x="1016000" y="3040063"/>
            <a:ext cx="3104489" cy="42664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buNone/>
            </a:pPr>
            <a:r>
              <a:rPr lang="ru-RU" altLang="en-US" sz="1200" b="1" dirty="0">
                <a:solidFill>
                  <a:schemeClr val="bg1"/>
                </a:solidFill>
                <a:latin typeface="+mn-lt" pitchFamily="34" charset="0"/>
                <a:ea typeface="+mn-lt" pitchFamily="34" charset="-122"/>
                <a:cs typeface="+mn-lt" pitchFamily="34" charset="-120"/>
              </a:rPr>
              <a:t>Проверка:</a:t>
            </a:r>
            <a:pPr algn="l" indent="0" marL="0">
              <a:lnSpc>
                <a:spcPts val="1680"/>
              </a:lnSpc>
              <a:buNone/>
            </a:pPr>
            <a:r>
              <a:rPr lang="ru-RU" altLang="en-US" sz="1200" dirty="0">
                <a:solidFill>
                  <a:schemeClr val="bg1"/>
                </a:solidFill>
                <a:latin typeface="+mn-lt" pitchFamily="34" charset="0"/>
                <a:ea typeface="+mn-lt" pitchFamily="34" charset="-122"/>
                <a:cs typeface="+mn-lt" pitchFamily="34" charset="-120"/>
              </a:rPr>
              <a:t> интервью и попытки </a:t>
            </a:r>
            <a:br/>
            <a:pPr algn="l" indent="0" marL="0">
              <a:lnSpc>
                <a:spcPts val="1680"/>
              </a:lnSpc>
              <a:buNone/>
            </a:pPr>
            <a:r>
              <a:rPr lang="ru-RU" altLang="en-US" sz="1200" dirty="0">
                <a:solidFill>
                  <a:schemeClr val="bg1"/>
                </a:solidFill>
                <a:latin typeface="+mn-lt" pitchFamily="34" charset="0"/>
                <a:ea typeface="+mn-lt" pitchFamily="34" charset="-122"/>
                <a:cs typeface="+mn-lt" pitchFamily="34" charset="-120"/>
              </a:rPr>
              <a:t>организовать платные пилоты</a:t>
            </a:r>
            <a:endParaRPr lang="en-US" sz="1200" dirty="0"/>
          </a:p>
        </p:txBody>
      </p:sp>
      <p:sp>
        <p:nvSpPr>
          <p:cNvPr id="10" name="Shape 8"/>
          <p:cNvSpPr/>
          <p:nvPr/>
        </p:nvSpPr>
        <p:spPr>
          <a:xfrm>
            <a:off x="4392017" y="1413470"/>
            <a:ext cx="3407866" cy="2230140"/>
          </a:xfrm>
          <a:prstGeom prst="roundRect">
            <a:avLst>
              <a:gd name="adj" fmla="val 6834"/>
            </a:avLst>
          </a:prstGeom>
          <a:solidFill>
            <a:schemeClr val="accent3"/>
          </a:solidFill>
          <a:ln w="12700">
            <a:solidFill>
              <a:schemeClr val="accent1"/>
            </a:solidFill>
            <a:prstDash val="solid"/>
          </a:ln>
        </p:spPr>
      </p:sp>
      <p:sp>
        <p:nvSpPr>
          <p:cNvPr id="11" name="Shape 9"/>
          <p:cNvSpPr/>
          <p:nvPr/>
        </p:nvSpPr>
        <p:spPr>
          <a:xfrm>
            <a:off x="4588867" y="1633141"/>
            <a:ext cx="330200" cy="330200"/>
          </a:xfrm>
          <a:prstGeom prst="ellipse">
            <a:avLst/>
          </a:prstGeom>
          <a:solidFill>
            <a:schemeClr val="accent1"/>
          </a:solidFill>
          <a:ln/>
        </p:spPr>
      </p:sp>
      <p:sp>
        <p:nvSpPr>
          <p:cNvPr id="12" name="Text 10"/>
          <p:cNvSpPr txBox="1"/>
          <p:nvPr/>
        </p:nvSpPr>
        <p:spPr>
          <a:xfrm>
            <a:off x="4686002" y="1683941"/>
            <a:ext cx="18673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ru-RU" altLang="en-US" sz="1300" dirty="0">
                <a:solidFill>
                  <a:schemeClr val="tx2"/>
                </a:solidFill>
                <a:latin typeface="+mj-lt" pitchFamily="34" charset="0"/>
                <a:ea typeface="+mj-lt" pitchFamily="34" charset="-122"/>
                <a:cs typeface="+mj-lt" pitchFamily="34" charset="-120"/>
              </a:rPr>
              <a:t>2</a:t>
            </a:r>
            <a:endParaRPr lang="en-US" sz="1300" dirty="0"/>
          </a:p>
        </p:txBody>
      </p:sp>
      <p:sp>
        <p:nvSpPr>
          <p:cNvPr id="13" name="Text 11"/>
          <p:cNvSpPr txBox="1"/>
          <p:nvPr/>
        </p:nvSpPr>
        <p:spPr>
          <a:xfrm>
            <a:off x="5033367" y="1584920"/>
            <a:ext cx="2646756" cy="43557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buNone/>
            </a:pPr>
            <a:r>
              <a:rPr lang="ru-RU" altLang="en-US" sz="1400" dirty="0">
                <a:solidFill>
                  <a:schemeClr val="bg1"/>
                </a:solidFill>
                <a:latin typeface="+mj-lt" pitchFamily="34" charset="0"/>
                <a:ea typeface="+mj-lt" pitchFamily="34" charset="-122"/>
                <a:cs typeface="+mj-lt" pitchFamily="34" charset="-120"/>
              </a:rPr>
              <a:t>Экономика </a:t>
            </a:r>
            <a:br/>
            <a:pPr algn="l" indent="0" marL="0">
              <a:lnSpc>
                <a:spcPts val="1680"/>
              </a:lnSpc>
              <a:buNone/>
            </a:pPr>
            <a:r>
              <a:rPr lang="ru-RU" altLang="en-US" sz="1400" dirty="0">
                <a:solidFill>
                  <a:schemeClr val="bg1"/>
                </a:solidFill>
                <a:latin typeface="+mj-lt" pitchFamily="34" charset="0"/>
                <a:ea typeface="+mj-lt" pitchFamily="34" charset="-122"/>
                <a:cs typeface="+mj-lt" pitchFamily="34" charset="-120"/>
              </a:rPr>
              <a:t>партнёрских условий</a:t>
            </a:r>
            <a:endParaRPr lang="en-US" sz="1400" dirty="0"/>
          </a:p>
        </p:txBody>
      </p:sp>
      <p:sp>
        <p:nvSpPr>
          <p:cNvPr id="14" name="Text 12"/>
          <p:cNvSpPr txBox="1"/>
          <p:nvPr/>
        </p:nvSpPr>
        <p:spPr>
          <a:xfrm>
            <a:off x="4588867" y="2056011"/>
            <a:ext cx="3104591" cy="2349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ru-RU" altLang="en-US" sz="1200" b="1" dirty="0">
                <a:solidFill>
                  <a:schemeClr val="accent1"/>
                </a:solidFill>
                <a:latin typeface="+mn-lt" pitchFamily="34" charset="0"/>
                <a:ea typeface="+mn-lt" pitchFamily="34" charset="-122"/>
                <a:cs typeface="+mn-lt" pitchFamily="34" charset="-120"/>
              </a:rPr>
              <a:t>Ключевой риск</a:t>
            </a:r>
            <a:endParaRPr lang="en-US" sz="1200" dirty="0"/>
          </a:p>
        </p:txBody>
      </p:sp>
      <p:sp>
        <p:nvSpPr>
          <p:cNvPr id="15" name="Text 13"/>
          <p:cNvSpPr txBox="1"/>
          <p:nvPr/>
        </p:nvSpPr>
        <p:spPr>
          <a:xfrm>
            <a:off x="4588867" y="2336602"/>
            <a:ext cx="3104591" cy="63996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buNone/>
            </a:pPr>
            <a:r>
              <a:rPr lang="ru-RU" altLang="en-US" sz="1200" dirty="0">
                <a:solidFill>
                  <a:schemeClr val="accent5"/>
                </a:solidFill>
                <a:latin typeface="+mn-lt" pitchFamily="34" charset="0"/>
                <a:ea typeface="+mn-lt" pitchFamily="34" charset="-122"/>
                <a:cs typeface="+mn-lt" pitchFamily="34" charset="-120"/>
              </a:rPr>
              <a:t>Найдутся ли фермы с подходящими </a:t>
            </a:r>
            <a:br/>
            <a:pPr algn="l" indent="0" marL="0">
              <a:lnSpc>
                <a:spcPts val="1680"/>
              </a:lnSpc>
              <a:buNone/>
            </a:pPr>
            <a:r>
              <a:rPr lang="ru-RU" altLang="en-US" sz="1200" dirty="0">
                <a:solidFill>
                  <a:schemeClr val="accent5"/>
                </a:solidFill>
                <a:latin typeface="+mn-lt" pitchFamily="34" charset="0"/>
                <a:ea typeface="+mn-lt" pitchFamily="34" charset="-122"/>
                <a:cs typeface="+mn-lt" pitchFamily="34" charset="-120"/>
              </a:rPr>
              <a:t>ресурсами по цене, оставляющей </a:t>
            </a:r>
            <a:br/>
            <a:pPr algn="l" indent="0" marL="0">
              <a:lnSpc>
                <a:spcPts val="1680"/>
              </a:lnSpc>
              <a:buNone/>
            </a:pPr>
            <a:r>
              <a:rPr lang="ru-RU" altLang="en-US" sz="1200" dirty="0">
                <a:solidFill>
                  <a:schemeClr val="accent5"/>
                </a:solidFill>
                <a:latin typeface="+mn-lt" pitchFamily="34" charset="0"/>
                <a:ea typeface="+mn-lt" pitchFamily="34" charset="-122"/>
                <a:cs typeface="+mn-lt" pitchFamily="34" charset="-120"/>
              </a:rPr>
              <a:t>достаточную маржу?</a:t>
            </a:r>
            <a:endParaRPr lang="en-US" sz="1200" dirty="0"/>
          </a:p>
        </p:txBody>
      </p:sp>
      <p:sp>
        <p:nvSpPr>
          <p:cNvPr id="16" name="Text 14"/>
          <p:cNvSpPr txBox="1"/>
          <p:nvPr/>
        </p:nvSpPr>
        <p:spPr>
          <a:xfrm>
            <a:off x="4588867" y="3040063"/>
            <a:ext cx="3104591" cy="42664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buNone/>
            </a:pPr>
            <a:r>
              <a:rPr lang="ru-RU" altLang="en-US" sz="1200" b="1" dirty="0">
                <a:solidFill>
                  <a:schemeClr val="bg1"/>
                </a:solidFill>
                <a:latin typeface="+mn-lt" pitchFamily="34" charset="0"/>
                <a:ea typeface="+mn-lt" pitchFamily="34" charset="-122"/>
                <a:cs typeface="+mn-lt" pitchFamily="34" charset="-120"/>
              </a:rPr>
              <a:t>Проверка:</a:t>
            </a:r>
            <a:pPr algn="l" indent="0" marL="0">
              <a:lnSpc>
                <a:spcPts val="1680"/>
              </a:lnSpc>
              <a:buNone/>
            </a:pPr>
            <a:r>
              <a:rPr lang="ru-RU" altLang="en-US" sz="1200" dirty="0">
                <a:solidFill>
                  <a:schemeClr val="bg1"/>
                </a:solidFill>
                <a:latin typeface="+mn-lt" pitchFamily="34" charset="0"/>
                <a:ea typeface="+mn-lt" pitchFamily="34" charset="-122"/>
                <a:cs typeface="+mn-lt" pitchFamily="34" charset="-120"/>
              </a:rPr>
              <a:t> переговоры и расчёт </a:t>
            </a:r>
            <a:br/>
            <a:pPr algn="l" indent="0" marL="0">
              <a:lnSpc>
                <a:spcPts val="1680"/>
              </a:lnSpc>
              <a:buNone/>
            </a:pPr>
            <a:r>
              <a:rPr lang="ru-RU" altLang="en-US" sz="1200" dirty="0">
                <a:solidFill>
                  <a:schemeClr val="bg1"/>
                </a:solidFill>
                <a:latin typeface="+mn-lt" pitchFamily="34" charset="0"/>
                <a:ea typeface="+mn-lt" pitchFamily="34" charset="-122"/>
                <a:cs typeface="+mn-lt" pitchFamily="34" charset="-120"/>
              </a:rPr>
              <a:t>стоимости</a:t>
            </a:r>
            <a:endParaRPr lang="en-US" sz="1200" dirty="0"/>
          </a:p>
        </p:txBody>
      </p:sp>
      <p:sp>
        <p:nvSpPr>
          <p:cNvPr id="17" name="Shape 15"/>
          <p:cNvSpPr/>
          <p:nvPr/>
        </p:nvSpPr>
        <p:spPr>
          <a:xfrm>
            <a:off x="7964984" y="1413470"/>
            <a:ext cx="3407866" cy="2230140"/>
          </a:xfrm>
          <a:prstGeom prst="roundRect">
            <a:avLst>
              <a:gd name="adj" fmla="val 6834"/>
            </a:avLst>
          </a:prstGeom>
          <a:solidFill>
            <a:schemeClr val="accent3"/>
          </a:solidFill>
          <a:ln w="12700">
            <a:solidFill>
              <a:schemeClr val="accent4"/>
            </a:solidFill>
            <a:prstDash val="solid"/>
          </a:ln>
        </p:spPr>
      </p:sp>
      <p:sp>
        <p:nvSpPr>
          <p:cNvPr id="18" name="Shape 16"/>
          <p:cNvSpPr/>
          <p:nvPr/>
        </p:nvSpPr>
        <p:spPr>
          <a:xfrm>
            <a:off x="8161834" y="1633141"/>
            <a:ext cx="330200" cy="330200"/>
          </a:xfrm>
          <a:prstGeom prst="ellipse">
            <a:avLst/>
          </a:prstGeom>
          <a:solidFill>
            <a:schemeClr val="accent1"/>
          </a:solidFill>
          <a:ln/>
        </p:spPr>
      </p:sp>
      <p:sp>
        <p:nvSpPr>
          <p:cNvPr id="19" name="Text 17"/>
          <p:cNvSpPr txBox="1"/>
          <p:nvPr/>
        </p:nvSpPr>
        <p:spPr>
          <a:xfrm>
            <a:off x="8258373" y="1683941"/>
            <a:ext cx="18792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ru-RU" altLang="en-US" sz="1300" dirty="0">
                <a:solidFill>
                  <a:schemeClr val="tx2"/>
                </a:solidFill>
                <a:latin typeface="+mj-lt" pitchFamily="34" charset="0"/>
                <a:ea typeface="+mj-lt" pitchFamily="34" charset="-122"/>
                <a:cs typeface="+mj-lt" pitchFamily="34" charset="-120"/>
              </a:rPr>
              <a:t>3</a:t>
            </a:r>
            <a:endParaRPr lang="en-US" sz="1300" dirty="0"/>
          </a:p>
        </p:txBody>
      </p:sp>
      <p:sp>
        <p:nvSpPr>
          <p:cNvPr id="20" name="Text 18"/>
          <p:cNvSpPr txBox="1"/>
          <p:nvPr/>
        </p:nvSpPr>
        <p:spPr>
          <a:xfrm>
            <a:off x="8606334" y="1584920"/>
            <a:ext cx="2646756" cy="43557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buNone/>
            </a:pPr>
            <a:r>
              <a:rPr lang="ru-RU" altLang="en-US" sz="1400" dirty="0">
                <a:solidFill>
                  <a:schemeClr val="bg1"/>
                </a:solidFill>
                <a:latin typeface="+mj-lt" pitchFamily="34" charset="0"/>
                <a:ea typeface="+mj-lt" pitchFamily="34" charset="-122"/>
                <a:cs typeface="+mj-lt" pitchFamily="34" charset="-120"/>
              </a:rPr>
              <a:t>Доступность и </a:t>
            </a:r>
            <a:br/>
            <a:pPr algn="l" indent="0" marL="0">
              <a:lnSpc>
                <a:spcPts val="1680"/>
              </a:lnSpc>
              <a:buNone/>
            </a:pPr>
            <a:r>
              <a:rPr lang="ru-RU" altLang="en-US" sz="1400" dirty="0">
                <a:solidFill>
                  <a:schemeClr val="bg1"/>
                </a:solidFill>
                <a:latin typeface="+mj-lt" pitchFamily="34" charset="0"/>
                <a:ea typeface="+mj-lt" pitchFamily="34" charset="-122"/>
                <a:cs typeface="+mj-lt" pitchFamily="34" charset="-120"/>
              </a:rPr>
              <a:t>качество мощностей</a:t>
            </a:r>
            <a:endParaRPr lang="en-US" sz="1400" dirty="0"/>
          </a:p>
        </p:txBody>
      </p:sp>
      <p:sp>
        <p:nvSpPr>
          <p:cNvPr id="21" name="Text 19"/>
          <p:cNvSpPr txBox="1"/>
          <p:nvPr/>
        </p:nvSpPr>
        <p:spPr>
          <a:xfrm>
            <a:off x="8161834" y="2075061"/>
            <a:ext cx="3104591" cy="42664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buNone/>
            </a:pPr>
            <a:r>
              <a:rPr lang="ru-RU" altLang="en-US" sz="1200" dirty="0">
                <a:solidFill>
                  <a:schemeClr val="accent5"/>
                </a:solidFill>
                <a:latin typeface="+mn-lt" pitchFamily="34" charset="0"/>
                <a:ea typeface="+mn-lt" pitchFamily="34" charset="-122"/>
                <a:cs typeface="+mn-lt" pitchFamily="34" charset="-120"/>
              </a:rPr>
              <a:t>Есть ли у партнёров подходящие GPU </a:t>
            </a:r>
            <a:br/>
            <a:pPr algn="l" indent="0" marL="0">
              <a:lnSpc>
                <a:spcPts val="1680"/>
              </a:lnSpc>
              <a:buNone/>
            </a:pPr>
            <a:r>
              <a:rPr lang="ru-RU" altLang="en-US" sz="1200" dirty="0">
                <a:solidFill>
                  <a:schemeClr val="accent5"/>
                </a:solidFill>
                <a:latin typeface="+mn-lt" pitchFamily="34" charset="0"/>
                <a:ea typeface="+mn-lt" pitchFamily="34" charset="-122"/>
                <a:cs typeface="+mn-lt" pitchFamily="34" charset="-120"/>
              </a:rPr>
              <a:t>и нужная инфраструктура?</a:t>
            </a:r>
            <a:endParaRPr lang="en-US" sz="1200" dirty="0"/>
          </a:p>
        </p:txBody>
      </p:sp>
      <p:sp>
        <p:nvSpPr>
          <p:cNvPr id="22" name="Text 20"/>
          <p:cNvSpPr txBox="1"/>
          <p:nvPr/>
        </p:nvSpPr>
        <p:spPr>
          <a:xfrm>
            <a:off x="8161834" y="2565202"/>
            <a:ext cx="3104591" cy="42664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buNone/>
            </a:pPr>
            <a:r>
              <a:rPr lang="ru-RU" altLang="en-US" sz="1200" b="1" dirty="0">
                <a:solidFill>
                  <a:schemeClr val="bg1"/>
                </a:solidFill>
                <a:latin typeface="+mn-lt" pitchFamily="34" charset="0"/>
                <a:ea typeface="+mn-lt" pitchFamily="34" charset="-122"/>
                <a:cs typeface="+mn-lt" pitchFamily="34" charset="-120"/>
              </a:rPr>
              <a:t>Проверка:</a:t>
            </a:r>
            <a:pPr algn="l" indent="0" marL="0">
              <a:lnSpc>
                <a:spcPts val="1680"/>
              </a:lnSpc>
              <a:buNone/>
            </a:pPr>
            <a:r>
              <a:rPr lang="ru-RU" altLang="en-US" sz="1200" dirty="0">
                <a:solidFill>
                  <a:schemeClr val="bg1"/>
                </a:solidFill>
                <a:latin typeface="+mn-lt" pitchFamily="34" charset="0"/>
                <a:ea typeface="+mn-lt" pitchFamily="34" charset="-122"/>
                <a:cs typeface="+mn-lt" pitchFamily="34" charset="-120"/>
              </a:rPr>
              <a:t> изучение оборудования </a:t>
            </a:r>
            <a:br/>
            <a:pPr algn="l" indent="0" marL="0">
              <a:lnSpc>
                <a:spcPts val="1680"/>
              </a:lnSpc>
              <a:buNone/>
            </a:pPr>
            <a:r>
              <a:rPr lang="ru-RU" altLang="en-US" sz="1200" dirty="0">
                <a:solidFill>
                  <a:schemeClr val="bg1"/>
                </a:solidFill>
                <a:latin typeface="+mn-lt" pitchFamily="34" charset="0"/>
                <a:ea typeface="+mn-lt" pitchFamily="34" charset="-122"/>
                <a:cs typeface="+mn-lt" pitchFamily="34" charset="-120"/>
              </a:rPr>
              <a:t>и реальные тесты</a:t>
            </a:r>
            <a:endParaRPr lang="en-US" sz="1200" dirty="0"/>
          </a:p>
        </p:txBody>
      </p:sp>
      <p:sp>
        <p:nvSpPr>
          <p:cNvPr id="23" name="Shape 21"/>
          <p:cNvSpPr/>
          <p:nvPr/>
        </p:nvSpPr>
        <p:spPr>
          <a:xfrm>
            <a:off x="819150" y="3808710"/>
            <a:ext cx="3407767" cy="2230140"/>
          </a:xfrm>
          <a:prstGeom prst="roundRect">
            <a:avLst>
              <a:gd name="adj" fmla="val 6834"/>
            </a:avLst>
          </a:prstGeom>
          <a:solidFill>
            <a:schemeClr val="accent3"/>
          </a:solidFill>
          <a:ln w="12700">
            <a:solidFill>
              <a:schemeClr val="accent1"/>
            </a:solidFill>
            <a:prstDash val="solid"/>
          </a:ln>
        </p:spPr>
      </p:sp>
      <p:sp>
        <p:nvSpPr>
          <p:cNvPr id="24" name="Shape 22"/>
          <p:cNvSpPr/>
          <p:nvPr/>
        </p:nvSpPr>
        <p:spPr>
          <a:xfrm>
            <a:off x="1016000" y="4028380"/>
            <a:ext cx="330200" cy="330200"/>
          </a:xfrm>
          <a:prstGeom prst="ellipse">
            <a:avLst/>
          </a:prstGeom>
          <a:solidFill>
            <a:schemeClr val="accent1"/>
          </a:solidFill>
          <a:ln/>
        </p:spPr>
      </p:sp>
      <p:sp>
        <p:nvSpPr>
          <p:cNvPr id="25" name="Text 23"/>
          <p:cNvSpPr txBox="1"/>
          <p:nvPr/>
        </p:nvSpPr>
        <p:spPr>
          <a:xfrm>
            <a:off x="1111250" y="4079180"/>
            <a:ext cx="1905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ru-RU" altLang="en-US" sz="1300" dirty="0">
                <a:solidFill>
                  <a:schemeClr val="tx2"/>
                </a:solidFill>
                <a:latin typeface="+mj-lt" pitchFamily="34" charset="0"/>
                <a:ea typeface="+mj-lt" pitchFamily="34" charset="-122"/>
                <a:cs typeface="+mj-lt" pitchFamily="34" charset="-120"/>
              </a:rPr>
              <a:t>4</a:t>
            </a:r>
            <a:endParaRPr lang="en-US" sz="1300" dirty="0"/>
          </a:p>
        </p:txBody>
      </p:sp>
      <p:sp>
        <p:nvSpPr>
          <p:cNvPr id="26" name="Text 24"/>
          <p:cNvSpPr txBox="1"/>
          <p:nvPr/>
        </p:nvSpPr>
        <p:spPr>
          <a:xfrm>
            <a:off x="1460500" y="3980160"/>
            <a:ext cx="2646654" cy="43557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buNone/>
            </a:pPr>
            <a:r>
              <a:rPr lang="ru-RU" altLang="en-US" sz="1400" dirty="0">
                <a:solidFill>
                  <a:schemeClr val="bg1"/>
                </a:solidFill>
                <a:latin typeface="+mj-lt" pitchFamily="34" charset="0"/>
                <a:ea typeface="+mj-lt" pitchFamily="34" charset="-122"/>
                <a:cs typeface="+mj-lt" pitchFamily="34" charset="-120"/>
              </a:rPr>
              <a:t>Операционные </a:t>
            </a:r>
            <a:br/>
            <a:pPr algn="l" indent="0" marL="0">
              <a:lnSpc>
                <a:spcPts val="1680"/>
              </a:lnSpc>
              <a:buNone/>
            </a:pPr>
            <a:r>
              <a:rPr lang="ru-RU" altLang="en-US" sz="1400" dirty="0">
                <a:solidFill>
                  <a:schemeClr val="bg1"/>
                </a:solidFill>
                <a:latin typeface="+mj-lt" pitchFamily="34" charset="0"/>
                <a:ea typeface="+mj-lt" pitchFamily="34" charset="-122"/>
                <a:cs typeface="+mj-lt" pitchFamily="34" charset="-120"/>
              </a:rPr>
              <a:t>затраты</a:t>
            </a:r>
            <a:endParaRPr lang="en-US" sz="1400" dirty="0"/>
          </a:p>
        </p:txBody>
      </p:sp>
      <p:sp>
        <p:nvSpPr>
          <p:cNvPr id="27" name="Text 25"/>
          <p:cNvSpPr txBox="1"/>
          <p:nvPr/>
        </p:nvSpPr>
        <p:spPr>
          <a:xfrm>
            <a:off x="1016000" y="4451251"/>
            <a:ext cx="3104489" cy="2349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ru-RU" altLang="en-US" sz="1200" b="1" dirty="0">
                <a:solidFill>
                  <a:schemeClr val="accent1"/>
                </a:solidFill>
                <a:latin typeface="+mn-lt" pitchFamily="34" charset="0"/>
                <a:ea typeface="+mn-lt" pitchFamily="34" charset="-122"/>
                <a:cs typeface="+mn-lt" pitchFamily="34" charset="-120"/>
              </a:rPr>
              <a:t>Ключевой риск</a:t>
            </a:r>
            <a:endParaRPr lang="en-US" sz="1200" dirty="0"/>
          </a:p>
        </p:txBody>
      </p:sp>
      <p:sp>
        <p:nvSpPr>
          <p:cNvPr id="28" name="Text 26"/>
          <p:cNvSpPr txBox="1"/>
          <p:nvPr/>
        </p:nvSpPr>
        <p:spPr>
          <a:xfrm>
            <a:off x="1016000" y="4731841"/>
            <a:ext cx="3104489" cy="63996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buNone/>
            </a:pPr>
            <a:r>
              <a:rPr lang="ru-RU" altLang="en-US" sz="1200" dirty="0">
                <a:solidFill>
                  <a:schemeClr val="accent5"/>
                </a:solidFill>
                <a:latin typeface="+mn-lt" pitchFamily="34" charset="0"/>
                <a:ea typeface="+mn-lt" pitchFamily="34" charset="-122"/>
                <a:cs typeface="+mn-lt" pitchFamily="34" charset="-120"/>
              </a:rPr>
              <a:t>Не окажется ли сопровождение </a:t>
            </a:r>
            <a:br/>
            <a:pPr algn="l" indent="0" marL="0">
              <a:lnSpc>
                <a:spcPts val="1680"/>
              </a:lnSpc>
              <a:buNone/>
            </a:pPr>
            <a:r>
              <a:rPr lang="ru-RU" altLang="en-US" sz="1200" dirty="0">
                <a:solidFill>
                  <a:schemeClr val="accent5"/>
                </a:solidFill>
                <a:latin typeface="+mn-lt" pitchFamily="34" charset="0"/>
                <a:ea typeface="+mn-lt" pitchFamily="34" charset="-122"/>
                <a:cs typeface="+mn-lt" pitchFamily="34" charset="-120"/>
              </a:rPr>
              <a:t>небольших заказов дороже получаемой </a:t>
            </a:r>
            <a:br/>
            <a:pPr algn="l" indent="0" marL="0">
              <a:lnSpc>
                <a:spcPts val="1680"/>
              </a:lnSpc>
              <a:buNone/>
            </a:pPr>
            <a:r>
              <a:rPr lang="ru-RU" altLang="en-US" sz="1200" dirty="0">
                <a:solidFill>
                  <a:schemeClr val="accent5"/>
                </a:solidFill>
                <a:latin typeface="+mn-lt" pitchFamily="34" charset="0"/>
                <a:ea typeface="+mn-lt" pitchFamily="34" charset="-122"/>
                <a:cs typeface="+mn-lt" pitchFamily="34" charset="-120"/>
              </a:rPr>
              <a:t>маржи?</a:t>
            </a:r>
            <a:endParaRPr lang="en-US" sz="1200" dirty="0"/>
          </a:p>
        </p:txBody>
      </p:sp>
      <p:sp>
        <p:nvSpPr>
          <p:cNvPr id="29" name="Text 27"/>
          <p:cNvSpPr txBox="1"/>
          <p:nvPr/>
        </p:nvSpPr>
        <p:spPr>
          <a:xfrm>
            <a:off x="1016000" y="5435302"/>
            <a:ext cx="3104489" cy="42664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buNone/>
            </a:pPr>
            <a:r>
              <a:rPr lang="ru-RU" altLang="en-US" sz="1200" b="1" dirty="0">
                <a:solidFill>
                  <a:schemeClr val="bg1"/>
                </a:solidFill>
                <a:latin typeface="+mn-lt" pitchFamily="34" charset="0"/>
                <a:ea typeface="+mn-lt" pitchFamily="34" charset="-122"/>
                <a:cs typeface="+mn-lt" pitchFamily="34" charset="-120"/>
              </a:rPr>
              <a:t>Проверка:</a:t>
            </a:r>
            <a:pPr algn="l" indent="0" marL="0">
              <a:lnSpc>
                <a:spcPts val="1680"/>
              </a:lnSpc>
              <a:buNone/>
            </a:pPr>
            <a:r>
              <a:rPr lang="ru-RU" altLang="en-US" sz="1200" dirty="0">
                <a:solidFill>
                  <a:schemeClr val="bg1"/>
                </a:solidFill>
                <a:latin typeface="+mn-lt" pitchFamily="34" charset="0"/>
                <a:ea typeface="+mn-lt" pitchFamily="34" charset="-122"/>
                <a:cs typeface="+mn-lt" pitchFamily="34" charset="-120"/>
              </a:rPr>
              <a:t> учёт времени и затрат </a:t>
            </a:r>
            <a:br/>
            <a:pPr algn="l" indent="0" marL="0">
              <a:lnSpc>
                <a:spcPts val="1680"/>
              </a:lnSpc>
              <a:buNone/>
            </a:pPr>
            <a:r>
              <a:rPr lang="ru-RU" altLang="en-US" sz="1200" dirty="0">
                <a:solidFill>
                  <a:schemeClr val="bg1"/>
                </a:solidFill>
                <a:latin typeface="+mn-lt" pitchFamily="34" charset="0"/>
                <a:ea typeface="+mn-lt" pitchFamily="34" charset="-122"/>
                <a:cs typeface="+mn-lt" pitchFamily="34" charset="-120"/>
              </a:rPr>
              <a:t>на каждый пилот</a:t>
            </a:r>
            <a:endParaRPr lang="en-US" sz="1200" dirty="0"/>
          </a:p>
        </p:txBody>
      </p:sp>
      <p:sp>
        <p:nvSpPr>
          <p:cNvPr id="30" name="Shape 28"/>
          <p:cNvSpPr/>
          <p:nvPr/>
        </p:nvSpPr>
        <p:spPr>
          <a:xfrm>
            <a:off x="4392017" y="3808710"/>
            <a:ext cx="3407866" cy="2230140"/>
          </a:xfrm>
          <a:prstGeom prst="roundRect">
            <a:avLst>
              <a:gd name="adj" fmla="val 6834"/>
            </a:avLst>
          </a:prstGeom>
          <a:solidFill>
            <a:schemeClr val="accent3"/>
          </a:solidFill>
          <a:ln w="12700">
            <a:solidFill>
              <a:schemeClr val="accent4"/>
            </a:solidFill>
            <a:prstDash val="solid"/>
          </a:ln>
        </p:spPr>
      </p:sp>
      <p:sp>
        <p:nvSpPr>
          <p:cNvPr id="31" name="Shape 29"/>
          <p:cNvSpPr/>
          <p:nvPr/>
        </p:nvSpPr>
        <p:spPr>
          <a:xfrm>
            <a:off x="4588867" y="4028380"/>
            <a:ext cx="330200" cy="330200"/>
          </a:xfrm>
          <a:prstGeom prst="ellipse">
            <a:avLst/>
          </a:prstGeom>
          <a:solidFill>
            <a:schemeClr val="accent1"/>
          </a:solidFill>
          <a:ln/>
        </p:spPr>
      </p:sp>
      <p:sp>
        <p:nvSpPr>
          <p:cNvPr id="32" name="Text 30"/>
          <p:cNvSpPr txBox="1"/>
          <p:nvPr/>
        </p:nvSpPr>
        <p:spPr>
          <a:xfrm>
            <a:off x="4687987" y="4079180"/>
            <a:ext cx="182761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ru-RU" altLang="en-US" sz="1300" dirty="0">
                <a:solidFill>
                  <a:schemeClr val="tx2"/>
                </a:solidFill>
                <a:latin typeface="+mj-lt" pitchFamily="34" charset="0"/>
                <a:ea typeface="+mj-lt" pitchFamily="34" charset="-122"/>
                <a:cs typeface="+mj-lt" pitchFamily="34" charset="-120"/>
              </a:rPr>
              <a:t>5</a:t>
            </a:r>
            <a:endParaRPr lang="en-US" sz="1300" dirty="0"/>
          </a:p>
        </p:txBody>
      </p:sp>
      <p:sp>
        <p:nvSpPr>
          <p:cNvPr id="33" name="Text 31"/>
          <p:cNvSpPr txBox="1"/>
          <p:nvPr/>
        </p:nvSpPr>
        <p:spPr>
          <a:xfrm>
            <a:off x="5033367" y="3980160"/>
            <a:ext cx="2646756" cy="43557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buNone/>
            </a:pPr>
            <a:r>
              <a:rPr lang="ru-RU" altLang="en-US" sz="1400" dirty="0">
                <a:solidFill>
                  <a:schemeClr val="bg1"/>
                </a:solidFill>
                <a:latin typeface="+mj-lt" pitchFamily="34" charset="0"/>
                <a:ea typeface="+mj-lt" pitchFamily="34" charset="-122"/>
                <a:cs typeface="+mj-lt" pitchFamily="34" charset="-120"/>
              </a:rPr>
              <a:t>Право и безопасность </a:t>
            </a:r>
            <a:br/>
            <a:pPr algn="l" indent="0" marL="0">
              <a:lnSpc>
                <a:spcPts val="1680"/>
              </a:lnSpc>
              <a:buNone/>
            </a:pPr>
            <a:r>
              <a:rPr lang="ru-RU" altLang="en-US" sz="1400" dirty="0">
                <a:solidFill>
                  <a:schemeClr val="bg1"/>
                </a:solidFill>
                <a:latin typeface="+mj-lt" pitchFamily="34" charset="0"/>
                <a:ea typeface="+mj-lt" pitchFamily="34" charset="-122"/>
                <a:cs typeface="+mj-lt" pitchFamily="34" charset="-120"/>
              </a:rPr>
              <a:t>данных</a:t>
            </a:r>
            <a:endParaRPr lang="en-US" sz="1400" dirty="0"/>
          </a:p>
        </p:txBody>
      </p:sp>
      <p:sp>
        <p:nvSpPr>
          <p:cNvPr id="34" name="Text 32"/>
          <p:cNvSpPr txBox="1"/>
          <p:nvPr/>
        </p:nvSpPr>
        <p:spPr>
          <a:xfrm>
            <a:off x="4588867" y="4470301"/>
            <a:ext cx="3104591" cy="63996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buNone/>
            </a:pPr>
            <a:r>
              <a:rPr lang="ru-RU" altLang="en-US" sz="1200" dirty="0">
                <a:solidFill>
                  <a:schemeClr val="accent5"/>
                </a:solidFill>
                <a:latin typeface="+mn-lt" pitchFamily="34" charset="0"/>
                <a:ea typeface="+mn-lt" pitchFamily="34" charset="-122"/>
                <a:cs typeface="+mn-lt" pitchFamily="34" charset="-120"/>
              </a:rPr>
              <a:t>Нужно определить правовую модель </a:t>
            </a:r>
            <a:br/>
            <a:pPr algn="l" indent="0" marL="0">
              <a:lnSpc>
                <a:spcPts val="1680"/>
              </a:lnSpc>
              <a:buNone/>
            </a:pPr>
            <a:r>
              <a:rPr lang="ru-RU" altLang="en-US" sz="1200" dirty="0">
                <a:solidFill>
                  <a:schemeClr val="accent5"/>
                </a:solidFill>
                <a:latin typeface="+mn-lt" pitchFamily="34" charset="0"/>
                <a:ea typeface="+mn-lt" pitchFamily="34" charset="-122"/>
                <a:cs typeface="+mn-lt" pitchFamily="34" charset="-120"/>
              </a:rPr>
              <a:t>и правила работы с данными клиентов. </a:t>
            </a:r>
            <a:br/>
            <a:pPr algn="l" indent="0" marL="0">
              <a:lnSpc>
                <a:spcPts val="1680"/>
              </a:lnSpc>
              <a:buNone/>
            </a:pPr>
            <a:r>
              <a:rPr lang="ru-RU" altLang="en-US" sz="1200" dirty="0">
                <a:solidFill>
                  <a:schemeClr val="accent5"/>
                </a:solidFill>
                <a:latin typeface="+mn-lt" pitchFamily="34" charset="0"/>
                <a:ea typeface="+mn-lt" pitchFamily="34" charset="-122"/>
                <a:cs typeface="+mn-lt" pitchFamily="34" charset="-120"/>
              </a:rPr>
              <a:t>В пилоте — тестовые данные</a:t>
            </a:r>
            <a:endParaRPr lang="en-US" sz="1200" dirty="0"/>
          </a:p>
        </p:txBody>
      </p:sp>
      <p:sp>
        <p:nvSpPr>
          <p:cNvPr id="35" name="Shape 33"/>
          <p:cNvSpPr/>
          <p:nvPr/>
        </p:nvSpPr>
        <p:spPr>
          <a:xfrm>
            <a:off x="7964984" y="3808710"/>
            <a:ext cx="3407866" cy="2230140"/>
          </a:xfrm>
          <a:prstGeom prst="roundRect">
            <a:avLst>
              <a:gd name="adj" fmla="val 6834"/>
            </a:avLst>
          </a:prstGeom>
          <a:solidFill>
            <a:schemeClr val="accent3"/>
          </a:solidFill>
          <a:ln w="12700">
            <a:solidFill>
              <a:schemeClr val="accent4"/>
            </a:solidFill>
            <a:prstDash val="solid"/>
          </a:ln>
        </p:spPr>
      </p:sp>
      <p:sp>
        <p:nvSpPr>
          <p:cNvPr id="36" name="Shape 34"/>
          <p:cNvSpPr/>
          <p:nvPr/>
        </p:nvSpPr>
        <p:spPr>
          <a:xfrm>
            <a:off x="8161834" y="4028380"/>
            <a:ext cx="330200" cy="330200"/>
          </a:xfrm>
          <a:prstGeom prst="ellipse">
            <a:avLst/>
          </a:prstGeom>
          <a:solidFill>
            <a:schemeClr val="accent1"/>
          </a:solidFill>
          <a:ln/>
        </p:spPr>
      </p:sp>
      <p:sp>
        <p:nvSpPr>
          <p:cNvPr id="37" name="Text 35"/>
          <p:cNvSpPr txBox="1"/>
          <p:nvPr/>
        </p:nvSpPr>
        <p:spPr>
          <a:xfrm>
            <a:off x="8256786" y="4079180"/>
            <a:ext cx="190996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ru-RU" altLang="en-US" sz="1300" dirty="0">
                <a:solidFill>
                  <a:schemeClr val="tx2"/>
                </a:solidFill>
                <a:latin typeface="+mj-lt" pitchFamily="34" charset="0"/>
                <a:ea typeface="+mj-lt" pitchFamily="34" charset="-122"/>
                <a:cs typeface="+mj-lt" pitchFamily="34" charset="-120"/>
              </a:rPr>
              <a:t>6</a:t>
            </a:r>
            <a:endParaRPr lang="en-US" sz="1300" dirty="0"/>
          </a:p>
        </p:txBody>
      </p:sp>
      <p:sp>
        <p:nvSpPr>
          <p:cNvPr id="38" name="Text 36"/>
          <p:cNvSpPr txBox="1"/>
          <p:nvPr/>
        </p:nvSpPr>
        <p:spPr>
          <a:xfrm>
            <a:off x="8606334" y="3980160"/>
            <a:ext cx="2646756" cy="43557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buNone/>
            </a:pPr>
            <a:r>
              <a:rPr lang="ru-RU" altLang="en-US" sz="1400" dirty="0">
                <a:solidFill>
                  <a:schemeClr val="bg1"/>
                </a:solidFill>
                <a:latin typeface="+mj-lt" pitchFamily="34" charset="0"/>
                <a:ea typeface="+mj-lt" pitchFamily="34" charset="-122"/>
                <a:cs typeface="+mj-lt" pitchFamily="34" charset="-120"/>
              </a:rPr>
              <a:t>Технологическое </a:t>
            </a:r>
            <a:br/>
            <a:pPr algn="l" indent="0" marL="0">
              <a:lnSpc>
                <a:spcPts val="1680"/>
              </a:lnSpc>
              <a:buNone/>
            </a:pPr>
            <a:r>
              <a:rPr lang="ru-RU" altLang="en-US" sz="1400" dirty="0">
                <a:solidFill>
                  <a:schemeClr val="bg1"/>
                </a:solidFill>
                <a:latin typeface="+mj-lt" pitchFamily="34" charset="0"/>
                <a:ea typeface="+mj-lt" pitchFamily="34" charset="-122"/>
                <a:cs typeface="+mj-lt" pitchFamily="34" charset="-120"/>
              </a:rPr>
              <a:t>масштабирование</a:t>
            </a:r>
            <a:endParaRPr lang="en-US" sz="1400" dirty="0"/>
          </a:p>
        </p:txBody>
      </p:sp>
      <p:sp>
        <p:nvSpPr>
          <p:cNvPr id="39" name="Text 37"/>
          <p:cNvSpPr txBox="1"/>
          <p:nvPr/>
        </p:nvSpPr>
        <p:spPr>
          <a:xfrm>
            <a:off x="8161834" y="4470301"/>
            <a:ext cx="3104591" cy="85328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buNone/>
            </a:pPr>
            <a:r>
              <a:rPr lang="ru-RU" altLang="en-US" sz="1200" dirty="0">
                <a:solidFill>
                  <a:schemeClr val="accent5"/>
                </a:solidFill>
                <a:latin typeface="+mn-lt" pitchFamily="34" charset="0"/>
                <a:ea typeface="+mn-lt" pitchFamily="34" charset="-122"/>
                <a:cs typeface="+mn-lt" pitchFamily="34" charset="-120"/>
              </a:rPr>
              <a:t>Без технического специалиста сложно </a:t>
            </a:r>
            <a:br/>
            <a:pPr algn="l" indent="0" marL="0">
              <a:lnSpc>
                <a:spcPts val="1680"/>
              </a:lnSpc>
              <a:buNone/>
            </a:pPr>
            <a:r>
              <a:rPr lang="ru-RU" altLang="en-US" sz="1200" dirty="0">
                <a:solidFill>
                  <a:schemeClr val="accent5"/>
                </a:solidFill>
                <a:latin typeface="+mn-lt" pitchFamily="34" charset="0"/>
                <a:ea typeface="+mn-lt" pitchFamily="34" charset="-122"/>
                <a:cs typeface="+mn-lt" pitchFamily="34" charset="-120"/>
              </a:rPr>
              <a:t>создать свою платформу. Для ручного </a:t>
            </a:r>
            <a:br/>
            <a:pPr algn="l" indent="0" marL="0">
              <a:lnSpc>
                <a:spcPts val="1680"/>
              </a:lnSpc>
              <a:buNone/>
            </a:pPr>
            <a:r>
              <a:rPr lang="ru-RU" altLang="en-US" sz="1200" dirty="0">
                <a:solidFill>
                  <a:schemeClr val="accent5"/>
                </a:solidFill>
                <a:latin typeface="+mn-lt" pitchFamily="34" charset="0"/>
                <a:ea typeface="+mn-lt" pitchFamily="34" charset="-122"/>
                <a:cs typeface="+mn-lt" pitchFamily="34" charset="-120"/>
              </a:rPr>
              <a:t>пилота он не обязателен, если ресурсы </a:t>
            </a:r>
            <a:br/>
            <a:pPr algn="l" indent="0" marL="0">
              <a:lnSpc>
                <a:spcPts val="1680"/>
              </a:lnSpc>
              <a:buNone/>
            </a:pPr>
            <a:r>
              <a:rPr lang="ru-RU" altLang="en-US" sz="1200" dirty="0">
                <a:solidFill>
                  <a:schemeClr val="accent5"/>
                </a:solidFill>
                <a:latin typeface="+mn-lt" pitchFamily="34" charset="0"/>
                <a:ea typeface="+mn-lt" pitchFamily="34" charset="-122"/>
                <a:cs typeface="+mn-lt" pitchFamily="34" charset="-120"/>
              </a:rPr>
              <a:t>и обслуживание обеспечивает партнёр</a:t>
            </a:r>
            <a:endParaRPr lang="en-US" sz="12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812800" y="768350"/>
            <a:ext cx="10820400" cy="4699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ru-RU" altLang="en-US" sz="2800" spc="-50" kern="0" dirty="0">
                <a:solidFill>
                  <a:schemeClr val="tx2"/>
                </a:solidFill>
              </a:rPr>
              <a:t>План на полгода</a:t>
            </a:r>
            <a:endParaRPr lang="en-US" sz="2800" dirty="0"/>
          </a:p>
        </p:txBody>
      </p:sp>
      <p:sp>
        <p:nvSpPr>
          <p:cNvPr id="3" name="Shape 1"/>
          <p:cNvSpPr/>
          <p:nvPr/>
        </p:nvSpPr>
        <p:spPr>
          <a:xfrm>
            <a:off x="815975" y="1417737"/>
            <a:ext cx="3414216" cy="2931716"/>
          </a:xfrm>
          <a:prstGeom prst="roundRect">
            <a:avLst>
              <a:gd name="adj" fmla="val 5198"/>
            </a:avLst>
          </a:prstGeom>
          <a:solidFill>
            <a:schemeClr val="bg2"/>
          </a:solidFill>
          <a:ln w="6350">
            <a:solidFill>
              <a:srgbClr val="E2D7C5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1009650" y="2088852"/>
            <a:ext cx="3026866" cy="0"/>
          </a:xfrm>
          <a:prstGeom prst="line">
            <a:avLst/>
          </a:prstGeom>
          <a:noFill/>
          <a:ln w="12700">
            <a:solidFill>
              <a:srgbClr val="E2D7C5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1009650" y="1535212"/>
            <a:ext cx="3117672" cy="2667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ru-RU" altLang="en-US" sz="1400" b="1" dirty="0">
                <a:solidFill>
                  <a:schemeClr val="tx2"/>
                </a:solidFill>
                <a:latin typeface="+mn-lt" pitchFamily="34" charset="0"/>
                <a:ea typeface="+mn-lt" pitchFamily="34" charset="-122"/>
                <a:cs typeface="+mn-lt" pitchFamily="34" charset="-120"/>
              </a:rPr>
              <a:t>Месяц 1</a:t>
            </a:r>
            <a:endParaRPr lang="en-US" sz="1400" dirty="0"/>
          </a:p>
        </p:txBody>
      </p:sp>
      <p:sp>
        <p:nvSpPr>
          <p:cNvPr id="6" name="Text 4"/>
          <p:cNvSpPr txBox="1"/>
          <p:nvPr/>
        </p:nvSpPr>
        <p:spPr>
          <a:xfrm>
            <a:off x="1009650" y="1789212"/>
            <a:ext cx="3117672" cy="2349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ru-RU" altLang="en-US" sz="1200" b="1" dirty="0">
                <a:solidFill>
                  <a:schemeClr val="accent2"/>
                </a:solidFill>
                <a:latin typeface="+mn-lt" pitchFamily="34" charset="0"/>
                <a:ea typeface="+mn-lt" pitchFamily="34" charset="-122"/>
                <a:cs typeface="+mn-lt" pitchFamily="34" charset="-120"/>
              </a:rPr>
              <a:t>Проверка коммерческой гипотезы</a:t>
            </a:r>
            <a:endParaRPr lang="en-US" sz="1200" dirty="0"/>
          </a:p>
        </p:txBody>
      </p:sp>
      <p:sp>
        <p:nvSpPr>
          <p:cNvPr id="7" name="Text 5"/>
          <p:cNvSpPr txBox="1"/>
          <p:nvPr/>
        </p:nvSpPr>
        <p:spPr>
          <a:xfrm>
            <a:off x="1009650" y="2152352"/>
            <a:ext cx="3117672" cy="2349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ru-RU" altLang="en-US" sz="1200" dirty="0">
                <a:solidFill>
                  <a:schemeClr val="tx2"/>
                </a:solidFill>
                <a:latin typeface="+mn-lt" pitchFamily="34" charset="0"/>
                <a:ea typeface="+mn-lt" pitchFamily="34" charset="-122"/>
                <a:cs typeface="+mn-lt" pitchFamily="34" charset="-120"/>
              </a:rPr>
              <a:t>15–20 интервью с B2B-клиентами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1009650" y="2398018"/>
            <a:ext cx="3026866" cy="0"/>
          </a:xfrm>
          <a:prstGeom prst="line">
            <a:avLst/>
          </a:prstGeom>
          <a:noFill/>
          <a:ln w="6350">
            <a:solidFill>
              <a:srgbClr val="E2D7C5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1009650" y="2407543"/>
            <a:ext cx="3117672" cy="2349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ru-RU" altLang="en-US" sz="1200" dirty="0">
                <a:solidFill>
                  <a:schemeClr val="tx2"/>
                </a:solidFill>
                <a:latin typeface="+mn-lt" pitchFamily="34" charset="0"/>
                <a:ea typeface="+mn-lt" pitchFamily="34" charset="-122"/>
                <a:cs typeface="+mn-lt" pitchFamily="34" charset="-120"/>
              </a:rPr>
              <a:t>Их GPU-затраты и объём потребления</a:t>
            </a:r>
            <a:endParaRPr lang="en-US" sz="1200" dirty="0"/>
          </a:p>
        </p:txBody>
      </p:sp>
      <p:sp>
        <p:nvSpPr>
          <p:cNvPr id="10" name="Shape 8"/>
          <p:cNvSpPr/>
          <p:nvPr/>
        </p:nvSpPr>
        <p:spPr>
          <a:xfrm>
            <a:off x="1009650" y="2653209"/>
            <a:ext cx="3026866" cy="0"/>
          </a:xfrm>
          <a:prstGeom prst="line">
            <a:avLst/>
          </a:prstGeom>
          <a:noFill/>
          <a:ln w="6350">
            <a:solidFill>
              <a:srgbClr val="E2D7C5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1009650" y="2662734"/>
            <a:ext cx="3117672" cy="2349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ru-RU" altLang="en-US" sz="1200" dirty="0">
                <a:solidFill>
                  <a:schemeClr val="tx2"/>
                </a:solidFill>
                <a:latin typeface="+mn-lt" pitchFamily="34" charset="0"/>
                <a:ea typeface="+mn-lt" pitchFamily="34" charset="-122"/>
                <a:cs typeface="+mn-lt" pitchFamily="34" charset="-120"/>
              </a:rPr>
              <a:t>Поиск 3–5 партнёрских ферм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1009650" y="2908399"/>
            <a:ext cx="3026866" cy="0"/>
          </a:xfrm>
          <a:prstGeom prst="line">
            <a:avLst/>
          </a:prstGeom>
          <a:noFill/>
          <a:ln w="6350">
            <a:solidFill>
              <a:srgbClr val="E2D7C5"/>
            </a:solidFill>
            <a:prstDash val="solid"/>
          </a:ln>
        </p:spPr>
      </p:sp>
      <p:sp>
        <p:nvSpPr>
          <p:cNvPr id="13" name="Text 11"/>
          <p:cNvSpPr txBox="1"/>
          <p:nvPr/>
        </p:nvSpPr>
        <p:spPr>
          <a:xfrm>
            <a:off x="1009650" y="2917924"/>
            <a:ext cx="3117672" cy="2349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ru-RU" altLang="en-US" sz="1200" dirty="0">
                <a:solidFill>
                  <a:schemeClr val="tx2"/>
                </a:solidFill>
                <a:latin typeface="+mn-lt" pitchFamily="34" charset="0"/>
                <a:ea typeface="+mn-lt" pitchFamily="34" charset="-122"/>
                <a:cs typeface="+mn-lt" pitchFamily="34" charset="-120"/>
              </a:rPr>
              <a:t>Переговоры о цене и доступности</a:t>
            </a:r>
            <a:endParaRPr lang="en-US" sz="1200" dirty="0"/>
          </a:p>
        </p:txBody>
      </p:sp>
      <p:sp>
        <p:nvSpPr>
          <p:cNvPr id="14" name="Shape 12"/>
          <p:cNvSpPr/>
          <p:nvPr/>
        </p:nvSpPr>
        <p:spPr>
          <a:xfrm>
            <a:off x="1009650" y="3163590"/>
            <a:ext cx="3026866" cy="0"/>
          </a:xfrm>
          <a:prstGeom prst="line">
            <a:avLst/>
          </a:prstGeom>
          <a:noFill/>
          <a:ln w="6350">
            <a:solidFill>
              <a:srgbClr val="E2D7C5"/>
            </a:solidFill>
            <a:prstDash val="solid"/>
          </a:ln>
        </p:spPr>
      </p:sp>
      <p:sp>
        <p:nvSpPr>
          <p:cNvPr id="15" name="Text 13"/>
          <p:cNvSpPr txBox="1"/>
          <p:nvPr/>
        </p:nvSpPr>
        <p:spPr>
          <a:xfrm>
            <a:off x="1009650" y="3173115"/>
            <a:ext cx="3117672" cy="2349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ru-RU" altLang="en-US" sz="1200" dirty="0">
                <a:solidFill>
                  <a:schemeClr val="tx2"/>
                </a:solidFill>
                <a:latin typeface="+mn-lt" pitchFamily="34" charset="0"/>
                <a:ea typeface="+mn-lt" pitchFamily="34" charset="-122"/>
                <a:cs typeface="+mn-lt" pitchFamily="34" charset="-120"/>
              </a:rPr>
              <a:t>Цены и качество конкурентов</a:t>
            </a:r>
            <a:endParaRPr lang="en-US" sz="1200" dirty="0"/>
          </a:p>
        </p:txBody>
      </p:sp>
      <p:sp>
        <p:nvSpPr>
          <p:cNvPr id="16" name="Shape 14"/>
          <p:cNvSpPr/>
          <p:nvPr/>
        </p:nvSpPr>
        <p:spPr>
          <a:xfrm>
            <a:off x="1009650" y="3418780"/>
            <a:ext cx="3026866" cy="0"/>
          </a:xfrm>
          <a:prstGeom prst="line">
            <a:avLst/>
          </a:prstGeom>
          <a:noFill/>
          <a:ln w="6350">
            <a:solidFill>
              <a:srgbClr val="E2D7C5"/>
            </a:solidFill>
            <a:prstDash val="solid"/>
          </a:ln>
        </p:spPr>
      </p:sp>
      <p:sp>
        <p:nvSpPr>
          <p:cNvPr id="17" name="Text 15"/>
          <p:cNvSpPr txBox="1"/>
          <p:nvPr/>
        </p:nvSpPr>
        <p:spPr>
          <a:xfrm>
            <a:off x="1009650" y="3428305"/>
            <a:ext cx="3117672" cy="2349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ru-RU" altLang="en-US" sz="1200" dirty="0">
                <a:solidFill>
                  <a:schemeClr val="tx2"/>
                </a:solidFill>
                <a:latin typeface="+mn-lt" pitchFamily="34" charset="0"/>
                <a:ea typeface="+mn-lt" pitchFamily="34" charset="-122"/>
                <a:cs typeface="+mn-lt" pitchFamily="34" charset="-120"/>
              </a:rPr>
              <a:t>Предварительная экономика заказа</a:t>
            </a:r>
            <a:endParaRPr lang="en-US" sz="1200" dirty="0"/>
          </a:p>
        </p:txBody>
      </p:sp>
      <p:sp>
        <p:nvSpPr>
          <p:cNvPr id="18" name="Shape 16"/>
          <p:cNvSpPr/>
          <p:nvPr/>
        </p:nvSpPr>
        <p:spPr>
          <a:xfrm>
            <a:off x="1009650" y="3740646"/>
            <a:ext cx="3026866" cy="0"/>
          </a:xfrm>
          <a:prstGeom prst="line">
            <a:avLst/>
          </a:prstGeom>
          <a:noFill/>
          <a:ln w="12700">
            <a:solidFill>
              <a:srgbClr val="E2D7C5"/>
            </a:solidFill>
            <a:prstDash val="solid"/>
          </a:ln>
        </p:spPr>
      </p:sp>
      <p:sp>
        <p:nvSpPr>
          <p:cNvPr id="19" name="Text 17"/>
          <p:cNvSpPr txBox="1"/>
          <p:nvPr/>
        </p:nvSpPr>
        <p:spPr>
          <a:xfrm>
            <a:off x="1009650" y="3810496"/>
            <a:ext cx="3117672" cy="40759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560"/>
              </a:lnSpc>
              <a:buNone/>
            </a:pPr>
            <a:r>
              <a:rPr lang="ru-RU" altLang="en-US" sz="1200" b="1" dirty="0">
                <a:solidFill>
                  <a:schemeClr val="accent2"/>
                </a:solidFill>
                <a:latin typeface="+mn-lt" pitchFamily="34" charset="0"/>
                <a:ea typeface="+mn-lt" pitchFamily="34" charset="-122"/>
                <a:cs typeface="+mn-lt" pitchFamily="34" charset="-120"/>
              </a:rPr>
              <a:t>Итог: есть ли выгодный ценовой </a:t>
            </a:r>
            <a:br/>
            <a:pPr algn="l" indent="0" marL="0">
              <a:lnSpc>
                <a:spcPts val="1560"/>
              </a:lnSpc>
              <a:buNone/>
            </a:pPr>
            <a:r>
              <a:rPr lang="ru-RU" altLang="en-US" sz="1200" b="1" dirty="0">
                <a:solidFill>
                  <a:schemeClr val="accent2"/>
                </a:solidFill>
                <a:latin typeface="+mn-lt" pitchFamily="34" charset="0"/>
                <a:ea typeface="+mn-lt" pitchFamily="34" charset="-122"/>
                <a:cs typeface="+mn-lt" pitchFamily="34" charset="-120"/>
              </a:rPr>
              <a:t>коридор между клиентом и фермой</a:t>
            </a:r>
            <a:endParaRPr lang="en-US" sz="1200" dirty="0"/>
          </a:p>
        </p:txBody>
      </p:sp>
      <p:sp>
        <p:nvSpPr>
          <p:cNvPr id="20" name="Shape 18"/>
          <p:cNvSpPr/>
          <p:nvPr/>
        </p:nvSpPr>
        <p:spPr>
          <a:xfrm>
            <a:off x="4388941" y="1417737"/>
            <a:ext cx="3414216" cy="2931716"/>
          </a:xfrm>
          <a:prstGeom prst="roundRect">
            <a:avLst>
              <a:gd name="adj" fmla="val 5198"/>
            </a:avLst>
          </a:prstGeom>
          <a:solidFill>
            <a:schemeClr val="bg2"/>
          </a:solidFill>
          <a:ln w="6350">
            <a:solidFill>
              <a:srgbClr val="E2D7C5"/>
            </a:solidFill>
            <a:prstDash val="solid"/>
          </a:ln>
        </p:spPr>
      </p:sp>
      <p:sp>
        <p:nvSpPr>
          <p:cNvPr id="21" name="Shape 19"/>
          <p:cNvSpPr/>
          <p:nvPr/>
        </p:nvSpPr>
        <p:spPr>
          <a:xfrm>
            <a:off x="4582616" y="2088852"/>
            <a:ext cx="3026866" cy="0"/>
          </a:xfrm>
          <a:prstGeom prst="line">
            <a:avLst/>
          </a:prstGeom>
          <a:noFill/>
          <a:ln w="12700">
            <a:solidFill>
              <a:srgbClr val="E2D7C5"/>
            </a:solidFill>
            <a:prstDash val="solid"/>
          </a:ln>
        </p:spPr>
      </p:sp>
      <p:sp>
        <p:nvSpPr>
          <p:cNvPr id="22" name="Text 20"/>
          <p:cNvSpPr txBox="1"/>
          <p:nvPr/>
        </p:nvSpPr>
        <p:spPr>
          <a:xfrm>
            <a:off x="4582616" y="1535212"/>
            <a:ext cx="3117672" cy="2667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ru-RU" altLang="en-US" sz="1400" b="1" dirty="0">
                <a:solidFill>
                  <a:schemeClr val="tx2"/>
                </a:solidFill>
                <a:latin typeface="+mn-lt" pitchFamily="34" charset="0"/>
                <a:ea typeface="+mn-lt" pitchFamily="34" charset="-122"/>
                <a:cs typeface="+mn-lt" pitchFamily="34" charset="-120"/>
              </a:rPr>
              <a:t>Месяцы 2–3</a:t>
            </a:r>
            <a:endParaRPr lang="en-US" sz="1400" dirty="0"/>
          </a:p>
        </p:txBody>
      </p:sp>
      <p:sp>
        <p:nvSpPr>
          <p:cNvPr id="23" name="Text 21"/>
          <p:cNvSpPr txBox="1"/>
          <p:nvPr/>
        </p:nvSpPr>
        <p:spPr>
          <a:xfrm>
            <a:off x="4582616" y="1789212"/>
            <a:ext cx="3117672" cy="2349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ru-RU" altLang="en-US" sz="1200" b="1" dirty="0">
                <a:solidFill>
                  <a:schemeClr val="accent2"/>
                </a:solidFill>
                <a:latin typeface="+mn-lt" pitchFamily="34" charset="0"/>
                <a:ea typeface="+mn-lt" pitchFamily="34" charset="-122"/>
                <a:cs typeface="+mn-lt" pitchFamily="34" charset="-120"/>
              </a:rPr>
              <a:t>Ручной пилот — при интересе сторон</a:t>
            </a:r>
            <a:endParaRPr lang="en-US" sz="1200" dirty="0"/>
          </a:p>
        </p:txBody>
      </p:sp>
      <p:sp>
        <p:nvSpPr>
          <p:cNvPr id="24" name="Text 22"/>
          <p:cNvSpPr txBox="1"/>
          <p:nvPr/>
        </p:nvSpPr>
        <p:spPr>
          <a:xfrm>
            <a:off x="4582616" y="2152352"/>
            <a:ext cx="3117672" cy="2349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ru-RU" altLang="en-US" sz="1200" dirty="0">
                <a:solidFill>
                  <a:schemeClr val="tx2"/>
                </a:solidFill>
                <a:latin typeface="+mn-lt" pitchFamily="34" charset="0"/>
                <a:ea typeface="+mn-lt" pitchFamily="34" charset="-122"/>
                <a:cs typeface="+mn-lt" pitchFamily="34" charset="-120"/>
              </a:rPr>
              <a:t>2–3 небольших пилотных заказа</a:t>
            </a:r>
            <a:endParaRPr lang="en-US" sz="1200" dirty="0"/>
          </a:p>
        </p:txBody>
      </p:sp>
      <p:sp>
        <p:nvSpPr>
          <p:cNvPr id="25" name="Shape 23"/>
          <p:cNvSpPr/>
          <p:nvPr/>
        </p:nvSpPr>
        <p:spPr>
          <a:xfrm>
            <a:off x="4582616" y="2398018"/>
            <a:ext cx="3026866" cy="0"/>
          </a:xfrm>
          <a:prstGeom prst="line">
            <a:avLst/>
          </a:prstGeom>
          <a:noFill/>
          <a:ln w="6350">
            <a:solidFill>
              <a:srgbClr val="E2D7C5"/>
            </a:solidFill>
            <a:prstDash val="solid"/>
          </a:ln>
        </p:spPr>
      </p:sp>
      <p:sp>
        <p:nvSpPr>
          <p:cNvPr id="26" name="Text 24"/>
          <p:cNvSpPr txBox="1"/>
          <p:nvPr/>
        </p:nvSpPr>
        <p:spPr>
          <a:xfrm>
            <a:off x="4582616" y="2407543"/>
            <a:ext cx="3117672" cy="2349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ru-RU" altLang="en-US" sz="1200" dirty="0">
                <a:solidFill>
                  <a:schemeClr val="tx2"/>
                </a:solidFill>
                <a:latin typeface="+mn-lt" pitchFamily="34" charset="0"/>
                <a:ea typeface="+mn-lt" pitchFamily="34" charset="-122"/>
                <a:cs typeface="+mn-lt" pitchFamily="34" charset="-120"/>
              </a:rPr>
              <a:t>Работоспособность оборудования</a:t>
            </a:r>
            <a:endParaRPr lang="en-US" sz="1200" dirty="0"/>
          </a:p>
        </p:txBody>
      </p:sp>
      <p:sp>
        <p:nvSpPr>
          <p:cNvPr id="27" name="Shape 25"/>
          <p:cNvSpPr/>
          <p:nvPr/>
        </p:nvSpPr>
        <p:spPr>
          <a:xfrm>
            <a:off x="4582616" y="2653209"/>
            <a:ext cx="3026866" cy="0"/>
          </a:xfrm>
          <a:prstGeom prst="line">
            <a:avLst/>
          </a:prstGeom>
          <a:noFill/>
          <a:ln w="6350">
            <a:solidFill>
              <a:srgbClr val="E2D7C5"/>
            </a:solidFill>
            <a:prstDash val="solid"/>
          </a:ln>
        </p:spPr>
      </p:sp>
      <p:sp>
        <p:nvSpPr>
          <p:cNvPr id="28" name="Text 26"/>
          <p:cNvSpPr txBox="1"/>
          <p:nvPr/>
        </p:nvSpPr>
        <p:spPr>
          <a:xfrm>
            <a:off x="4582616" y="2662734"/>
            <a:ext cx="3117672" cy="2349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ru-RU" altLang="en-US" sz="1200" dirty="0">
                <a:solidFill>
                  <a:schemeClr val="tx2"/>
                </a:solidFill>
                <a:latin typeface="+mn-lt" pitchFamily="34" charset="0"/>
                <a:ea typeface="+mn-lt" pitchFamily="34" charset="-122"/>
                <a:cs typeface="+mn-lt" pitchFamily="34" charset="-120"/>
              </a:rPr>
              <a:t>Фактическая стоимость обслуживания</a:t>
            </a:r>
            <a:endParaRPr lang="en-US" sz="1200" dirty="0"/>
          </a:p>
        </p:txBody>
      </p:sp>
      <p:sp>
        <p:nvSpPr>
          <p:cNvPr id="29" name="Shape 27"/>
          <p:cNvSpPr/>
          <p:nvPr/>
        </p:nvSpPr>
        <p:spPr>
          <a:xfrm>
            <a:off x="4582616" y="2908399"/>
            <a:ext cx="3026866" cy="0"/>
          </a:xfrm>
          <a:prstGeom prst="line">
            <a:avLst/>
          </a:prstGeom>
          <a:noFill/>
          <a:ln w="6350">
            <a:solidFill>
              <a:srgbClr val="E2D7C5"/>
            </a:solidFill>
            <a:prstDash val="solid"/>
          </a:ln>
        </p:spPr>
      </p:sp>
      <p:sp>
        <p:nvSpPr>
          <p:cNvPr id="30" name="Text 28"/>
          <p:cNvSpPr txBox="1"/>
          <p:nvPr/>
        </p:nvSpPr>
        <p:spPr>
          <a:xfrm>
            <a:off x="4582616" y="2917924"/>
            <a:ext cx="3117672" cy="2349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ru-RU" altLang="en-US" sz="1200" dirty="0">
                <a:solidFill>
                  <a:schemeClr val="tx2"/>
                </a:solidFill>
                <a:latin typeface="+mn-lt" pitchFamily="34" charset="0"/>
                <a:ea typeface="+mn-lt" pitchFamily="34" charset="-122"/>
                <a:cs typeface="+mn-lt" pitchFamily="34" charset="-120"/>
              </a:rPr>
              <a:t>Качество и сроки исполнения</a:t>
            </a:r>
            <a:endParaRPr lang="en-US" sz="1200" dirty="0"/>
          </a:p>
        </p:txBody>
      </p:sp>
      <p:sp>
        <p:nvSpPr>
          <p:cNvPr id="31" name="Shape 29"/>
          <p:cNvSpPr/>
          <p:nvPr/>
        </p:nvSpPr>
        <p:spPr>
          <a:xfrm>
            <a:off x="4582616" y="3163590"/>
            <a:ext cx="3026866" cy="0"/>
          </a:xfrm>
          <a:prstGeom prst="line">
            <a:avLst/>
          </a:prstGeom>
          <a:noFill/>
          <a:ln w="6350">
            <a:solidFill>
              <a:srgbClr val="E2D7C5"/>
            </a:solidFill>
            <a:prstDash val="solid"/>
          </a:ln>
        </p:spPr>
      </p:sp>
      <p:sp>
        <p:nvSpPr>
          <p:cNvPr id="32" name="Text 30"/>
          <p:cNvSpPr txBox="1"/>
          <p:nvPr/>
        </p:nvSpPr>
        <p:spPr>
          <a:xfrm>
            <a:off x="4582616" y="3173115"/>
            <a:ext cx="3117672" cy="2349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ru-RU" altLang="en-US" sz="1200" dirty="0">
                <a:solidFill>
                  <a:schemeClr val="tx2"/>
                </a:solidFill>
                <a:latin typeface="+mn-lt" pitchFamily="34" charset="0"/>
                <a:ea typeface="+mn-lt" pitchFamily="34" charset="-122"/>
                <a:cs typeface="+mn-lt" pitchFamily="34" charset="-120"/>
              </a:rPr>
              <a:t>Повторный спрос</a:t>
            </a:r>
            <a:endParaRPr lang="en-US" sz="1200" dirty="0"/>
          </a:p>
        </p:txBody>
      </p:sp>
      <p:sp>
        <p:nvSpPr>
          <p:cNvPr id="33" name="Shape 31"/>
          <p:cNvSpPr/>
          <p:nvPr/>
        </p:nvSpPr>
        <p:spPr>
          <a:xfrm>
            <a:off x="4582616" y="3418780"/>
            <a:ext cx="3026866" cy="0"/>
          </a:xfrm>
          <a:prstGeom prst="line">
            <a:avLst/>
          </a:prstGeom>
          <a:noFill/>
          <a:ln w="6350">
            <a:solidFill>
              <a:srgbClr val="E2D7C5"/>
            </a:solidFill>
            <a:prstDash val="solid"/>
          </a:ln>
        </p:spPr>
      </p:sp>
      <p:sp>
        <p:nvSpPr>
          <p:cNvPr id="34" name="Text 32"/>
          <p:cNvSpPr txBox="1"/>
          <p:nvPr/>
        </p:nvSpPr>
        <p:spPr>
          <a:xfrm>
            <a:off x="4582616" y="3428305"/>
            <a:ext cx="3117672" cy="2349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ru-RU" altLang="en-US" sz="1200" dirty="0">
                <a:solidFill>
                  <a:schemeClr val="tx2"/>
                </a:solidFill>
                <a:latin typeface="+mn-lt" pitchFamily="34" charset="0"/>
                <a:ea typeface="+mn-lt" pitchFamily="34" charset="-122"/>
                <a:cs typeface="+mn-lt" pitchFamily="34" charset="-120"/>
              </a:rPr>
              <a:t>Возможно — первые платные сделки</a:t>
            </a:r>
            <a:endParaRPr lang="en-US" sz="1200" dirty="0"/>
          </a:p>
        </p:txBody>
      </p:sp>
      <p:sp>
        <p:nvSpPr>
          <p:cNvPr id="35" name="Shape 33"/>
          <p:cNvSpPr/>
          <p:nvPr/>
        </p:nvSpPr>
        <p:spPr>
          <a:xfrm>
            <a:off x="4582616" y="3740646"/>
            <a:ext cx="3026866" cy="0"/>
          </a:xfrm>
          <a:prstGeom prst="line">
            <a:avLst/>
          </a:prstGeom>
          <a:noFill/>
          <a:ln w="12700">
            <a:solidFill>
              <a:srgbClr val="E2D7C5"/>
            </a:solidFill>
            <a:prstDash val="solid"/>
          </a:ln>
        </p:spPr>
      </p:sp>
      <p:sp>
        <p:nvSpPr>
          <p:cNvPr id="36" name="Text 34"/>
          <p:cNvSpPr txBox="1"/>
          <p:nvPr/>
        </p:nvSpPr>
        <p:spPr>
          <a:xfrm>
            <a:off x="4582616" y="3810496"/>
            <a:ext cx="3117672" cy="40759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560"/>
              </a:lnSpc>
              <a:buNone/>
            </a:pPr>
            <a:r>
              <a:rPr lang="ru-RU" altLang="en-US" sz="1200" b="1" dirty="0">
                <a:solidFill>
                  <a:schemeClr val="accent2"/>
                </a:solidFill>
                <a:latin typeface="+mn-lt" pitchFamily="34" charset="0"/>
                <a:ea typeface="+mn-lt" pitchFamily="34" charset="-122"/>
                <a:cs typeface="+mn-lt" pitchFamily="34" charset="-120"/>
              </a:rPr>
              <a:t>Итог: первые данные о коммерческой </a:t>
            </a:r>
            <a:br/>
            <a:pPr algn="l" indent="0" marL="0">
              <a:lnSpc>
                <a:spcPts val="1560"/>
              </a:lnSpc>
              <a:buNone/>
            </a:pPr>
            <a:r>
              <a:rPr lang="ru-RU" altLang="en-US" sz="1200" b="1" dirty="0">
                <a:solidFill>
                  <a:schemeClr val="accent2"/>
                </a:solidFill>
                <a:latin typeface="+mn-lt" pitchFamily="34" charset="0"/>
                <a:ea typeface="+mn-lt" pitchFamily="34" charset="-122"/>
                <a:cs typeface="+mn-lt" pitchFamily="34" charset="-120"/>
              </a:rPr>
              <a:t>реализуемости</a:t>
            </a:r>
            <a:endParaRPr lang="en-US" sz="1200" dirty="0"/>
          </a:p>
        </p:txBody>
      </p:sp>
      <p:sp>
        <p:nvSpPr>
          <p:cNvPr id="37" name="Shape 35"/>
          <p:cNvSpPr/>
          <p:nvPr/>
        </p:nvSpPr>
        <p:spPr>
          <a:xfrm>
            <a:off x="7961908" y="1417737"/>
            <a:ext cx="3414216" cy="2931716"/>
          </a:xfrm>
          <a:prstGeom prst="roundRect">
            <a:avLst>
              <a:gd name="adj" fmla="val 5198"/>
            </a:avLst>
          </a:prstGeom>
          <a:solidFill>
            <a:schemeClr val="bg2"/>
          </a:solidFill>
          <a:ln w="6350">
            <a:solidFill>
              <a:srgbClr val="E2D7C5"/>
            </a:solidFill>
            <a:prstDash val="solid"/>
          </a:ln>
        </p:spPr>
      </p:sp>
      <p:sp>
        <p:nvSpPr>
          <p:cNvPr id="38" name="Shape 36"/>
          <p:cNvSpPr/>
          <p:nvPr/>
        </p:nvSpPr>
        <p:spPr>
          <a:xfrm>
            <a:off x="8155583" y="2088852"/>
            <a:ext cx="3026866" cy="0"/>
          </a:xfrm>
          <a:prstGeom prst="line">
            <a:avLst/>
          </a:prstGeom>
          <a:noFill/>
          <a:ln w="12700">
            <a:solidFill>
              <a:srgbClr val="E2D7C5"/>
            </a:solidFill>
            <a:prstDash val="solid"/>
          </a:ln>
        </p:spPr>
      </p:sp>
      <p:sp>
        <p:nvSpPr>
          <p:cNvPr id="39" name="Text 37"/>
          <p:cNvSpPr txBox="1"/>
          <p:nvPr/>
        </p:nvSpPr>
        <p:spPr>
          <a:xfrm>
            <a:off x="8155583" y="1535212"/>
            <a:ext cx="3117672" cy="2667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ru-RU" altLang="en-US" sz="1400" b="1" dirty="0">
                <a:solidFill>
                  <a:schemeClr val="tx2"/>
                </a:solidFill>
                <a:latin typeface="+mn-lt" pitchFamily="34" charset="0"/>
                <a:ea typeface="+mn-lt" pitchFamily="34" charset="-122"/>
                <a:cs typeface="+mn-lt" pitchFamily="34" charset="-120"/>
              </a:rPr>
              <a:t>Месяцы 4–6</a:t>
            </a:r>
            <a:endParaRPr lang="en-US" sz="1400" dirty="0"/>
          </a:p>
        </p:txBody>
      </p:sp>
      <p:sp>
        <p:nvSpPr>
          <p:cNvPr id="40" name="Text 38"/>
          <p:cNvSpPr txBox="1"/>
          <p:nvPr/>
        </p:nvSpPr>
        <p:spPr>
          <a:xfrm>
            <a:off x="8155583" y="1789212"/>
            <a:ext cx="3117672" cy="2349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ru-RU" altLang="en-US" sz="1200" b="1" dirty="0">
                <a:solidFill>
                  <a:schemeClr val="accent2"/>
                </a:solidFill>
                <a:latin typeface="+mn-lt" pitchFamily="34" charset="0"/>
                <a:ea typeface="+mn-lt" pitchFamily="34" charset="-122"/>
                <a:cs typeface="+mn-lt" pitchFamily="34" charset="-120"/>
              </a:rPr>
              <a:t>Развитие — при успехе пилота</a:t>
            </a:r>
            <a:endParaRPr lang="en-US" sz="1200" dirty="0"/>
          </a:p>
        </p:txBody>
      </p:sp>
      <p:sp>
        <p:nvSpPr>
          <p:cNvPr id="41" name="Text 39"/>
          <p:cNvSpPr txBox="1"/>
          <p:nvPr/>
        </p:nvSpPr>
        <p:spPr>
          <a:xfrm>
            <a:off x="8155583" y="2152352"/>
            <a:ext cx="3117672" cy="2349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ru-RU" altLang="en-US" sz="1200" dirty="0">
                <a:solidFill>
                  <a:schemeClr val="tx2"/>
                </a:solidFill>
                <a:latin typeface="+mn-lt" pitchFamily="34" charset="0"/>
                <a:ea typeface="+mn-lt" pitchFamily="34" charset="-122"/>
                <a:cs typeface="+mn-lt" pitchFamily="34" charset="-120"/>
              </a:rPr>
              <a:t>Больше партнёров и клиентов</a:t>
            </a:r>
            <a:endParaRPr lang="en-US" sz="1200" dirty="0"/>
          </a:p>
        </p:txBody>
      </p:sp>
      <p:sp>
        <p:nvSpPr>
          <p:cNvPr id="42" name="Shape 40"/>
          <p:cNvSpPr/>
          <p:nvPr/>
        </p:nvSpPr>
        <p:spPr>
          <a:xfrm>
            <a:off x="8155583" y="2398018"/>
            <a:ext cx="3026866" cy="0"/>
          </a:xfrm>
          <a:prstGeom prst="line">
            <a:avLst/>
          </a:prstGeom>
          <a:noFill/>
          <a:ln w="6350">
            <a:solidFill>
              <a:srgbClr val="E2D7C5"/>
            </a:solidFill>
            <a:prstDash val="solid"/>
          </a:ln>
        </p:spPr>
      </p:sp>
      <p:sp>
        <p:nvSpPr>
          <p:cNvPr id="43" name="Text 41"/>
          <p:cNvSpPr txBox="1"/>
          <p:nvPr/>
        </p:nvSpPr>
        <p:spPr>
          <a:xfrm>
            <a:off x="8155583" y="2407543"/>
            <a:ext cx="3117672" cy="2349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ru-RU" altLang="en-US" sz="1200" dirty="0">
                <a:solidFill>
                  <a:schemeClr val="tx2"/>
                </a:solidFill>
                <a:latin typeface="+mn-lt" pitchFamily="34" charset="0"/>
                <a:ea typeface="+mn-lt" pitchFamily="34" charset="-122"/>
                <a:cs typeface="+mn-lt" pitchFamily="34" charset="-120"/>
              </a:rPr>
              <a:t>Автоматизация трудоёмких операций</a:t>
            </a:r>
            <a:endParaRPr lang="en-US" sz="1200" dirty="0"/>
          </a:p>
        </p:txBody>
      </p:sp>
      <p:sp>
        <p:nvSpPr>
          <p:cNvPr id="44" name="Shape 42"/>
          <p:cNvSpPr/>
          <p:nvPr/>
        </p:nvSpPr>
        <p:spPr>
          <a:xfrm>
            <a:off x="8155583" y="2653209"/>
            <a:ext cx="3026866" cy="0"/>
          </a:xfrm>
          <a:prstGeom prst="line">
            <a:avLst/>
          </a:prstGeom>
          <a:noFill/>
          <a:ln w="6350">
            <a:solidFill>
              <a:srgbClr val="E2D7C5"/>
            </a:solidFill>
            <a:prstDash val="solid"/>
          </a:ln>
        </p:spPr>
      </p:sp>
      <p:sp>
        <p:nvSpPr>
          <p:cNvPr id="45" name="Text 43"/>
          <p:cNvSpPr txBox="1"/>
          <p:nvPr/>
        </p:nvSpPr>
        <p:spPr>
          <a:xfrm>
            <a:off x="8155583" y="2662734"/>
            <a:ext cx="3117672" cy="2349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ru-RU" altLang="en-US" sz="1200" dirty="0">
                <a:solidFill>
                  <a:schemeClr val="tx2"/>
                </a:solidFill>
                <a:latin typeface="+mn-lt" pitchFamily="34" charset="0"/>
                <a:ea typeface="+mn-lt" pitchFamily="34" charset="-122"/>
                <a:cs typeface="+mn-lt" pitchFamily="34" charset="-120"/>
              </a:rPr>
              <a:t>Оценка разработки своей платформы</a:t>
            </a:r>
            <a:endParaRPr lang="en-US" sz="1200" dirty="0"/>
          </a:p>
        </p:txBody>
      </p:sp>
      <p:sp>
        <p:nvSpPr>
          <p:cNvPr id="46" name="Shape 44"/>
          <p:cNvSpPr/>
          <p:nvPr/>
        </p:nvSpPr>
        <p:spPr>
          <a:xfrm>
            <a:off x="8155583" y="2908399"/>
            <a:ext cx="3026866" cy="0"/>
          </a:xfrm>
          <a:prstGeom prst="line">
            <a:avLst/>
          </a:prstGeom>
          <a:noFill/>
          <a:ln w="6350">
            <a:solidFill>
              <a:srgbClr val="E2D7C5"/>
            </a:solidFill>
            <a:prstDash val="solid"/>
          </a:ln>
        </p:spPr>
      </p:sp>
      <p:sp>
        <p:nvSpPr>
          <p:cNvPr id="47" name="Text 45"/>
          <p:cNvSpPr txBox="1"/>
          <p:nvPr/>
        </p:nvSpPr>
        <p:spPr>
          <a:xfrm>
            <a:off x="8155583" y="2917924"/>
            <a:ext cx="3117672" cy="2349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ru-RU" altLang="en-US" sz="1200" dirty="0">
                <a:solidFill>
                  <a:schemeClr val="tx2"/>
                </a:solidFill>
                <a:latin typeface="+mn-lt" pitchFamily="34" charset="0"/>
                <a:ea typeface="+mn-lt" pitchFamily="34" charset="-122"/>
                <a:cs typeface="+mn-lt" pitchFamily="34" charset="-120"/>
              </a:rPr>
              <a:t>Поиск технического сооснователя</a:t>
            </a:r>
            <a:endParaRPr lang="en-US" sz="1200" dirty="0"/>
          </a:p>
        </p:txBody>
      </p:sp>
      <p:sp>
        <p:nvSpPr>
          <p:cNvPr id="48" name="Shape 46"/>
          <p:cNvSpPr/>
          <p:nvPr/>
        </p:nvSpPr>
        <p:spPr>
          <a:xfrm>
            <a:off x="8155583" y="3163590"/>
            <a:ext cx="3026866" cy="0"/>
          </a:xfrm>
          <a:prstGeom prst="line">
            <a:avLst/>
          </a:prstGeom>
          <a:noFill/>
          <a:ln w="6350">
            <a:solidFill>
              <a:srgbClr val="E2D7C5"/>
            </a:solidFill>
            <a:prstDash val="solid"/>
          </a:ln>
        </p:spPr>
      </p:sp>
      <p:sp>
        <p:nvSpPr>
          <p:cNvPr id="49" name="Text 47"/>
          <p:cNvSpPr txBox="1"/>
          <p:nvPr/>
        </p:nvSpPr>
        <p:spPr>
          <a:xfrm>
            <a:off x="8155583" y="3173115"/>
            <a:ext cx="3117672" cy="2349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ru-RU" altLang="en-US" sz="1200" dirty="0">
                <a:solidFill>
                  <a:schemeClr val="tx2"/>
                </a:solidFill>
                <a:latin typeface="+mn-lt" pitchFamily="34" charset="0"/>
                <a:ea typeface="+mn-lt" pitchFamily="34" charset="-122"/>
                <a:cs typeface="+mn-lt" pitchFamily="34" charset="-120"/>
              </a:rPr>
              <a:t>Уточнение модели масштабирования</a:t>
            </a:r>
            <a:endParaRPr lang="en-US" sz="1200" dirty="0"/>
          </a:p>
        </p:txBody>
      </p:sp>
      <p:sp>
        <p:nvSpPr>
          <p:cNvPr id="50" name="Shape 48"/>
          <p:cNvSpPr/>
          <p:nvPr/>
        </p:nvSpPr>
        <p:spPr>
          <a:xfrm>
            <a:off x="8155583" y="3740646"/>
            <a:ext cx="3026866" cy="0"/>
          </a:xfrm>
          <a:prstGeom prst="line">
            <a:avLst/>
          </a:prstGeom>
          <a:noFill/>
          <a:ln w="12700">
            <a:solidFill>
              <a:srgbClr val="E2D7C5"/>
            </a:solidFill>
            <a:prstDash val="solid"/>
          </a:ln>
        </p:spPr>
      </p:sp>
      <p:sp>
        <p:nvSpPr>
          <p:cNvPr id="51" name="Text 49"/>
          <p:cNvSpPr txBox="1"/>
          <p:nvPr/>
        </p:nvSpPr>
        <p:spPr>
          <a:xfrm>
            <a:off x="8155583" y="3810496"/>
            <a:ext cx="3117672" cy="40759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560"/>
              </a:lnSpc>
              <a:buNone/>
            </a:pPr>
            <a:r>
              <a:rPr lang="ru-RU" altLang="en-US" sz="1200" b="1" dirty="0">
                <a:solidFill>
                  <a:schemeClr val="accent2"/>
                </a:solidFill>
                <a:latin typeface="+mn-lt" pitchFamily="34" charset="0"/>
                <a:ea typeface="+mn-lt" pitchFamily="34" charset="-122"/>
                <a:cs typeface="+mn-lt" pitchFamily="34" charset="-120"/>
              </a:rPr>
              <a:t>Если нет — корректируем гипотезу или </a:t>
            </a:r>
            <a:br/>
            <a:pPr algn="l" indent="0" marL="0">
              <a:lnSpc>
                <a:spcPts val="1560"/>
              </a:lnSpc>
              <a:buNone/>
            </a:pPr>
            <a:r>
              <a:rPr lang="ru-RU" altLang="en-US" sz="1200" b="1" dirty="0">
                <a:solidFill>
                  <a:schemeClr val="accent2"/>
                </a:solidFill>
                <a:latin typeface="+mn-lt" pitchFamily="34" charset="0"/>
                <a:ea typeface="+mn-lt" pitchFamily="34" charset="-122"/>
                <a:cs typeface="+mn-lt" pitchFamily="34" charset="-120"/>
              </a:rPr>
              <a:t>отказываемся от неё</a:t>
            </a:r>
            <a:endParaRPr lang="en-US" sz="1200" dirty="0"/>
          </a:p>
        </p:txBody>
      </p:sp>
      <p:sp>
        <p:nvSpPr>
          <p:cNvPr id="52" name="Shape 50"/>
          <p:cNvSpPr/>
          <p:nvPr/>
        </p:nvSpPr>
        <p:spPr>
          <a:xfrm>
            <a:off x="812800" y="4563269"/>
            <a:ext cx="10566400" cy="1481832"/>
          </a:xfrm>
          <a:prstGeom prst="roundRect">
            <a:avLst>
              <a:gd name="adj" fmla="val 10285"/>
            </a:avLst>
          </a:prstGeom>
          <a:solidFill>
            <a:schemeClr val="tx1"/>
          </a:solidFill>
          <a:ln/>
        </p:spPr>
      </p:sp>
      <p:sp>
        <p:nvSpPr>
          <p:cNvPr id="53" name="Text 51"/>
          <p:cNvSpPr txBox="1"/>
          <p:nvPr/>
        </p:nvSpPr>
        <p:spPr>
          <a:xfrm>
            <a:off x="1066800" y="4722019"/>
            <a:ext cx="2223770" cy="3429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ru-RU" altLang="en-US" sz="2000" spc="-50" kern="0" dirty="0">
                <a:solidFill>
                  <a:schemeClr val="accent1"/>
                </a:solidFill>
                <a:latin typeface="+mj-lt" pitchFamily="34" charset="0"/>
                <a:ea typeface="+mj-lt" pitchFamily="34" charset="-122"/>
                <a:cs typeface="+mj-lt" pitchFamily="34" charset="-120"/>
              </a:rPr>
              <a:t>Бюджет</a:t>
            </a:r>
            <a:endParaRPr lang="en-US" sz="2000" dirty="0"/>
          </a:p>
        </p:txBody>
      </p:sp>
      <p:sp>
        <p:nvSpPr>
          <p:cNvPr id="54" name="Text 52"/>
          <p:cNvSpPr txBox="1"/>
          <p:nvPr/>
        </p:nvSpPr>
        <p:spPr>
          <a:xfrm>
            <a:off x="1066800" y="5096669"/>
            <a:ext cx="2223770" cy="62091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20"/>
              </a:lnSpc>
              <a:buNone/>
            </a:pPr>
            <a:r>
              <a:rPr lang="ru-RU" altLang="en-US" sz="1200" dirty="0">
                <a:solidFill>
                  <a:schemeClr val="bg1"/>
                </a:solidFill>
                <a:latin typeface="+mn-lt" pitchFamily="34" charset="0"/>
                <a:ea typeface="+mn-lt" pitchFamily="34" charset="-122"/>
                <a:cs typeface="+mn-lt" pitchFamily="34" charset="-120"/>
              </a:rPr>
              <a:t>в два этапа; суммы ручного </a:t>
            </a:r>
            <a:br/>
            <a:pPr algn="l" indent="0" marL="0">
              <a:lnSpc>
                <a:spcPts val="1620"/>
              </a:lnSpc>
              <a:buNone/>
            </a:pPr>
            <a:r>
              <a:rPr lang="ru-RU" altLang="en-US" sz="1200" dirty="0">
                <a:solidFill>
                  <a:schemeClr val="bg1"/>
                </a:solidFill>
                <a:latin typeface="+mn-lt" pitchFamily="34" charset="0"/>
                <a:ea typeface="+mn-lt" pitchFamily="34" charset="-122"/>
                <a:cs typeface="+mn-lt" pitchFamily="34" charset="-120"/>
              </a:rPr>
              <a:t>пилота уточним после </a:t>
            </a:r>
            <a:br/>
            <a:pPr algn="l" indent="0" marL="0">
              <a:lnSpc>
                <a:spcPts val="1620"/>
              </a:lnSpc>
              <a:buNone/>
            </a:pPr>
            <a:r>
              <a:rPr lang="ru-RU" altLang="en-US" sz="1200" dirty="0">
                <a:solidFill>
                  <a:schemeClr val="bg1"/>
                </a:solidFill>
                <a:latin typeface="+mn-lt" pitchFamily="34" charset="0"/>
                <a:ea typeface="+mn-lt" pitchFamily="34" charset="-122"/>
                <a:cs typeface="+mn-lt" pitchFamily="34" charset="-120"/>
              </a:rPr>
              <a:t>первого месяца</a:t>
            </a:r>
            <a:endParaRPr lang="en-US" sz="1200" dirty="0"/>
          </a:p>
        </p:txBody>
      </p:sp>
      <p:sp>
        <p:nvSpPr>
          <p:cNvPr id="55" name="Shape 53"/>
          <p:cNvSpPr/>
          <p:nvPr/>
        </p:nvSpPr>
        <p:spPr>
          <a:xfrm>
            <a:off x="3482975" y="4753769"/>
            <a:ext cx="0" cy="1100832"/>
          </a:xfrm>
          <a:prstGeom prst="line">
            <a:avLst/>
          </a:prstGeom>
          <a:noFill/>
          <a:ln w="6350">
            <a:solidFill>
              <a:schemeClr val="accent4"/>
            </a:solidFill>
            <a:prstDash val="solid"/>
          </a:ln>
        </p:spPr>
      </p:sp>
      <p:sp>
        <p:nvSpPr>
          <p:cNvPr id="56" name="Text 54"/>
          <p:cNvSpPr txBox="1"/>
          <p:nvPr/>
        </p:nvSpPr>
        <p:spPr>
          <a:xfrm>
            <a:off x="3740150" y="4728369"/>
            <a:ext cx="3538411" cy="254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ru-RU" altLang="en-US" sz="1300" b="1" dirty="0">
                <a:solidFill>
                  <a:schemeClr val="bg1"/>
                </a:solidFill>
                <a:latin typeface="+mn-lt" pitchFamily="34" charset="0"/>
                <a:ea typeface="+mn-lt" pitchFamily="34" charset="-122"/>
                <a:cs typeface="+mn-lt" pitchFamily="34" charset="-120"/>
              </a:rPr>
              <a:t>Коммерческая проверка</a:t>
            </a:r>
            <a:endParaRPr lang="en-US" sz="1300" dirty="0"/>
          </a:p>
        </p:txBody>
      </p:sp>
      <p:sp>
        <p:nvSpPr>
          <p:cNvPr id="57" name="Text 55"/>
          <p:cNvSpPr txBox="1"/>
          <p:nvPr/>
        </p:nvSpPr>
        <p:spPr>
          <a:xfrm>
            <a:off x="3740150" y="5031879"/>
            <a:ext cx="3538411" cy="82659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20"/>
              </a:lnSpc>
              <a:buNone/>
            </a:pPr>
            <a:r>
              <a:rPr lang="ru-RU" altLang="en-US" sz="1200" dirty="0">
                <a:solidFill>
                  <a:schemeClr val="accent5"/>
                </a:solidFill>
                <a:latin typeface="+mn-lt" pitchFamily="34" charset="0"/>
                <a:ea typeface="+mn-lt" pitchFamily="34" charset="-122"/>
                <a:cs typeface="+mn-lt" pitchFamily="34" charset="-120"/>
              </a:rPr>
              <a:t>Интервью и продажи, тестовая аренда </a:t>
            </a:r>
            <a:br/>
            <a:pPr algn="l" indent="0" marL="0">
              <a:lnSpc>
                <a:spcPts val="1620"/>
              </a:lnSpc>
              <a:buNone/>
            </a:pPr>
            <a:r>
              <a:rPr lang="ru-RU" altLang="en-US" sz="1200" dirty="0">
                <a:solidFill>
                  <a:schemeClr val="accent5"/>
                </a:solidFill>
                <a:latin typeface="+mn-lt" pitchFamily="34" charset="0"/>
                <a:ea typeface="+mn-lt" pitchFamily="34" charset="-122"/>
                <a:cs typeface="+mn-lt" pitchFamily="34" charset="-120"/>
              </a:rPr>
              <a:t>оборудования, минимальные операционные </a:t>
            </a:r>
            <a:br/>
            <a:pPr algn="l" indent="0" marL="0">
              <a:lnSpc>
                <a:spcPts val="1620"/>
              </a:lnSpc>
              <a:buNone/>
            </a:pPr>
            <a:r>
              <a:rPr lang="ru-RU" altLang="en-US" sz="1200" dirty="0">
                <a:solidFill>
                  <a:schemeClr val="accent5"/>
                </a:solidFill>
                <a:latin typeface="+mn-lt" pitchFamily="34" charset="0"/>
                <a:ea typeface="+mn-lt" pitchFamily="34" charset="-122"/>
                <a:cs typeface="+mn-lt" pitchFamily="34" charset="-120"/>
              </a:rPr>
              <a:t>расходы, при необходимости — техническая </a:t>
            </a:r>
            <a:br/>
            <a:pPr algn="l" indent="0" marL="0">
              <a:lnSpc>
                <a:spcPts val="1620"/>
              </a:lnSpc>
              <a:buNone/>
            </a:pPr>
            <a:r>
              <a:rPr lang="ru-RU" altLang="en-US" sz="1200" dirty="0">
                <a:solidFill>
                  <a:schemeClr val="accent5"/>
                </a:solidFill>
                <a:latin typeface="+mn-lt" pitchFamily="34" charset="0"/>
                <a:ea typeface="+mn-lt" pitchFamily="34" charset="-122"/>
                <a:cs typeface="+mn-lt" pitchFamily="34" charset="-120"/>
              </a:rPr>
              <a:t>консультация</a:t>
            </a:r>
            <a:endParaRPr lang="en-US" sz="1200" dirty="0"/>
          </a:p>
        </p:txBody>
      </p:sp>
      <p:sp>
        <p:nvSpPr>
          <p:cNvPr id="58" name="Shape 56"/>
          <p:cNvSpPr/>
          <p:nvPr/>
        </p:nvSpPr>
        <p:spPr>
          <a:xfrm>
            <a:off x="7432675" y="4753769"/>
            <a:ext cx="0" cy="1100832"/>
          </a:xfrm>
          <a:prstGeom prst="line">
            <a:avLst/>
          </a:prstGeom>
          <a:noFill/>
          <a:ln w="6350">
            <a:solidFill>
              <a:schemeClr val="accent4"/>
            </a:solidFill>
            <a:prstDash val="solid"/>
          </a:ln>
        </p:spPr>
      </p:sp>
      <p:sp>
        <p:nvSpPr>
          <p:cNvPr id="59" name="Text 57"/>
          <p:cNvSpPr txBox="1"/>
          <p:nvPr/>
        </p:nvSpPr>
        <p:spPr>
          <a:xfrm>
            <a:off x="7689850" y="4728369"/>
            <a:ext cx="3538411" cy="254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ru-RU" altLang="en-US" sz="1300" b="1" dirty="0">
                <a:solidFill>
                  <a:schemeClr val="bg1"/>
                </a:solidFill>
                <a:latin typeface="+mn-lt" pitchFamily="34" charset="0"/>
                <a:ea typeface="+mn-lt" pitchFamily="34" charset="-122"/>
                <a:cs typeface="+mn-lt" pitchFamily="34" charset="-120"/>
              </a:rPr>
              <a:t>Технологическое развитие</a:t>
            </a:r>
            <a:endParaRPr lang="en-US" sz="1300" dirty="0"/>
          </a:p>
        </p:txBody>
      </p:sp>
      <p:sp>
        <p:nvSpPr>
          <p:cNvPr id="60" name="Text 58"/>
          <p:cNvSpPr txBox="1"/>
          <p:nvPr/>
        </p:nvSpPr>
        <p:spPr>
          <a:xfrm>
            <a:off x="7689850" y="5031879"/>
            <a:ext cx="3538411" cy="82659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20"/>
              </a:lnSpc>
              <a:buNone/>
            </a:pPr>
            <a:r>
              <a:rPr lang="ru-RU" altLang="en-US" sz="1200" dirty="0">
                <a:solidFill>
                  <a:schemeClr val="accent5"/>
                </a:solidFill>
                <a:latin typeface="+mn-lt" pitchFamily="34" charset="0"/>
                <a:ea typeface="+mn-lt" pitchFamily="34" charset="-122"/>
                <a:cs typeface="+mn-lt" pitchFamily="34" charset="-120"/>
              </a:rPr>
              <a:t>Отдельный этап после подтверждения </a:t>
            </a:r>
            <a:br/>
            <a:pPr algn="l" indent="0" marL="0">
              <a:lnSpc>
                <a:spcPts val="1620"/>
              </a:lnSpc>
              <a:buNone/>
            </a:pPr>
            <a:r>
              <a:rPr lang="ru-RU" altLang="en-US" sz="1200" dirty="0">
                <a:solidFill>
                  <a:schemeClr val="accent5"/>
                </a:solidFill>
                <a:latin typeface="+mn-lt" pitchFamily="34" charset="0"/>
                <a:ea typeface="+mn-lt" pitchFamily="34" charset="-122"/>
                <a:cs typeface="+mn-lt" pitchFamily="34" charset="-120"/>
              </a:rPr>
              <a:t>модели: своя платформа, автоматизация, </a:t>
            </a:r>
            <a:br/>
            <a:pPr algn="l" indent="0" marL="0">
              <a:lnSpc>
                <a:spcPts val="1620"/>
              </a:lnSpc>
              <a:buNone/>
            </a:pPr>
            <a:r>
              <a:rPr lang="ru-RU" altLang="en-US" sz="1200" dirty="0">
                <a:solidFill>
                  <a:schemeClr val="accent5"/>
                </a:solidFill>
                <a:latin typeface="+mn-lt" pitchFamily="34" charset="0"/>
                <a:ea typeface="+mn-lt" pitchFamily="34" charset="-122"/>
                <a:cs typeface="+mn-lt" pitchFamily="34" charset="-120"/>
              </a:rPr>
              <a:t>инфраструктура, специалисты. Грант — </a:t>
            </a:r>
            <a:br/>
            <a:pPr algn="l" indent="0" marL="0">
              <a:lnSpc>
                <a:spcPts val="1620"/>
              </a:lnSpc>
              <a:buNone/>
            </a:pPr>
            <a:r>
              <a:rPr lang="ru-RU" altLang="en-US" sz="1200" dirty="0">
                <a:solidFill>
                  <a:schemeClr val="accent5"/>
                </a:solidFill>
                <a:latin typeface="+mn-lt" pitchFamily="34" charset="0"/>
                <a:ea typeface="+mn-lt" pitchFamily="34" charset="-122"/>
                <a:cs typeface="+mn-lt" pitchFamily="34" charset="-120"/>
              </a:rPr>
              <a:t>возможный источник, не гарантирован</a:t>
            </a:r>
            <a:endParaRPr lang="en-US" sz="12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812800" y="768350"/>
            <a:ext cx="10820400" cy="4699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ru-RU" altLang="en-US" sz="2800" spc="-50" kern="0" dirty="0">
                <a:solidFill>
                  <a:schemeClr val="bg1"/>
                </a:solidFill>
              </a:rPr>
              <a:t>Команда и запрос к преакселератору</a:t>
            </a:r>
            <a:endParaRPr lang="en-US" sz="2800" dirty="0"/>
          </a:p>
        </p:txBody>
      </p:sp>
      <p:sp>
        <p:nvSpPr>
          <p:cNvPr id="3" name="Shape 1"/>
          <p:cNvSpPr/>
          <p:nvPr/>
        </p:nvSpPr>
        <p:spPr>
          <a:xfrm>
            <a:off x="815975" y="1410295"/>
            <a:ext cx="4946650" cy="1825327"/>
          </a:xfrm>
          <a:prstGeom prst="roundRect">
            <a:avLst>
              <a:gd name="adj" fmla="val 8349"/>
            </a:avLst>
          </a:prstGeom>
          <a:solidFill>
            <a:schemeClr val="accent3"/>
          </a:solidFill>
          <a:ln w="6350">
            <a:solidFill>
              <a:schemeClr val="accent4"/>
            </a:solidFill>
            <a:prstDash val="solid"/>
          </a:ln>
        </p:spPr>
      </p:sp>
      <p:pic>
        <p:nvPicPr>
          <p:cNvPr id="4" name="Image 0" descr="Ячейка сот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047750" y="1967309"/>
            <a:ext cx="711200" cy="711200"/>
          </a:xfrm>
          <a:prstGeom prst="rect">
            <a:avLst/>
          </a:prstGeom>
        </p:spPr>
      </p:pic>
      <p:sp>
        <p:nvSpPr>
          <p:cNvPr id="5" name="Text 2"/>
          <p:cNvSpPr txBox="1"/>
          <p:nvPr/>
        </p:nvSpPr>
        <p:spPr>
          <a:xfrm>
            <a:off x="1022350" y="1952704"/>
            <a:ext cx="762000" cy="7340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ru-RU" altLang="en-US" sz="1800" b="1" dirty="0">
                <a:solidFill>
                  <a:schemeClr val="tx2"/>
                </a:solidFill>
                <a:latin typeface="Unbounded" pitchFamily="34" charset="0"/>
                <a:ea typeface="Unbounded" pitchFamily="34" charset="-122"/>
                <a:cs typeface="Unbounded" pitchFamily="34" charset="-120"/>
              </a:rPr>
              <a:t>ТН</a:t>
            </a:r>
            <a:endParaRPr lang="en-US" sz="1800" dirty="0"/>
          </a:p>
        </p:txBody>
      </p:sp>
      <p:sp>
        <p:nvSpPr>
          <p:cNvPr id="6" name="Text 3"/>
          <p:cNvSpPr txBox="1"/>
          <p:nvPr/>
        </p:nvSpPr>
        <p:spPr>
          <a:xfrm>
            <a:off x="1936750" y="1683643"/>
            <a:ext cx="3701923" cy="3111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ru-RU" altLang="en-US" sz="1800" spc="-50" kern="0" dirty="0">
                <a:solidFill>
                  <a:schemeClr val="bg1"/>
                </a:solidFill>
                <a:latin typeface="+mj-lt" pitchFamily="34" charset="0"/>
                <a:ea typeface="+mj-lt" pitchFamily="34" charset="-122"/>
                <a:cs typeface="+mj-lt" pitchFamily="34" charset="-120"/>
              </a:rPr>
              <a:t>Тимур Новиков</a:t>
            </a:r>
            <a:endParaRPr lang="en-US" sz="1800" dirty="0"/>
          </a:p>
        </p:txBody>
      </p:sp>
      <p:sp>
        <p:nvSpPr>
          <p:cNvPr id="7" name="Text 4"/>
          <p:cNvSpPr txBox="1"/>
          <p:nvPr/>
        </p:nvSpPr>
        <p:spPr>
          <a:xfrm>
            <a:off x="1936750" y="2003623"/>
            <a:ext cx="3701923" cy="2349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ru-RU" altLang="en-US" sz="1200" b="1" dirty="0">
                <a:solidFill>
                  <a:schemeClr val="accent1"/>
                </a:solidFill>
                <a:latin typeface="+mn-lt" pitchFamily="34" charset="0"/>
                <a:ea typeface="+mn-lt" pitchFamily="34" charset="-122"/>
                <a:cs typeface="+mn-lt" pitchFamily="34" charset="-120"/>
              </a:rPr>
              <a:t>Продакт-менеджер · продукт и бизнес-модель</a:t>
            </a:r>
            <a:endParaRPr lang="en-US" sz="1200" dirty="0"/>
          </a:p>
        </p:txBody>
      </p:sp>
      <p:sp>
        <p:nvSpPr>
          <p:cNvPr id="8" name="Text 5"/>
          <p:cNvSpPr txBox="1"/>
          <p:nvPr/>
        </p:nvSpPr>
        <p:spPr>
          <a:xfrm>
            <a:off x="1936750" y="2296914"/>
            <a:ext cx="3701923" cy="63996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buNone/>
            </a:pPr>
            <a:r>
              <a:rPr lang="ru-RU" altLang="en-US" sz="1200" dirty="0">
                <a:solidFill>
                  <a:schemeClr val="accent5"/>
                </a:solidFill>
                <a:latin typeface="+mn-lt" pitchFamily="34" charset="0"/>
                <a:ea typeface="+mn-lt" pitchFamily="34" charset="-122"/>
                <a:cs typeface="+mn-lt" pitchFamily="34" charset="-120"/>
              </a:rPr>
              <a:t>Экономика, работа с партнёрскими фермами, </a:t>
            </a:r>
            <a:br/>
            <a:pPr algn="l" indent="0" marL="0">
              <a:lnSpc>
                <a:spcPts val="1680"/>
              </a:lnSpc>
              <a:buNone/>
            </a:pPr>
            <a:r>
              <a:rPr lang="ru-RU" altLang="en-US" sz="1200" dirty="0">
                <a:solidFill>
                  <a:schemeClr val="accent5"/>
                </a:solidFill>
                <a:latin typeface="+mn-lt" pitchFamily="34" charset="0"/>
                <a:ea typeface="+mn-lt" pitchFamily="34" charset="-122"/>
                <a:cs typeface="+mn-lt" pitchFamily="34" charset="-120"/>
              </a:rPr>
              <a:t>условия сервиса, технические требования </a:t>
            </a:r>
            <a:br/>
            <a:pPr algn="l" indent="0" marL="0">
              <a:lnSpc>
                <a:spcPts val="1680"/>
              </a:lnSpc>
              <a:buNone/>
            </a:pPr>
            <a:r>
              <a:rPr lang="ru-RU" altLang="en-US" sz="1200" dirty="0">
                <a:solidFill>
                  <a:schemeClr val="accent5"/>
                </a:solidFill>
                <a:latin typeface="+mn-lt" pitchFamily="34" charset="0"/>
                <a:ea typeface="+mn-lt" pitchFamily="34" charset="-122"/>
                <a:cs typeface="+mn-lt" pitchFamily="34" charset="-120"/>
              </a:rPr>
              <a:t>и план развития продукта</a:t>
            </a:r>
            <a:endParaRPr lang="en-US" sz="1200" dirty="0"/>
          </a:p>
        </p:txBody>
      </p:sp>
      <p:sp>
        <p:nvSpPr>
          <p:cNvPr id="9" name="Shape 6"/>
          <p:cNvSpPr/>
          <p:nvPr/>
        </p:nvSpPr>
        <p:spPr>
          <a:xfrm>
            <a:off x="815975" y="3394373"/>
            <a:ext cx="4946650" cy="1825327"/>
          </a:xfrm>
          <a:prstGeom prst="roundRect">
            <a:avLst>
              <a:gd name="adj" fmla="val 8349"/>
            </a:avLst>
          </a:prstGeom>
          <a:solidFill>
            <a:schemeClr val="accent3"/>
          </a:solidFill>
          <a:ln w="6350">
            <a:solidFill>
              <a:schemeClr val="accent4"/>
            </a:solidFill>
            <a:prstDash val="solid"/>
          </a:ln>
        </p:spPr>
      </p:sp>
      <p:pic>
        <p:nvPicPr>
          <p:cNvPr id="10" name="Image 1" descr="Ячейка сот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47750" y="3951387"/>
            <a:ext cx="711200" cy="711200"/>
          </a:xfrm>
          <a:prstGeom prst="rect">
            <a:avLst/>
          </a:prstGeom>
        </p:spPr>
      </p:pic>
      <p:sp>
        <p:nvSpPr>
          <p:cNvPr id="11" name="Text 7"/>
          <p:cNvSpPr txBox="1"/>
          <p:nvPr/>
        </p:nvSpPr>
        <p:spPr>
          <a:xfrm>
            <a:off x="1022350" y="3936782"/>
            <a:ext cx="762000" cy="7340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ru-RU" altLang="en-US" sz="1800" b="1" dirty="0">
                <a:solidFill>
                  <a:schemeClr val="tx2"/>
                </a:solidFill>
                <a:latin typeface="Unbounded" pitchFamily="34" charset="0"/>
                <a:ea typeface="Unbounded" pitchFamily="34" charset="-122"/>
                <a:cs typeface="Unbounded" pitchFamily="34" charset="-120"/>
              </a:rPr>
              <a:t>ИК</a:t>
            </a:r>
            <a:endParaRPr lang="en-US" sz="1800" dirty="0"/>
          </a:p>
        </p:txBody>
      </p:sp>
      <p:sp>
        <p:nvSpPr>
          <p:cNvPr id="12" name="Text 8"/>
          <p:cNvSpPr txBox="1"/>
          <p:nvPr/>
        </p:nvSpPr>
        <p:spPr>
          <a:xfrm>
            <a:off x="1936750" y="3667720"/>
            <a:ext cx="3701923" cy="3111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ru-RU" altLang="en-US" sz="1800" spc="-50" kern="0" dirty="0">
                <a:solidFill>
                  <a:schemeClr val="bg1"/>
                </a:solidFill>
                <a:latin typeface="+mj-lt" pitchFamily="34" charset="0"/>
                <a:ea typeface="+mj-lt" pitchFamily="34" charset="-122"/>
                <a:cs typeface="+mj-lt" pitchFamily="34" charset="-120"/>
              </a:rPr>
              <a:t>Игорь Кузьмин</a:t>
            </a:r>
            <a:endParaRPr lang="en-US" sz="1800" dirty="0"/>
          </a:p>
        </p:txBody>
      </p:sp>
      <p:sp>
        <p:nvSpPr>
          <p:cNvPr id="13" name="Text 9"/>
          <p:cNvSpPr txBox="1"/>
          <p:nvPr/>
        </p:nvSpPr>
        <p:spPr>
          <a:xfrm>
            <a:off x="1936750" y="3987701"/>
            <a:ext cx="3701923" cy="2349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ru-RU" altLang="en-US" sz="1200" b="1" dirty="0">
                <a:solidFill>
                  <a:schemeClr val="accent1"/>
                </a:solidFill>
                <a:latin typeface="+mn-lt" pitchFamily="34" charset="0"/>
                <a:ea typeface="+mn-lt" pitchFamily="34" charset="-122"/>
                <a:cs typeface="+mn-lt" pitchFamily="34" charset="-120"/>
              </a:rPr>
              <a:t>Менеджер по продажам · клиенты и продажи</a:t>
            </a:r>
            <a:endParaRPr lang="en-US" sz="1200" dirty="0"/>
          </a:p>
        </p:txBody>
      </p:sp>
      <p:sp>
        <p:nvSpPr>
          <p:cNvPr id="14" name="Text 10"/>
          <p:cNvSpPr txBox="1"/>
          <p:nvPr/>
        </p:nvSpPr>
        <p:spPr>
          <a:xfrm>
            <a:off x="1936750" y="4280991"/>
            <a:ext cx="3701923" cy="63996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buNone/>
            </a:pPr>
            <a:r>
              <a:rPr lang="ru-RU" altLang="en-US" sz="1200" dirty="0">
                <a:solidFill>
                  <a:schemeClr val="accent5"/>
                </a:solidFill>
                <a:latin typeface="+mn-lt" pitchFamily="34" charset="0"/>
                <a:ea typeface="+mn-lt" pitchFamily="34" charset="-122"/>
                <a:cs typeface="+mn-lt" pitchFamily="34" charset="-120"/>
              </a:rPr>
              <a:t>Интервью с заказчиками, проверка </a:t>
            </a:r>
            <a:br/>
            <a:pPr algn="l" indent="0" marL="0">
              <a:lnSpc>
                <a:spcPts val="1680"/>
              </a:lnSpc>
              <a:buNone/>
            </a:pPr>
            <a:r>
              <a:rPr lang="ru-RU" altLang="en-US" sz="1200" dirty="0">
                <a:solidFill>
                  <a:schemeClr val="accent5"/>
                </a:solidFill>
                <a:latin typeface="+mn-lt" pitchFamily="34" charset="0"/>
                <a:ea typeface="+mn-lt" pitchFamily="34" charset="-122"/>
                <a:cs typeface="+mn-lt" pitchFamily="34" charset="-120"/>
              </a:rPr>
              <a:t>их потребностей, поиск первых пилотных </a:t>
            </a:r>
            <a:br/>
            <a:pPr algn="l" indent="0" marL="0">
              <a:lnSpc>
                <a:spcPts val="1680"/>
              </a:lnSpc>
              <a:buNone/>
            </a:pPr>
            <a:r>
              <a:rPr lang="ru-RU" altLang="en-US" sz="1200" dirty="0">
                <a:solidFill>
                  <a:schemeClr val="accent5"/>
                </a:solidFill>
                <a:latin typeface="+mn-lt" pitchFamily="34" charset="0"/>
                <a:ea typeface="+mn-lt" pitchFamily="34" charset="-122"/>
                <a:cs typeface="+mn-lt" pitchFamily="34" charset="-120"/>
              </a:rPr>
              <a:t>клиентов, продажи и обратная связь</a:t>
            </a:r>
            <a:endParaRPr lang="en-US" sz="1200" dirty="0"/>
          </a:p>
        </p:txBody>
      </p:sp>
      <p:sp>
        <p:nvSpPr>
          <p:cNvPr id="15" name="Shape 11"/>
          <p:cNvSpPr/>
          <p:nvPr/>
        </p:nvSpPr>
        <p:spPr>
          <a:xfrm>
            <a:off x="5918200" y="1407120"/>
            <a:ext cx="5461000" cy="3815755"/>
          </a:xfrm>
          <a:prstGeom prst="roundRect">
            <a:avLst>
              <a:gd name="adj" fmla="val 3994"/>
            </a:avLst>
          </a:prstGeom>
          <a:solidFill>
            <a:schemeClr val="accent1"/>
          </a:solidFill>
          <a:ln/>
        </p:spPr>
      </p:sp>
      <p:sp>
        <p:nvSpPr>
          <p:cNvPr id="16" name="Text 12"/>
          <p:cNvSpPr txBox="1"/>
          <p:nvPr/>
        </p:nvSpPr>
        <p:spPr>
          <a:xfrm>
            <a:off x="6172200" y="1584920"/>
            <a:ext cx="5101590" cy="2603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ru-RU" altLang="en-US" sz="1500" dirty="0">
                <a:solidFill>
                  <a:schemeClr val="tx2"/>
                </a:solidFill>
                <a:latin typeface="+mj-lt" pitchFamily="34" charset="0"/>
                <a:ea typeface="+mj-lt" pitchFamily="34" charset="-122"/>
                <a:cs typeface="+mj-lt" pitchFamily="34" charset="-120"/>
              </a:rPr>
              <a:t>Чем может помочь преакселератор</a:t>
            </a:r>
            <a:endParaRPr lang="en-US" sz="1500" dirty="0"/>
          </a:p>
        </p:txBody>
      </p:sp>
      <p:sp>
        <p:nvSpPr>
          <p:cNvPr id="17" name="Shape 13"/>
          <p:cNvSpPr/>
          <p:nvPr/>
        </p:nvSpPr>
        <p:spPr>
          <a:xfrm>
            <a:off x="6172200" y="1896070"/>
            <a:ext cx="4953000" cy="0"/>
          </a:xfrm>
          <a:prstGeom prst="line">
            <a:avLst/>
          </a:prstGeom>
          <a:noFill/>
          <a:ln w="6350">
            <a:solidFill>
              <a:srgbClr val="C9861E"/>
            </a:solidFill>
            <a:prstDash val="solid"/>
          </a:ln>
        </p:spPr>
      </p:sp>
      <p:sp>
        <p:nvSpPr>
          <p:cNvPr id="18" name="Text 14"/>
          <p:cNvSpPr txBox="1"/>
          <p:nvPr/>
        </p:nvSpPr>
        <p:spPr>
          <a:xfrm>
            <a:off x="6172200" y="1943695"/>
            <a:ext cx="5101590" cy="2349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ru-RU" altLang="en-US" sz="1200" dirty="0">
                <a:solidFill>
                  <a:schemeClr val="tx2"/>
                </a:solidFill>
                <a:latin typeface="+mn-lt" pitchFamily="34" charset="0"/>
                <a:ea typeface="+mn-lt" pitchFamily="34" charset="-122"/>
                <a:cs typeface="+mn-lt" pitchFamily="34" charset="-120"/>
              </a:rPr>
              <a:t>Экспертная оценка бизнес-модели</a:t>
            </a:r>
            <a:endParaRPr lang="en-US" sz="1200" dirty="0"/>
          </a:p>
        </p:txBody>
      </p:sp>
      <p:sp>
        <p:nvSpPr>
          <p:cNvPr id="19" name="Shape 15"/>
          <p:cNvSpPr/>
          <p:nvPr/>
        </p:nvSpPr>
        <p:spPr>
          <a:xfrm>
            <a:off x="6172200" y="2235101"/>
            <a:ext cx="4953000" cy="0"/>
          </a:xfrm>
          <a:prstGeom prst="line">
            <a:avLst/>
          </a:prstGeom>
          <a:noFill/>
          <a:ln w="6350">
            <a:solidFill>
              <a:srgbClr val="C9861E"/>
            </a:solidFill>
            <a:prstDash val="solid"/>
          </a:ln>
        </p:spPr>
      </p:sp>
      <p:sp>
        <p:nvSpPr>
          <p:cNvPr id="20" name="Text 16"/>
          <p:cNvSpPr txBox="1"/>
          <p:nvPr/>
        </p:nvSpPr>
        <p:spPr>
          <a:xfrm>
            <a:off x="6172200" y="2282726"/>
            <a:ext cx="5101590" cy="2349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ru-RU" altLang="en-US" sz="1200" dirty="0">
                <a:solidFill>
                  <a:schemeClr val="tx2"/>
                </a:solidFill>
                <a:latin typeface="+mn-lt" pitchFamily="34" charset="0"/>
                <a:ea typeface="+mn-lt" pitchFamily="34" charset="-122"/>
                <a:cs typeface="+mn-lt" pitchFamily="34" charset="-120"/>
              </a:rPr>
              <a:t>Помощь с проверкой спроса</a:t>
            </a:r>
            <a:endParaRPr lang="en-US" sz="1200" dirty="0"/>
          </a:p>
        </p:txBody>
      </p:sp>
      <p:sp>
        <p:nvSpPr>
          <p:cNvPr id="21" name="Shape 17"/>
          <p:cNvSpPr/>
          <p:nvPr/>
        </p:nvSpPr>
        <p:spPr>
          <a:xfrm>
            <a:off x="6172200" y="2574131"/>
            <a:ext cx="4953000" cy="0"/>
          </a:xfrm>
          <a:prstGeom prst="line">
            <a:avLst/>
          </a:prstGeom>
          <a:noFill/>
          <a:ln w="6350">
            <a:solidFill>
              <a:srgbClr val="C9861E"/>
            </a:solidFill>
            <a:prstDash val="solid"/>
          </a:ln>
        </p:spPr>
      </p:sp>
      <p:sp>
        <p:nvSpPr>
          <p:cNvPr id="22" name="Text 18"/>
          <p:cNvSpPr txBox="1"/>
          <p:nvPr/>
        </p:nvSpPr>
        <p:spPr>
          <a:xfrm>
            <a:off x="6172200" y="2621756"/>
            <a:ext cx="5101590" cy="2349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ru-RU" altLang="en-US" sz="1200" dirty="0">
                <a:solidFill>
                  <a:schemeClr val="tx2"/>
                </a:solidFill>
                <a:latin typeface="+mn-lt" pitchFamily="34" charset="0"/>
                <a:ea typeface="+mn-lt" pitchFamily="34" charset="-122"/>
                <a:cs typeface="+mn-lt" pitchFamily="34" charset="-120"/>
              </a:rPr>
              <a:t>Контакты потенциальных B2B-клиентов</a:t>
            </a:r>
            <a:endParaRPr lang="en-US" sz="1200" dirty="0"/>
          </a:p>
        </p:txBody>
      </p:sp>
      <p:sp>
        <p:nvSpPr>
          <p:cNvPr id="23" name="Shape 19"/>
          <p:cNvSpPr/>
          <p:nvPr/>
        </p:nvSpPr>
        <p:spPr>
          <a:xfrm>
            <a:off x="6172200" y="2913162"/>
            <a:ext cx="4953000" cy="0"/>
          </a:xfrm>
          <a:prstGeom prst="line">
            <a:avLst/>
          </a:prstGeom>
          <a:noFill/>
          <a:ln w="6350">
            <a:solidFill>
              <a:srgbClr val="C9861E"/>
            </a:solidFill>
            <a:prstDash val="solid"/>
          </a:ln>
        </p:spPr>
      </p:sp>
      <p:sp>
        <p:nvSpPr>
          <p:cNvPr id="24" name="Text 20"/>
          <p:cNvSpPr txBox="1"/>
          <p:nvPr/>
        </p:nvSpPr>
        <p:spPr>
          <a:xfrm>
            <a:off x="6172200" y="2960787"/>
            <a:ext cx="5101590" cy="2349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ru-RU" altLang="en-US" sz="1200" dirty="0">
                <a:solidFill>
                  <a:schemeClr val="tx2"/>
                </a:solidFill>
                <a:latin typeface="+mn-lt" pitchFamily="34" charset="0"/>
                <a:ea typeface="+mn-lt" pitchFamily="34" charset="-122"/>
                <a:cs typeface="+mn-lt" pitchFamily="34" charset="-120"/>
              </a:rPr>
              <a:t>Знакомства с GPU-поставщиками</a:t>
            </a:r>
            <a:endParaRPr lang="en-US" sz="1200" dirty="0"/>
          </a:p>
        </p:txBody>
      </p:sp>
      <p:sp>
        <p:nvSpPr>
          <p:cNvPr id="25" name="Shape 21"/>
          <p:cNvSpPr/>
          <p:nvPr/>
        </p:nvSpPr>
        <p:spPr>
          <a:xfrm>
            <a:off x="6172200" y="3252192"/>
            <a:ext cx="4953000" cy="0"/>
          </a:xfrm>
          <a:prstGeom prst="line">
            <a:avLst/>
          </a:prstGeom>
          <a:noFill/>
          <a:ln w="6350">
            <a:solidFill>
              <a:srgbClr val="C9861E"/>
            </a:solidFill>
            <a:prstDash val="solid"/>
          </a:ln>
        </p:spPr>
      </p:sp>
      <p:sp>
        <p:nvSpPr>
          <p:cNvPr id="26" name="Text 22"/>
          <p:cNvSpPr txBox="1"/>
          <p:nvPr/>
        </p:nvSpPr>
        <p:spPr>
          <a:xfrm>
            <a:off x="6172200" y="3299817"/>
            <a:ext cx="5101590" cy="2349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ru-RU" altLang="en-US" sz="1200" dirty="0">
                <a:solidFill>
                  <a:schemeClr val="tx2"/>
                </a:solidFill>
                <a:latin typeface="+mn-lt" pitchFamily="34" charset="0"/>
                <a:ea typeface="+mn-lt" pitchFamily="34" charset="-122"/>
                <a:cs typeface="+mn-lt" pitchFamily="34" charset="-120"/>
              </a:rPr>
              <a:t>Помощь с финансовым моделированием</a:t>
            </a:r>
            <a:endParaRPr lang="en-US" sz="1200" dirty="0"/>
          </a:p>
        </p:txBody>
      </p:sp>
      <p:sp>
        <p:nvSpPr>
          <p:cNvPr id="27" name="Shape 23"/>
          <p:cNvSpPr/>
          <p:nvPr/>
        </p:nvSpPr>
        <p:spPr>
          <a:xfrm>
            <a:off x="6172200" y="3591223"/>
            <a:ext cx="4953000" cy="0"/>
          </a:xfrm>
          <a:prstGeom prst="line">
            <a:avLst/>
          </a:prstGeom>
          <a:noFill/>
          <a:ln w="6350">
            <a:solidFill>
              <a:srgbClr val="C9861E"/>
            </a:solidFill>
            <a:prstDash val="solid"/>
          </a:ln>
        </p:spPr>
      </p:sp>
      <p:sp>
        <p:nvSpPr>
          <p:cNvPr id="28" name="Text 24"/>
          <p:cNvSpPr txBox="1"/>
          <p:nvPr/>
        </p:nvSpPr>
        <p:spPr>
          <a:xfrm>
            <a:off x="6172200" y="3638848"/>
            <a:ext cx="5101590" cy="2349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ru-RU" altLang="en-US" sz="1200" dirty="0">
                <a:solidFill>
                  <a:schemeClr val="tx2"/>
                </a:solidFill>
                <a:latin typeface="+mn-lt" pitchFamily="34" charset="0"/>
                <a:ea typeface="+mn-lt" pitchFamily="34" charset="-122"/>
                <a:cs typeface="+mn-lt" pitchFamily="34" charset="-120"/>
              </a:rPr>
              <a:t>Техническая экспертиза будущей архитектуры</a:t>
            </a:r>
            <a:endParaRPr lang="en-US" sz="1200" dirty="0"/>
          </a:p>
        </p:txBody>
      </p:sp>
      <p:sp>
        <p:nvSpPr>
          <p:cNvPr id="29" name="Shape 25"/>
          <p:cNvSpPr/>
          <p:nvPr/>
        </p:nvSpPr>
        <p:spPr>
          <a:xfrm>
            <a:off x="6172200" y="3930253"/>
            <a:ext cx="4953000" cy="0"/>
          </a:xfrm>
          <a:prstGeom prst="line">
            <a:avLst/>
          </a:prstGeom>
          <a:noFill/>
          <a:ln w="6350">
            <a:solidFill>
              <a:srgbClr val="C9861E"/>
            </a:solidFill>
            <a:prstDash val="solid"/>
          </a:ln>
        </p:spPr>
      </p:sp>
      <p:sp>
        <p:nvSpPr>
          <p:cNvPr id="30" name="Text 26"/>
          <p:cNvSpPr txBox="1"/>
          <p:nvPr/>
        </p:nvSpPr>
        <p:spPr>
          <a:xfrm>
            <a:off x="6172200" y="3977878"/>
            <a:ext cx="5101590" cy="2349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ru-RU" altLang="en-US" sz="1200" dirty="0">
                <a:solidFill>
                  <a:schemeClr val="tx2"/>
                </a:solidFill>
                <a:latin typeface="+mn-lt" pitchFamily="34" charset="0"/>
                <a:ea typeface="+mn-lt" pitchFamily="34" charset="-122"/>
                <a:cs typeface="+mn-lt" pitchFamily="34" charset="-120"/>
              </a:rPr>
              <a:t>Наставничество и проверка гипотез</a:t>
            </a:r>
            <a:endParaRPr lang="en-US" sz="1200" dirty="0"/>
          </a:p>
        </p:txBody>
      </p:sp>
      <p:sp>
        <p:nvSpPr>
          <p:cNvPr id="31" name="Text 27"/>
          <p:cNvSpPr txBox="1"/>
          <p:nvPr/>
        </p:nvSpPr>
        <p:spPr>
          <a:xfrm>
            <a:off x="812800" y="5426075"/>
            <a:ext cx="10718800" cy="6191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25"/>
              </a:lnSpc>
              <a:buNone/>
            </a:pPr>
            <a:r>
              <a:rPr lang="ru-RU" altLang="en-US" sz="1300" dirty="0">
                <a:solidFill>
                  <a:schemeClr val="bg1"/>
                </a:solidFill>
                <a:latin typeface="+mj-lt" pitchFamily="34" charset="0"/>
                <a:ea typeface="+mj-lt" pitchFamily="34" charset="-122"/>
                <a:cs typeface="+mj-lt" pitchFamily="34" charset="-120"/>
              </a:rPr>
              <a:t>С помощью преакселератора мы хотим проверить спрос и экономику GPU-аренды через </a:t>
            </a:r>
            <a:br/>
            <a:pPr algn="l" indent="0" marL="0">
              <a:lnSpc>
                <a:spcPts val="1625"/>
              </a:lnSpc>
              <a:buNone/>
            </a:pPr>
            <a:r>
              <a:rPr lang="ru-RU" altLang="en-US" sz="1300" dirty="0">
                <a:solidFill>
                  <a:schemeClr val="bg1"/>
                </a:solidFill>
                <a:latin typeface="+mj-lt" pitchFamily="34" charset="0"/>
                <a:ea typeface="+mj-lt" pitchFamily="34" charset="-122"/>
                <a:cs typeface="+mj-lt" pitchFamily="34" charset="-120"/>
              </a:rPr>
              <a:t>партнёрские фермы. Если модель окажется жизнеспособной, следующим шагом станет </a:t>
            </a:r>
            <a:br/>
            <a:pPr algn="l" indent="0" marL="0">
              <a:lnSpc>
                <a:spcPts val="1625"/>
              </a:lnSpc>
              <a:buNone/>
            </a:pPr>
            <a:r>
              <a:rPr lang="ru-RU" altLang="en-US" sz="1300" dirty="0">
                <a:solidFill>
                  <a:schemeClr val="bg1"/>
                </a:solidFill>
                <a:latin typeface="+mj-lt" pitchFamily="34" charset="0"/>
                <a:ea typeface="+mj-lt" pitchFamily="34" charset="-122"/>
                <a:cs typeface="+mj-lt" pitchFamily="34" charset="-120"/>
              </a:rPr>
              <a:t>автоматизация сервиса и развитие собственной распределённой платформы.</a:t>
            </a:r>
            <a:endParaRPr lang="en-US" sz="13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Улей">
  <a:themeElements>
    <a:clrScheme name="Улей">
      <a:dk1>
        <a:srgbClr val="14110D"/>
      </a:dk1>
      <a:lt1>
        <a:srgbClr val="F5EFE4"/>
      </a:lt1>
      <a:dk2>
        <a:srgbClr val="1A1611"/>
      </a:dk2>
      <a:lt2>
        <a:srgbClr val="FBF7EF"/>
      </a:lt2>
      <a:accent1>
        <a:srgbClr val="F0A531"/>
      </a:accent1>
      <a:accent2>
        <a:srgbClr val="8A5207"/>
      </a:accent2>
      <a:accent3>
        <a:srgbClr val="1E1913"/>
      </a:accent3>
      <a:accent4>
        <a:srgbClr val="3A3228"/>
      </a:accent4>
      <a:accent5>
        <a:srgbClr val="CBC1AF"/>
      </a:accent5>
      <a:accent6>
        <a:srgbClr val="5A5044"/>
      </a:accent6>
      <a:hlink>
        <a:srgbClr val="8A5207"/>
      </a:hlink>
      <a:folHlink>
        <a:srgbClr val="6A5E4F"/>
      </a:folHlink>
    </a:clrScheme>
    <a:fontScheme name="Улей">
      <a:majorFont>
        <a:latin typeface="Unbounded SemiBold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Manrope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11</Slides>
  <Notes>11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11</vt:i4>
      </vt:variant>
    </vt:vector>
  </HeadingPairs>
  <TitlesOfParts>
    <vt:vector size="14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Улей — презентация для преакселератора ВШМ СПбГУ</dc:title>
  <dc:subject>PptxGenJS Presentation</dc:subject>
  <dc:creator>Команда «Улей»</dc:creator>
  <cp:lastModifiedBy>Команда «Улей»</cp:lastModifiedBy>
  <cp:revision>1</cp:revision>
  <dcterms:created xsi:type="dcterms:W3CDTF">2026-10-16T14:29:26Z</dcterms:created>
  <dcterms:modified xsi:type="dcterms:W3CDTF">2026-10-16T14:29:26Z</dcterms:modified>
</cp:coreProperties>
</file>